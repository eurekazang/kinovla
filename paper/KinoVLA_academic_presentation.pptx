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38912"/>
            <a:ext cx="2331720" cy="310896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1" y="448056"/>
            <a:ext cx="2185415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KinoVLA · RESEARCH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852160" cy="1481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7324D"/>
                </a:solidFill>
                <a:latin typeface="Aptos Display"/>
              </a:rPr>
              <a:t>Feel It, See It,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7324D"/>
                </a:solidFill>
                <a:latin typeface="Aptos Display"/>
              </a:rPr>
              <a:t>Recover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70048"/>
            <a:ext cx="53949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933"/>
                </a:solidFill>
                <a:latin typeface="Aptos"/>
              </a:rPr>
              <a:t>Cross-modal failure attribution for safer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933"/>
                </a:solidFill>
                <a:latin typeface="Aptos"/>
              </a:rPr>
              <a:t>quadrupedal navigation recovery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858768"/>
            <a:ext cx="5175504" cy="969264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4041648"/>
            <a:ext cx="149047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27181"/>
                </a:solidFill>
                <a:latin typeface="Aptos"/>
              </a:rPr>
              <a:t>Same symptom.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9152" y="4041648"/>
            <a:ext cx="167335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97745"/>
                </a:solidFill>
                <a:latin typeface="Aptos"/>
              </a:rPr>
              <a:t>Different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3904" y="4041648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7A75"/>
                </a:solidFill>
                <a:latin typeface="Aptos"/>
              </a:rPr>
              <a:t>Different recovery.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126480"/>
            <a:ext cx="4937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81"/>
                </a:solidFill>
                <a:latin typeface="Aptos"/>
              </a:rPr>
              <a:t>Isaac Sim · Unitree Go2 · A0–A7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5392" y="603504"/>
            <a:ext cx="5029200" cy="54406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960120"/>
            <a:ext cx="4206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27181"/>
                </a:solidFill>
                <a:latin typeface="Aptos"/>
              </a:rPr>
              <a:t>ONE STUMBLE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81060" y="1444752"/>
            <a:ext cx="1348739" cy="52578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69780" y="1513332"/>
            <a:ext cx="480060" cy="3657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66960" y="159334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>
            <a:off x="8595360" y="1879092"/>
            <a:ext cx="68580" cy="594360"/>
          </a:xfrm>
          <a:prstGeom prst="line">
            <a:avLst/>
          </a:prstGeom>
          <a:ln w="4064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95360" y="2473452"/>
            <a:ext cx="160020" cy="285750"/>
          </a:xfrm>
          <a:prstGeom prst="line">
            <a:avLst/>
          </a:prstGeom>
          <a:ln w="4064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961120" y="1879092"/>
            <a:ext cx="68580" cy="594360"/>
          </a:xfrm>
          <a:prstGeom prst="line">
            <a:avLst/>
          </a:prstGeom>
          <a:ln w="4064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2473452"/>
            <a:ext cx="160020" cy="285750"/>
          </a:xfrm>
          <a:prstGeom prst="line">
            <a:avLst/>
          </a:prstGeom>
          <a:ln w="4064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372600" y="1879092"/>
            <a:ext cx="68580" cy="594360"/>
          </a:xfrm>
          <a:prstGeom prst="line">
            <a:avLst/>
          </a:prstGeom>
          <a:ln w="4064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372600" y="2473452"/>
            <a:ext cx="160020" cy="285750"/>
          </a:xfrm>
          <a:prstGeom prst="line">
            <a:avLst/>
          </a:prstGeom>
          <a:ln w="4064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646920" y="1879092"/>
            <a:ext cx="68580" cy="594360"/>
          </a:xfrm>
          <a:prstGeom prst="line">
            <a:avLst/>
          </a:prstGeom>
          <a:ln w="4064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46920" y="2473452"/>
            <a:ext cx="160020" cy="285750"/>
          </a:xfrm>
          <a:prstGeom prst="line">
            <a:avLst/>
          </a:prstGeom>
          <a:ln w="4064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8138160" y="1307592"/>
            <a:ext cx="365760" cy="285750"/>
          </a:xfrm>
          <a:prstGeom prst="line">
            <a:avLst/>
          </a:prstGeom>
          <a:ln w="2794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735824" y="3227832"/>
            <a:ext cx="2697480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35824" y="3239170"/>
            <a:ext cx="323697" cy="0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059521" y="3114446"/>
            <a:ext cx="215799" cy="124724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75320" y="3114446"/>
            <a:ext cx="242773" cy="272125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518093" y="3046415"/>
            <a:ext cx="269748" cy="340156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787841" y="3046415"/>
            <a:ext cx="296723" cy="249448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084564" y="3193816"/>
            <a:ext cx="350672" cy="102047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435236" y="3193816"/>
            <a:ext cx="323698" cy="79370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758934" y="3233501"/>
            <a:ext cx="323697" cy="39685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082631" y="3233501"/>
            <a:ext cx="350673" cy="0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589520" y="3493008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7745"/>
                </a:solidFill>
                <a:latin typeface="Aptos"/>
              </a:rPr>
              <a:t>effort ↑   speed ↓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635240" y="3867912"/>
            <a:ext cx="1444752" cy="448056"/>
          </a:xfrm>
          <a:prstGeom prst="line">
            <a:avLst/>
          </a:prstGeom>
          <a:ln w="1905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079992" y="3867912"/>
            <a:ext cx="1444752" cy="448056"/>
          </a:xfrm>
          <a:prstGeom prst="line">
            <a:avLst/>
          </a:prstGeom>
          <a:ln w="1905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022592" y="4407408"/>
            <a:ext cx="1965960" cy="438912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251192" y="4517136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552944" y="4590288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54696" y="4517136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156448" y="4590288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58200" y="4517136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59952" y="4590288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12096" y="4407408"/>
            <a:ext cx="1234440" cy="438912"/>
          </a:xfrm>
          <a:prstGeom prst="roundRect">
            <a:avLst/>
          </a:prstGeom>
          <a:solidFill>
            <a:srgbClr val="FBE8DD"/>
          </a:solidFill>
          <a:ln w="12700">
            <a:solidFill>
              <a:srgbClr val="FB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10232136" y="4480560"/>
            <a:ext cx="91440" cy="246888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380726" y="4480560"/>
            <a:ext cx="91439" cy="246888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529315" y="4480560"/>
            <a:ext cx="91440" cy="246888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677906" y="4480560"/>
            <a:ext cx="91440" cy="246888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826496" y="4480560"/>
            <a:ext cx="91440" cy="246888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040880" y="4983480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7A75"/>
                </a:solidFill>
                <a:latin typeface="Aptos"/>
              </a:rPr>
              <a:t>SOFT MUD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65792" y="4983480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7745"/>
                </a:solidFill>
                <a:latin typeface="Aptos"/>
              </a:rPr>
              <a:t>ADHESION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05472" y="5358384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7A75"/>
                </a:solidFill>
                <a:latin typeface="Aptos"/>
              </a:rPr>
              <a:t>High-step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65792" y="5358384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97745"/>
                </a:solidFill>
                <a:latin typeface="Aptos"/>
              </a:rPr>
              <a:t>Backstep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A stumble is a symptom—not a diagnosis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Conceptual example; measured costs from 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16152"/>
            <a:ext cx="10789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27181"/>
                </a:solidFill>
                <a:latin typeface="Aptos"/>
              </a:rPr>
              <a:t>The body can report the same slowdown under two opposite mechanics.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719072"/>
            <a:ext cx="3566160" cy="941832"/>
          </a:xfrm>
          <a:prstGeom prst="roundRect">
            <a:avLst/>
          </a:prstGeom>
          <a:solidFill>
            <a:srgbClr val="FBE8DD"/>
          </a:solidFill>
          <a:ln w="12700">
            <a:solidFill>
              <a:srgbClr val="FB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681728" y="2093976"/>
            <a:ext cx="2834640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81728" y="2101656"/>
            <a:ext cx="340156" cy="0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021884" y="2017166"/>
            <a:ext cx="226772" cy="84490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248656" y="2017166"/>
            <a:ext cx="255117" cy="184343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03773" y="1971080"/>
            <a:ext cx="283464" cy="230429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87237" y="1971080"/>
            <a:ext cx="311811" cy="168981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099048" y="2070933"/>
            <a:ext cx="368503" cy="69128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67551" y="2070933"/>
            <a:ext cx="340157" cy="53766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807708" y="2097816"/>
            <a:ext cx="340156" cy="26883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47864" y="2097816"/>
            <a:ext cx="368504" cy="0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72584" y="2286000"/>
            <a:ext cx="287121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7745"/>
                </a:solidFill>
                <a:latin typeface="Aptos"/>
              </a:rPr>
              <a:t>same proprioceptive trace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889504" y="2670048"/>
            <a:ext cx="3209544" cy="548640"/>
          </a:xfrm>
          <a:prstGeom prst="line">
            <a:avLst/>
          </a:prstGeom>
          <a:ln w="1778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9048" y="2670048"/>
            <a:ext cx="3200400" cy="548640"/>
          </a:xfrm>
          <a:prstGeom prst="line">
            <a:avLst/>
          </a:prstGeom>
          <a:ln w="1778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3232" y="3182112"/>
            <a:ext cx="4892040" cy="2240280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7280" y="3584448"/>
            <a:ext cx="1828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25880" y="3694176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00200" y="3767328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874519" y="3694176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148840" y="3767328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23160" y="3694176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697480" y="3767328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27832" y="3419856"/>
            <a:ext cx="1920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7A75"/>
                </a:solidFill>
                <a:latin typeface="Aptos"/>
              </a:rPr>
              <a:t>Soft mud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27832" y="3822191"/>
            <a:ext cx="1920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933"/>
                </a:solidFill>
                <a:latin typeface="Aptos"/>
              </a:rPr>
              <a:t>Feet sink; clearance helps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0" y="4645152"/>
            <a:ext cx="1600200" cy="310896"/>
          </a:xfrm>
          <a:prstGeom prst="roundRect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3552" y="4654296"/>
            <a:ext cx="145389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HIGH-STEP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3182112"/>
            <a:ext cx="4892040" cy="2240280"/>
          </a:xfrm>
          <a:prstGeom prst="roundRect">
            <a:avLst/>
          </a:prstGeom>
          <a:solidFill>
            <a:srgbClr val="FBE8DD"/>
          </a:solidFill>
          <a:ln w="12700">
            <a:solidFill>
              <a:srgbClr val="FB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86016" y="3584448"/>
            <a:ext cx="1828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7306055" y="3657600"/>
            <a:ext cx="91441" cy="246887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03236" y="3657600"/>
            <a:ext cx="91439" cy="246887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900415" y="3657600"/>
            <a:ext cx="91440" cy="246887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197596" y="3657600"/>
            <a:ext cx="91440" cy="246887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494776" y="3657600"/>
            <a:ext cx="91439" cy="246887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07424" y="3419856"/>
            <a:ext cx="1920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97745"/>
                </a:solidFill>
                <a:latin typeface="Aptos"/>
              </a:rPr>
              <a:t>Adhesion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07424" y="3822191"/>
            <a:ext cx="1920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933"/>
                </a:solidFill>
                <a:latin typeface="Aptos"/>
              </a:rPr>
              <a:t>Pushing harder immobilizes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70848" y="4645152"/>
            <a:ext cx="1600200" cy="310896"/>
          </a:xfrm>
          <a:prstGeom prst="roundRect">
            <a:avLst/>
          </a:prstGeom>
          <a:solidFill>
            <a:srgbClr val="D97745"/>
          </a:solidFill>
          <a:ln w="12700">
            <a:solidFill>
              <a:srgbClr val="D9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4654296"/>
            <a:ext cx="145389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BACKSTEP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5751576"/>
            <a:ext cx="11000232" cy="457200"/>
          </a:xfrm>
          <a:prstGeom prst="roundRect">
            <a:avLst/>
          </a:prstGeom>
          <a:solidFill>
            <a:srgbClr val="F7E5E6"/>
          </a:solidFill>
          <a:ln w="12700">
            <a:solidFill>
              <a:srgbClr val="F7E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806440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C4B51"/>
                </a:solidFill>
                <a:latin typeface="Aptos"/>
              </a:rPr>
              <a:t>In this pair, the wrong recovery costs up to 4 physical-cost units.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One sensor cannot settle every conflict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A1–A3 ambiguity constructions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5321808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0976" y="1572768"/>
            <a:ext cx="1920240" cy="310896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81912"/>
            <a:ext cx="177393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7A75"/>
                </a:solidFill>
                <a:latin typeface="Aptos"/>
              </a:rPr>
              <a:t>VISION IS DECISIVE</a:t>
            </a:r>
          </a:p>
        </p:txBody>
      </p:sp>
      <p:sp>
        <p:nvSpPr>
          <p:cNvPr id="10" name="Arc 9"/>
          <p:cNvSpPr/>
          <p:nvPr/>
        </p:nvSpPr>
        <p:spPr>
          <a:xfrm>
            <a:off x="969263" y="2176272"/>
            <a:ext cx="621792" cy="402336"/>
          </a:xfrm>
          <a:prstGeom prst="arc">
            <a:avLst/>
          </a:prstGeom>
          <a:solidFill>
            <a:srgbClr val="FFFFFF"/>
          </a:solidFill>
          <a:ln w="2794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07007" y="2304288"/>
            <a:ext cx="146304" cy="14630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103120" y="2400300"/>
            <a:ext cx="3246120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03120" y="2410358"/>
            <a:ext cx="389534" cy="0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492654" y="2299716"/>
            <a:ext cx="259690" cy="110642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52344" y="2299716"/>
            <a:ext cx="292150" cy="241401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044494" y="2239365"/>
            <a:ext cx="324612" cy="301752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69106" y="2239365"/>
            <a:ext cx="357073" cy="221285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726179" y="2370124"/>
            <a:ext cx="421996" cy="90526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148175" y="2370124"/>
            <a:ext cx="389534" cy="70409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537709" y="2405329"/>
            <a:ext cx="389535" cy="35204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927244" y="2405329"/>
            <a:ext cx="421996" cy="0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86000" y="2670048"/>
            <a:ext cx="28529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7745"/>
                </a:solidFill>
                <a:latin typeface="Aptos"/>
              </a:rPr>
              <a:t>same body trace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3218688"/>
            <a:ext cx="1691640" cy="438912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34440" y="3328416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81328" y="3401568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728216" y="3328416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975104" y="3401568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21992" y="3328416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468880" y="3401568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29000" y="3218688"/>
            <a:ext cx="1691640" cy="438912"/>
          </a:xfrm>
          <a:prstGeom prst="roundRect">
            <a:avLst/>
          </a:prstGeom>
          <a:solidFill>
            <a:srgbClr val="FBE8DD"/>
          </a:solidFill>
          <a:ln w="12700">
            <a:solidFill>
              <a:srgbClr val="FB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749039" y="3291840"/>
            <a:ext cx="91440" cy="246888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011929" y="3291840"/>
            <a:ext cx="91440" cy="246888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274820" y="3291840"/>
            <a:ext cx="91439" cy="246888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37709" y="3291840"/>
            <a:ext cx="91440" cy="246888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800600" y="3291840"/>
            <a:ext cx="91440" cy="246888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143000" y="3794760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7A75"/>
                </a:solidFill>
                <a:latin typeface="Aptos"/>
              </a:rPr>
              <a:t>mud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3794760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7745"/>
                </a:solidFill>
                <a:latin typeface="Aptos"/>
              </a:rPr>
              <a:t>adhesion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0432" y="4416552"/>
            <a:ext cx="4279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24D"/>
                </a:solidFill>
                <a:latin typeface="Aptos"/>
              </a:rPr>
              <a:t>Body-only must guess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882896"/>
            <a:ext cx="35844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81"/>
                </a:solidFill>
                <a:latin typeface="Aptos"/>
              </a:rPr>
              <a:t>A1 matched O4/O2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08776" y="1298448"/>
            <a:ext cx="5321808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92240" y="1572768"/>
            <a:ext cx="1938528" cy="310896"/>
          </a:xfrm>
          <a:prstGeom prst="roundRect">
            <a:avLst/>
          </a:prstGeom>
          <a:solidFill>
            <a:srgbClr val="FBE8DD"/>
          </a:solidFill>
          <a:ln w="12700">
            <a:solidFill>
              <a:srgbClr val="FB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1581912"/>
            <a:ext cx="179222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7745"/>
                </a:solidFill>
                <a:latin typeface="Aptos"/>
              </a:rPr>
              <a:t>BODY IS DECISIVE</a:t>
            </a:r>
          </a:p>
        </p:txBody>
      </p:sp>
      <p:sp>
        <p:nvSpPr>
          <p:cNvPr id="43" name="Arc 42"/>
          <p:cNvSpPr/>
          <p:nvPr/>
        </p:nvSpPr>
        <p:spPr>
          <a:xfrm>
            <a:off x="6565392" y="2176272"/>
            <a:ext cx="621792" cy="402336"/>
          </a:xfrm>
          <a:prstGeom prst="arc">
            <a:avLst/>
          </a:prstGeom>
          <a:solidFill>
            <a:srgbClr val="FFFFFF"/>
          </a:solidFill>
          <a:ln w="2794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803136" y="2304288"/>
            <a:ext cx="146304" cy="14630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0" y="2212848"/>
            <a:ext cx="3291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7A75"/>
                </a:solidFill>
                <a:latin typeface="Aptos"/>
              </a:rPr>
              <a:t>same safe-looking RGB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29400" y="3154680"/>
            <a:ext cx="1920240" cy="621792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39128" y="3319272"/>
            <a:ext cx="17007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27181"/>
                </a:solidFill>
                <a:latin typeface="Aptos"/>
              </a:rPr>
              <a:t>clear path?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979408" y="3456432"/>
            <a:ext cx="2103120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979408" y="3466673"/>
            <a:ext cx="252374" cy="0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231782" y="3354019"/>
            <a:ext cx="168250" cy="112654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400032" y="3354019"/>
            <a:ext cx="189280" cy="245790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589312" y="3292571"/>
            <a:ext cx="210312" cy="307238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799624" y="3292571"/>
            <a:ext cx="231344" cy="225308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030968" y="3425708"/>
            <a:ext cx="273405" cy="92171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304373" y="3425708"/>
            <a:ext cx="252375" cy="71689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0556748" y="3461552"/>
            <a:ext cx="252374" cy="35845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809122" y="3461552"/>
            <a:ext cx="273406" cy="0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988552" y="3794760"/>
            <a:ext cx="2084831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7745"/>
                </a:solidFill>
                <a:latin typeface="Aptos"/>
              </a:rPr>
              <a:t>impact in joints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47104" y="4416552"/>
            <a:ext cx="455371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24D"/>
                </a:solidFill>
                <a:latin typeface="Aptos"/>
              </a:rPr>
              <a:t>Vision-only misses the obstacle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58584" y="4882896"/>
            <a:ext cx="37307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81"/>
                </a:solidFill>
                <a:latin typeface="Aptos"/>
              </a:rPr>
              <a:t>A3 invisible-obstacle probe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4360" y="5751576"/>
            <a:ext cx="11000232" cy="457200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" y="5806440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7A75"/>
                </a:solidFill>
                <a:latin typeface="Aptos"/>
              </a:rPr>
              <a:t>Neither vision nor proprioception subsumes the other.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Can the robot learn which evidence to trust?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Paper-A research question and claim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27181"/>
                </a:solidFill>
                <a:latin typeface="Aptos"/>
              </a:rPr>
              <a:t>Our thesis: failure attribution is a control decision—not merely a caption.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901952"/>
            <a:ext cx="2542032" cy="2670048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121408"/>
            <a:ext cx="475488" cy="47548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21992"/>
            <a:ext cx="4754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816352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7A75"/>
                </a:solidFill>
                <a:latin typeface="Aptos"/>
              </a:rPr>
              <a:t>Resolve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429000"/>
            <a:ext cx="2048256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933"/>
                </a:solidFill>
                <a:latin typeface="Aptos"/>
              </a:rPr>
              <a:t>learn the direction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933"/>
                </a:solidFill>
                <a:latin typeface="Aptos"/>
              </a:rPr>
              <a:t>of a sensor conflict</a:t>
            </a:r>
          </a:p>
        </p:txBody>
      </p:sp>
      <p:sp>
        <p:nvSpPr>
          <p:cNvPr id="13" name="Chevron 12"/>
          <p:cNvSpPr/>
          <p:nvPr/>
        </p:nvSpPr>
        <p:spPr>
          <a:xfrm>
            <a:off x="3291840" y="2962656"/>
            <a:ext cx="256032" cy="475488"/>
          </a:xfrm>
          <a:prstGeom prst="chevron">
            <a:avLst/>
          </a:prstGeom>
          <a:solidFill>
            <a:srgbClr val="D9E1E7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1901952"/>
            <a:ext cx="2542032" cy="2670048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75887" y="2121408"/>
            <a:ext cx="475488" cy="475488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221992"/>
            <a:ext cx="4754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2816352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324D"/>
                </a:solidFill>
                <a:latin typeface="Aptos"/>
              </a:rPr>
              <a:t>Attribute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429000"/>
            <a:ext cx="2048256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933"/>
                </a:solidFill>
                <a:latin typeface="Aptos"/>
              </a:rPr>
              <a:t>name the physical cause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933"/>
                </a:solidFill>
                <a:latin typeface="Aptos"/>
              </a:rPr>
              <a:t>from vision + body</a:t>
            </a:r>
          </a:p>
        </p:txBody>
      </p:sp>
      <p:sp>
        <p:nvSpPr>
          <p:cNvPr id="19" name="Chevron 18"/>
          <p:cNvSpPr/>
          <p:nvPr/>
        </p:nvSpPr>
        <p:spPr>
          <a:xfrm>
            <a:off x="6099048" y="2962656"/>
            <a:ext cx="256032" cy="475488"/>
          </a:xfrm>
          <a:prstGeom prst="chevron">
            <a:avLst/>
          </a:prstGeom>
          <a:solidFill>
            <a:srgbClr val="D9E1E7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81927" y="1901952"/>
            <a:ext cx="2542032" cy="2670048"/>
          </a:xfrm>
          <a:prstGeom prst="roundRect">
            <a:avLst/>
          </a:prstGeom>
          <a:solidFill>
            <a:srgbClr val="FBE8DD"/>
          </a:solidFill>
          <a:ln w="12700">
            <a:solidFill>
              <a:srgbClr val="FB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83095" y="2121408"/>
            <a:ext cx="475488" cy="475488"/>
          </a:xfrm>
          <a:prstGeom prst="ellipse">
            <a:avLst/>
          </a:prstGeom>
          <a:solidFill>
            <a:srgbClr val="D97745"/>
          </a:solidFill>
          <a:ln w="12700">
            <a:solidFill>
              <a:srgbClr val="D9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5" y="2221992"/>
            <a:ext cx="4754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3" y="2816352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97745"/>
                </a:solidFill>
                <a:latin typeface="Aptos"/>
              </a:rPr>
              <a:t>Recover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7" y="3429000"/>
            <a:ext cx="2048256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933"/>
                </a:solidFill>
                <a:latin typeface="Aptos"/>
              </a:rPr>
              <a:t>choose an action by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933"/>
                </a:solidFill>
                <a:latin typeface="Aptos"/>
              </a:rPr>
              <a:t>measured consequence</a:t>
            </a:r>
          </a:p>
        </p:txBody>
      </p:sp>
      <p:sp>
        <p:nvSpPr>
          <p:cNvPr id="25" name="Chevron 24"/>
          <p:cNvSpPr/>
          <p:nvPr/>
        </p:nvSpPr>
        <p:spPr>
          <a:xfrm>
            <a:off x="8906255" y="2962656"/>
            <a:ext cx="256032" cy="475488"/>
          </a:xfrm>
          <a:prstGeom prst="chevron">
            <a:avLst/>
          </a:prstGeom>
          <a:solidFill>
            <a:srgbClr val="D9E1E7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89136" y="1901952"/>
            <a:ext cx="2542032" cy="2670048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90304" y="2121408"/>
            <a:ext cx="475488" cy="475488"/>
          </a:xfrm>
          <a:prstGeom prst="ellipse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221992"/>
            <a:ext cx="4754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2816352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E8B6D"/>
                </a:solidFill>
                <a:latin typeface="Aptos"/>
              </a:rPr>
              <a:t>Abstain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7736" y="3429000"/>
            <a:ext cx="2048256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933"/>
                </a:solidFill>
                <a:latin typeface="Aptos"/>
              </a:rPr>
              <a:t>fall back unless all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933"/>
                </a:solidFill>
                <a:latin typeface="Aptos"/>
              </a:rPr>
              <a:t>observable cues agree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321808"/>
            <a:ext cx="11000232" cy="457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376672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24D"/>
                </a:solidFill>
                <a:latin typeface="Aptos"/>
              </a:rPr>
              <a:t>The evidence chain is only as strong as its weakest link.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We evaluate the decision—not navigation luck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A0 shared protocol; A4 interventional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05</a:t>
            </a:r>
          </a:p>
        </p:txBody>
      </p:sp>
      <p:sp>
        <p:nvSpPr>
          <p:cNvPr id="7" name="Oval 6"/>
          <p:cNvSpPr/>
          <p:nvPr/>
        </p:nvSpPr>
        <p:spPr>
          <a:xfrm>
            <a:off x="1517904" y="1536192"/>
            <a:ext cx="512064" cy="51206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7904" y="1664208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177393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7A75"/>
                </a:solidFill>
                <a:latin typeface="Aptos"/>
              </a:rPr>
              <a:t>Freeze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651760"/>
            <a:ext cx="2084831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record the failure-onset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observation once</a:t>
            </a:r>
          </a:p>
        </p:txBody>
      </p:sp>
      <p:sp>
        <p:nvSpPr>
          <p:cNvPr id="11" name="Chevron 10"/>
          <p:cNvSpPr/>
          <p:nvPr/>
        </p:nvSpPr>
        <p:spPr>
          <a:xfrm>
            <a:off x="2871215" y="1563624"/>
            <a:ext cx="347472" cy="457200"/>
          </a:xfrm>
          <a:prstGeom prst="chevron">
            <a:avLst/>
          </a:prstGeom>
          <a:solidFill>
            <a:srgbClr val="D9E1E7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52544" y="1536192"/>
            <a:ext cx="512064" cy="512064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544" y="1664208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212848"/>
            <a:ext cx="177393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324D"/>
                </a:solidFill>
                <a:latin typeface="Aptos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51760"/>
            <a:ext cx="2084831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score every method 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the same snapshot</a:t>
            </a:r>
          </a:p>
        </p:txBody>
      </p:sp>
      <p:sp>
        <p:nvSpPr>
          <p:cNvPr id="16" name="Chevron 15"/>
          <p:cNvSpPr/>
          <p:nvPr/>
        </p:nvSpPr>
        <p:spPr>
          <a:xfrm>
            <a:off x="5705856" y="1563624"/>
            <a:ext cx="347472" cy="457200"/>
          </a:xfrm>
          <a:prstGeom prst="chevron">
            <a:avLst/>
          </a:prstGeom>
          <a:solidFill>
            <a:srgbClr val="D9E1E7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87183" y="1536192"/>
            <a:ext cx="512064" cy="512064"/>
          </a:xfrm>
          <a:prstGeom prst="ellipse">
            <a:avLst/>
          </a:prstGeom>
          <a:solidFill>
            <a:srgbClr val="D97745"/>
          </a:solidFill>
          <a:ln w="12700">
            <a:solidFill>
              <a:srgbClr val="D9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3" y="1664208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212848"/>
            <a:ext cx="177393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D97745"/>
                </a:solidFill>
                <a:latin typeface="Aptos"/>
              </a:rPr>
              <a:t>Intervene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51760"/>
            <a:ext cx="2084831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force one recovery while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holding the scene fixed</a:t>
            </a:r>
          </a:p>
        </p:txBody>
      </p:sp>
      <p:sp>
        <p:nvSpPr>
          <p:cNvPr id="21" name="Chevron 20"/>
          <p:cNvSpPr/>
          <p:nvPr/>
        </p:nvSpPr>
        <p:spPr>
          <a:xfrm>
            <a:off x="8540496" y="1563624"/>
            <a:ext cx="347472" cy="457200"/>
          </a:xfrm>
          <a:prstGeom prst="chevron">
            <a:avLst/>
          </a:prstGeom>
          <a:solidFill>
            <a:srgbClr val="D9E1E7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21824" y="1536192"/>
            <a:ext cx="512064" cy="512064"/>
          </a:xfrm>
          <a:prstGeom prst="ellipse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21824" y="1664208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2212848"/>
            <a:ext cx="177393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E8B6D"/>
                </a:solidFill>
                <a:latin typeface="Aptos"/>
              </a:rPr>
              <a:t>Measure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651760"/>
            <a:ext cx="2084831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read physical outcome: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0 clean → 6 fall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73936" y="1792224"/>
            <a:ext cx="8074152" cy="0"/>
          </a:xfrm>
          <a:prstGeom prst="line">
            <a:avLst/>
          </a:prstGeom>
          <a:ln w="2540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67512" y="3749039"/>
            <a:ext cx="2578608" cy="14630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7512" y="3749039"/>
            <a:ext cx="73152" cy="14630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3913631"/>
            <a:ext cx="213969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7A75"/>
                </a:solidFill>
                <a:latin typeface="Aptos"/>
              </a:rPr>
              <a:t>548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" y="4462272"/>
            <a:ext cx="21396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933"/>
                </a:solidFill>
                <a:latin typeface="Aptos"/>
              </a:rPr>
              <a:t>frozen snapshots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" y="4818888"/>
            <a:ext cx="21396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181"/>
                </a:solidFill>
                <a:latin typeface="Aptos"/>
              </a:rPr>
              <a:t>A0 taxonomy corpus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38144" y="3749039"/>
            <a:ext cx="2578608" cy="14630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38144" y="3749039"/>
            <a:ext cx="73152" cy="146304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94176" y="3913631"/>
            <a:ext cx="213969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24D"/>
                </a:solidFill>
                <a:latin typeface="Aptos"/>
              </a:rPr>
              <a:t>240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94176" y="4462272"/>
            <a:ext cx="21396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933"/>
                </a:solidFill>
                <a:latin typeface="Aptos"/>
              </a:rPr>
              <a:t>matched conflicts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94176" y="4818888"/>
            <a:ext cx="21396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181"/>
                </a:solidFill>
                <a:latin typeface="Aptos"/>
              </a:rPr>
              <a:t>A2 paired comparison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08776" y="3749039"/>
            <a:ext cx="2578608" cy="14630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08776" y="3749039"/>
            <a:ext cx="73152" cy="1463040"/>
          </a:xfrm>
          <a:prstGeom prst="rect">
            <a:avLst/>
          </a:prstGeom>
          <a:solidFill>
            <a:srgbClr val="D97745"/>
          </a:solidFill>
          <a:ln w="12700">
            <a:solidFill>
              <a:srgbClr val="D9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4808" y="3913631"/>
            <a:ext cx="213969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D97745"/>
                </a:solidFill>
                <a:latin typeface="Aptos"/>
              </a:rPr>
              <a:t>237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4808" y="4462272"/>
            <a:ext cx="21396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933"/>
                </a:solidFill>
                <a:latin typeface="Aptos"/>
              </a:rPr>
              <a:t>frozen-confirm cases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808" y="4818888"/>
            <a:ext cx="21396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181"/>
                </a:solidFill>
                <a:latin typeface="Aptos"/>
              </a:rPr>
              <a:t>A3 v2 · 33 inference clusters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9408" y="3749039"/>
            <a:ext cx="2578608" cy="14630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79408" y="3749039"/>
            <a:ext cx="73152" cy="1463040"/>
          </a:xfrm>
          <a:prstGeom prst="rect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3913631"/>
            <a:ext cx="213969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E8B6D"/>
                </a:solidFill>
                <a:latin typeface="Aptos"/>
              </a:rPr>
              <a:t>630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4462272"/>
            <a:ext cx="21396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933"/>
                </a:solidFill>
                <a:latin typeface="Aptos"/>
              </a:rPr>
              <a:t>physics episodes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4818888"/>
            <a:ext cx="21396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181"/>
                </a:solidFill>
                <a:latin typeface="Aptos"/>
              </a:rPr>
              <a:t>9 scenes × 7 actions × 10 seeds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5605272"/>
            <a:ext cx="11000232" cy="457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660136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27181"/>
                </a:solidFill>
                <a:latin typeface="Aptos"/>
              </a:rPr>
              <a:t>All physical outcomes are from Isaac Sim with the Unitree Go2 asset.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See → Feel → Attribute → Act selectively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KinoVLA frozen See–Feel–Act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920240" cy="1426464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1350568" y="1729130"/>
            <a:ext cx="590702" cy="382219"/>
          </a:xfrm>
          <a:prstGeom prst="arc">
            <a:avLst/>
          </a:prstGeom>
          <a:solidFill>
            <a:srgbClr val="FFFFFF"/>
          </a:solidFill>
          <a:ln w="2794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76425" y="1850745"/>
            <a:ext cx="138988" cy="13898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414016"/>
            <a:ext cx="10424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7A75"/>
                </a:solidFill>
                <a:latin typeface="Aptos"/>
              </a:rPr>
              <a:t>SEE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10128"/>
            <a:ext cx="1920240" cy="1426464"/>
          </a:xfrm>
          <a:prstGeom prst="roundRect">
            <a:avLst/>
          </a:prstGeom>
          <a:solidFill>
            <a:srgbClr val="FBE8DD"/>
          </a:solidFill>
          <a:ln w="12700">
            <a:solidFill>
              <a:srgbClr val="FB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41832" y="3858768"/>
            <a:ext cx="1417320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41832" y="3867546"/>
            <a:ext cx="170078" cy="0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11910" y="3770985"/>
            <a:ext cx="113386" cy="96561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25296" y="3770985"/>
            <a:ext cx="127558" cy="210678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52854" y="3718316"/>
            <a:ext cx="141732" cy="263347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94586" y="3718316"/>
            <a:ext cx="155906" cy="193121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650492" y="3832433"/>
            <a:ext cx="184251" cy="79004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34743" y="3832433"/>
            <a:ext cx="170079" cy="61447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04822" y="3863157"/>
            <a:ext cx="170078" cy="30723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74900" y="3863157"/>
            <a:ext cx="184252" cy="0"/>
          </a:xfrm>
          <a:prstGeom prst="line">
            <a:avLst/>
          </a:prstGeom>
          <a:ln w="2794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15568" y="4242816"/>
            <a:ext cx="10424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7745"/>
                </a:solidFill>
                <a:latin typeface="Aptos"/>
              </a:rPr>
              <a:t>FEEL</a:t>
            </a:r>
          </a:p>
        </p:txBody>
      </p:sp>
      <p:sp>
        <p:nvSpPr>
          <p:cNvPr id="23" name="Chevron 22"/>
          <p:cNvSpPr/>
          <p:nvPr/>
        </p:nvSpPr>
        <p:spPr>
          <a:xfrm>
            <a:off x="2880360" y="2624328"/>
            <a:ext cx="438912" cy="566928"/>
          </a:xfrm>
          <a:prstGeom prst="chevron">
            <a:avLst/>
          </a:prstGeom>
          <a:solidFill>
            <a:srgbClr val="D9E1E7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93008" y="2148840"/>
            <a:ext cx="2121408" cy="2176272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76472" y="2633472"/>
            <a:ext cx="155448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"/>
              </a:rPr>
              <a:t>Cross-modal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"/>
              </a:rPr>
              <a:t>VLA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3630168"/>
            <a:ext cx="13533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9352" y="3639312"/>
            <a:ext cx="12070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324D"/>
                </a:solidFill>
                <a:latin typeface="Aptos"/>
              </a:rPr>
              <a:t>Kino-Tokens</a:t>
            </a:r>
          </a:p>
        </p:txBody>
      </p:sp>
      <p:sp>
        <p:nvSpPr>
          <p:cNvPr id="28" name="Chevron 27"/>
          <p:cNvSpPr/>
          <p:nvPr/>
        </p:nvSpPr>
        <p:spPr>
          <a:xfrm>
            <a:off x="5907024" y="2624328"/>
            <a:ext cx="438912" cy="566928"/>
          </a:xfrm>
          <a:prstGeom prst="chevron">
            <a:avLst/>
          </a:prstGeom>
          <a:solidFill>
            <a:srgbClr val="D9E1E7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10528" y="1591056"/>
            <a:ext cx="2084831" cy="1261872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1810512"/>
            <a:ext cx="1572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27181"/>
                </a:solidFill>
                <a:latin typeface="Aptos"/>
              </a:rPr>
              <a:t>ATTRIBUTION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1696" y="2221992"/>
            <a:ext cx="167335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24D"/>
                </a:solidFill>
                <a:latin typeface="Aptos"/>
              </a:rPr>
              <a:t>“soft terrain”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10528" y="3602736"/>
            <a:ext cx="2084831" cy="1261872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1696" y="3822191"/>
            <a:ext cx="168249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27181"/>
                </a:solidFill>
                <a:latin typeface="Aptos"/>
              </a:rPr>
              <a:t>PROPOSED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4233672"/>
            <a:ext cx="1645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97745"/>
                </a:solidFill>
                <a:latin typeface="Aptos"/>
              </a:rPr>
              <a:t>High-step</a:t>
            </a:r>
          </a:p>
        </p:txBody>
      </p:sp>
      <p:sp>
        <p:nvSpPr>
          <p:cNvPr id="35" name="Chevron 34"/>
          <p:cNvSpPr/>
          <p:nvPr/>
        </p:nvSpPr>
        <p:spPr>
          <a:xfrm>
            <a:off x="8851392" y="2624328"/>
            <a:ext cx="438912" cy="566928"/>
          </a:xfrm>
          <a:prstGeom prst="chevron">
            <a:avLst/>
          </a:prstGeom>
          <a:solidFill>
            <a:srgbClr val="D9E1E7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36608" y="1947672"/>
            <a:ext cx="2084831" cy="2542032"/>
          </a:xfrm>
          <a:prstGeom prst="roundRect">
            <a:avLst/>
          </a:prstGeom>
          <a:solidFill>
            <a:srgbClr val="E2F2EA"/>
          </a:solidFill>
          <a:ln w="1778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8360" y="2267712"/>
            <a:ext cx="1481328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B6D"/>
                </a:solidFill>
                <a:latin typeface="Aptos"/>
              </a:rPr>
              <a:t>SEE–FEEL–ACT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8B6D"/>
                </a:solidFill>
                <a:latin typeface="Aptos"/>
              </a:rPr>
              <a:t>GATE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838944" y="3154680"/>
            <a:ext cx="1261872" cy="0"/>
          </a:xfrm>
          <a:prstGeom prst="line">
            <a:avLst/>
          </a:prstGeom>
          <a:ln w="12700">
            <a:solidFill>
              <a:srgbClr val="2E8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656064" y="3410712"/>
            <a:ext cx="164592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2933"/>
                </a:solidFill>
                <a:latin typeface="Aptos"/>
              </a:rPr>
              <a:t>all cues agree → release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2933"/>
                </a:solidFill>
                <a:latin typeface="Aptos"/>
              </a:rPr>
              <a:t>otherwise → Backstep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266944"/>
            <a:ext cx="11000232" cy="457200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321807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7A75"/>
                </a:solidFill>
                <a:latin typeface="Aptos"/>
              </a:rPr>
              <a:t>The learned model proposes; the observable gate decides whether to trust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C1 · NECESSITY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Controlled ambiguity exposes complementary blind spots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A1 matched-pair certificate; A3 O8 probe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5358384" cy="4151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0976" y="1627632"/>
            <a:ext cx="2487168" cy="310896"/>
          </a:xfrm>
          <a:prstGeom prst="roundRect">
            <a:avLst/>
          </a:prstGeom>
          <a:solidFill>
            <a:srgbClr val="FBE8DD"/>
          </a:solidFill>
          <a:ln w="12700">
            <a:solidFill>
              <a:srgbClr val="FB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636776"/>
            <a:ext cx="234086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7745"/>
                </a:solidFill>
                <a:latin typeface="Aptos"/>
              </a:rPr>
              <a:t>MATCHED BODY · DIFFERENT 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57984"/>
            <a:ext cx="455371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324D"/>
                </a:solidFill>
                <a:latin typeface="Aptos"/>
              </a:rPr>
              <a:t>Proprioception cannot separate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324D"/>
                </a:solidFill>
                <a:latin typeface="Aptos"/>
              </a:rPr>
              <a:t>mud from adhesion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3145536"/>
            <a:ext cx="196596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" y="3145536"/>
            <a:ext cx="73152" cy="1371600"/>
          </a:xfrm>
          <a:prstGeom prst="rect">
            <a:avLst/>
          </a:prstGeom>
          <a:solidFill>
            <a:srgbClr val="D97745"/>
          </a:solidFill>
          <a:ln w="12700">
            <a:solidFill>
              <a:srgbClr val="D9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310128"/>
            <a:ext cx="152704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D97745"/>
                </a:solidFill>
                <a:latin typeface="Aptos"/>
              </a:rPr>
              <a:t>0.500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58768"/>
            <a:ext cx="152704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933"/>
                </a:solidFill>
                <a:latin typeface="Aptos"/>
              </a:rPr>
              <a:t>proprio 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15383"/>
            <a:ext cx="1527048" cy="1828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181"/>
                </a:solidFill>
                <a:latin typeface="Aptos"/>
              </a:rPr>
              <a:t>T=25 logistic probe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82112" y="3145536"/>
            <a:ext cx="196596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82112" y="3145536"/>
            <a:ext cx="73152" cy="1371600"/>
          </a:xfrm>
          <a:prstGeom prst="rect">
            <a:avLst/>
          </a:prstGeom>
          <a:solidFill>
            <a:srgbClr val="627181"/>
          </a:solidFill>
          <a:ln w="12700">
            <a:solidFill>
              <a:srgbClr val="627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8144" y="3310128"/>
            <a:ext cx="152704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27181"/>
                </a:solidFill>
                <a:latin typeface="Aptos"/>
              </a:rPr>
              <a:t>0.110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8144" y="3858768"/>
            <a:ext cx="152704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933"/>
                </a:solidFill>
                <a:latin typeface="Aptos"/>
              </a:rPr>
              <a:t>permutation 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8144" y="4215383"/>
            <a:ext cx="1527048" cy="1828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181"/>
                </a:solidFill>
                <a:latin typeface="Aptos"/>
              </a:rPr>
              <a:t>fresh / deep-reset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18888"/>
            <a:ext cx="4544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7745"/>
                </a:solidFill>
                <a:latin typeface="Aptos"/>
              </a:rPr>
              <a:t>binding input: byte-identical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1353312"/>
            <a:ext cx="5303520" cy="4151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19672" y="1627632"/>
            <a:ext cx="2487168" cy="310896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636776"/>
            <a:ext cx="234086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SAME RGB · DIFFERENT MECHANICS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2157984"/>
            <a:ext cx="455371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324D"/>
                </a:solidFill>
                <a:latin typeface="Aptos"/>
              </a:rPr>
              <a:t>Vision cannot see 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324D"/>
                </a:solidFill>
                <a:latin typeface="Aptos"/>
              </a:rPr>
              <a:t>invisible obstacle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0528" y="3145536"/>
            <a:ext cx="196596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10528" y="3145536"/>
            <a:ext cx="73152" cy="1371600"/>
          </a:xfrm>
          <a:prstGeom prst="rect">
            <a:avLst/>
          </a:prstGeom>
          <a:solidFill>
            <a:srgbClr val="BC4B51"/>
          </a:solidFill>
          <a:ln w="12700">
            <a:solidFill>
              <a:srgbClr val="BC4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310128"/>
            <a:ext cx="152704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BC4B51"/>
                </a:solidFill>
                <a:latin typeface="Aptos"/>
              </a:rPr>
              <a:t>0 / 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858768"/>
            <a:ext cx="152704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933"/>
                </a:solidFill>
                <a:latin typeface="Aptos"/>
              </a:rPr>
              <a:t>vision-only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15383"/>
            <a:ext cx="1527048" cy="1828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181"/>
                </a:solidFill>
                <a:latin typeface="Aptos"/>
              </a:rPr>
              <a:t>correct attributions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59952" y="3145536"/>
            <a:ext cx="196596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59952" y="3145536"/>
            <a:ext cx="73152" cy="1371600"/>
          </a:xfrm>
          <a:prstGeom prst="rect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15984" y="3310128"/>
            <a:ext cx="152704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E8B6D"/>
                </a:solidFill>
                <a:latin typeface="Aptos"/>
              </a:rPr>
              <a:t>48 / 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15984" y="3858768"/>
            <a:ext cx="152704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933"/>
                </a:solidFill>
                <a:latin typeface="Aptos"/>
              </a:rPr>
              <a:t>body-only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15984" y="4215383"/>
            <a:ext cx="1527048" cy="1828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181"/>
                </a:solidFill>
                <a:latin typeface="Aptos"/>
              </a:rPr>
              <a:t>correct attributions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818888"/>
            <a:ext cx="4544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7A75"/>
                </a:solidFill>
                <a:latin typeface="Aptos"/>
              </a:rPr>
              <a:t>the decisive modality flips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742432"/>
            <a:ext cx="11000232" cy="457200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797296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7A75"/>
                </a:solidFill>
                <a:latin typeface="Aptos"/>
              </a:rPr>
              <a:t>C1: cross-modal sensing is necessary in both directions.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C2 ·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Conflict resolution improves when it is explicitly trained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A2, n=240 matched conflicts; exact paired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43584"/>
            <a:ext cx="6537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27181"/>
                </a:solidFill>
                <a:latin typeface="Aptos"/>
              </a:rPr>
              <a:t>Attribution accuracy on the same held-out conflict snapshots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69848" y="1938528"/>
            <a:ext cx="0" cy="2724912"/>
          </a:xfrm>
          <a:prstGeom prst="line">
            <a:avLst/>
          </a:prstGeom>
          <a:ln w="1270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" y="4663440"/>
            <a:ext cx="5961888" cy="0"/>
          </a:xfrm>
          <a:prstGeom prst="line">
            <a:avLst/>
          </a:prstGeom>
          <a:ln w="1270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24128" y="4663440"/>
            <a:ext cx="6007608" cy="0"/>
          </a:xfrm>
          <a:prstGeom prst="line">
            <a:avLst/>
          </a:prstGeom>
          <a:ln w="6985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4553712"/>
            <a:ext cx="3108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24128" y="3300983"/>
            <a:ext cx="6007608" cy="0"/>
          </a:xfrm>
          <a:prstGeom prst="line">
            <a:avLst/>
          </a:prstGeom>
          <a:ln w="6985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191255"/>
            <a:ext cx="3108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0.5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4128" y="1938527"/>
            <a:ext cx="6007608" cy="0"/>
          </a:xfrm>
          <a:prstGeom prst="line">
            <a:avLst/>
          </a:prstGeom>
          <a:ln w="6985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1828799"/>
            <a:ext cx="3108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10512" y="3300983"/>
            <a:ext cx="621792" cy="1362456"/>
          </a:xfrm>
          <a:prstGeom prst="rect">
            <a:avLst/>
          </a:prstGeom>
          <a:solidFill>
            <a:srgbClr val="627181"/>
          </a:solidFill>
          <a:ln w="12700">
            <a:solidFill>
              <a:srgbClr val="627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73352" y="2990087"/>
            <a:ext cx="8961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27181"/>
                </a:solidFill>
                <a:latin typeface="Aptos"/>
              </a:rPr>
              <a:t>0.50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773168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933"/>
                </a:solidFill>
                <a:latin typeface="Aptos"/>
              </a:rPr>
              <a:t>Body-only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0752" y="2483510"/>
            <a:ext cx="621792" cy="2179929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2172614"/>
            <a:ext cx="8961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7A75"/>
                </a:solidFill>
                <a:latin typeface="Aptos"/>
              </a:rPr>
              <a:t>0.80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4773168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933"/>
                </a:solidFill>
                <a:latin typeface="Aptos"/>
              </a:rPr>
              <a:t>Vision-capable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933"/>
                </a:solidFill>
                <a:latin typeface="Aptos"/>
              </a:rPr>
              <a:t>(no conflict data)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50992" y="2211019"/>
            <a:ext cx="621792" cy="24524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13832" y="1900123"/>
            <a:ext cx="8961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324D"/>
                </a:solidFill>
                <a:latin typeface="Aptos"/>
              </a:rPr>
              <a:t>0.90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4773168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933"/>
                </a:solidFill>
                <a:latin typeface="Aptos"/>
              </a:rPr>
              <a:t>Conflict-trained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16368" y="1572768"/>
            <a:ext cx="4005072" cy="3639312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18704" y="1929384"/>
            <a:ext cx="1316736" cy="310896"/>
          </a:xfrm>
          <a:prstGeom prst="roundRect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1938527"/>
            <a:ext cx="117043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+24 / 240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1965960"/>
            <a:ext cx="15727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8B6D"/>
                </a:solidFill>
                <a:latin typeface="Aptos"/>
              </a:rPr>
              <a:t>paired corrections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0416" y="2624328"/>
            <a:ext cx="321868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24D"/>
                </a:solidFill>
                <a:latin typeface="Aptos"/>
              </a:rPr>
              <a:t>B5-unshaped → B5-conflict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0416" y="3081528"/>
            <a:ext cx="3154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No regressions on the paired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0416" y="3547872"/>
            <a:ext cx="32186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Exact McNemar p = 1.19 × 10⁻⁷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0416" y="4014215"/>
            <a:ext cx="32186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3 / 3 training seeds reach 0.90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09560" y="4553712"/>
            <a:ext cx="2852928" cy="310896"/>
          </a:xfrm>
          <a:prstGeom prst="roundRect">
            <a:avLst/>
          </a:prstGeom>
          <a:solidFill>
            <a:srgbClr val="FBE8DD"/>
          </a:solidFill>
          <a:ln w="12700">
            <a:solidFill>
              <a:srgbClr val="FB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82712" y="4562856"/>
            <a:ext cx="270662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7745"/>
                </a:solidFill>
                <a:latin typeface="Aptos"/>
              </a:rPr>
              <a:t>not “always trust the camera”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678424"/>
            <a:ext cx="11000232" cy="457200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733288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7A75"/>
                </a:solidFill>
                <a:latin typeface="Aptos"/>
              </a:rPr>
              <a:t>C2: having vision is not enough; evidence weighting must be learned.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C2 · CONFIRMATION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Structured v2 closes the full bidirectional battery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A3-v2 frozen confirmation · 237 snapshots · 5 training seeds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225296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27181"/>
                </a:solidFill>
                <a:latin typeface="Aptos"/>
              </a:rPr>
              <a:t>Attribution accuracy on 15 new appearances; no confirmation item was used for fitting.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1664208"/>
            <a:ext cx="1956816" cy="1143000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65376"/>
            <a:ext cx="15910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8B6D"/>
                </a:solidFill>
                <a:latin typeface="Aptos"/>
              </a:rPr>
              <a:t>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67712"/>
            <a:ext cx="159105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E8B6D"/>
                </a:solidFill>
                <a:latin typeface="Aptos"/>
              </a:rPr>
              <a:t>1.000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664208"/>
            <a:ext cx="1956816" cy="1143000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1865376"/>
            <a:ext cx="15910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8B6D"/>
                </a:solidFill>
                <a:latin typeface="Aptos"/>
              </a:rPr>
              <a:t>T2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267712"/>
            <a:ext cx="159105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E8B6D"/>
                </a:solidFill>
                <a:latin typeface="Aptos"/>
              </a:rPr>
              <a:t>1.000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664208"/>
            <a:ext cx="1956816" cy="1143000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865376"/>
            <a:ext cx="15910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8B6D"/>
                </a:solidFill>
                <a:latin typeface="Aptos"/>
              </a:rPr>
              <a:t>T3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267712"/>
            <a:ext cx="159105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E8B6D"/>
                </a:solidFill>
                <a:latin typeface="Aptos"/>
              </a:rPr>
              <a:t>1.000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42632" y="1664208"/>
            <a:ext cx="1956816" cy="1143000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1865376"/>
            <a:ext cx="15910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8B6D"/>
                </a:solidFill>
                <a:latin typeface="Aptos"/>
              </a:rPr>
              <a:t>T4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2267712"/>
            <a:ext cx="159105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E8B6D"/>
                </a:solidFill>
                <a:latin typeface="Aptos"/>
              </a:rPr>
              <a:t>1.000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64624" y="1664208"/>
            <a:ext cx="1956816" cy="1143000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47504" y="1865376"/>
            <a:ext cx="15910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8B6D"/>
                </a:solidFill>
                <a:latin typeface="Aptos"/>
              </a:rPr>
              <a:t>T5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7504" y="2267712"/>
            <a:ext cx="159105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E8B6D"/>
                </a:solidFill>
                <a:latin typeface="Aptos"/>
              </a:rPr>
              <a:t>1.000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2999232"/>
            <a:ext cx="10808208" cy="566928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3172968"/>
            <a:ext cx="1234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24D"/>
                </a:solidFill>
                <a:latin typeface="Aptos"/>
              </a:rPr>
              <a:t>T3 subcells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59152" y="3127248"/>
            <a:ext cx="2240280" cy="310896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32304" y="3136391"/>
            <a:ext cx="20939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B6D"/>
                </a:solidFill>
                <a:latin typeface="Aptos"/>
              </a:rPr>
              <a:t>looks-safe  1.000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02352" y="3127248"/>
            <a:ext cx="2240280" cy="310896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75504" y="3136391"/>
            <a:ext cx="20939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B6D"/>
                </a:solidFill>
                <a:latin typeface="Aptos"/>
              </a:rPr>
              <a:t>O8  1.000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45552" y="3127248"/>
            <a:ext cx="2240280" cy="310896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18704" y="3136391"/>
            <a:ext cx="20939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B6D"/>
                </a:solidFill>
                <a:latin typeface="Aptos"/>
              </a:rPr>
              <a:t>reverse  1.000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794760"/>
            <a:ext cx="68122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014215"/>
            <a:ext cx="3657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324D"/>
                </a:solidFill>
                <a:latin typeface="Aptos"/>
              </a:rPr>
              <a:t>Paired case × appearance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425696"/>
            <a:ext cx="2148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vs body-only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82112" y="4425696"/>
            <a:ext cx="69494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8B6D"/>
                </a:solidFill>
                <a:latin typeface="Aptos"/>
              </a:rPr>
              <a:t>+0.545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86784" y="4425696"/>
            <a:ext cx="1600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81"/>
                </a:solidFill>
                <a:latin typeface="Aptos"/>
              </a:rPr>
              <a:t>CI [0.364, 0.727]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96128" y="4425696"/>
            <a:ext cx="1572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181"/>
                </a:solidFill>
                <a:latin typeface="Aptos"/>
              </a:rPr>
              <a:t>p = 7.63×10⁻⁶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736592"/>
            <a:ext cx="2148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vs closed-set fusion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82112" y="4736592"/>
            <a:ext cx="69494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8B6D"/>
                </a:solidFill>
                <a:latin typeface="Aptos"/>
              </a:rPr>
              <a:t>+0.864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86784" y="4736592"/>
            <a:ext cx="1600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81"/>
                </a:solidFill>
                <a:latin typeface="Aptos"/>
              </a:rPr>
              <a:t>CI [0.742, 0.962]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96128" y="4736592"/>
            <a:ext cx="1572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181"/>
                </a:solidFill>
                <a:latin typeface="Aptos"/>
              </a:rPr>
              <a:t>p = 3.73×10⁻⁹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047488"/>
            <a:ext cx="2148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vs VLA conflict baseline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82112" y="5047488"/>
            <a:ext cx="69494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8B6D"/>
                </a:solidFill>
                <a:latin typeface="Aptos"/>
              </a:rPr>
              <a:t>+0.818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86784" y="5047488"/>
            <a:ext cx="1600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81"/>
                </a:solidFill>
                <a:latin typeface="Aptos"/>
              </a:rPr>
              <a:t>CI [0.667, 0.939]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96128" y="5047488"/>
            <a:ext cx="1572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181"/>
                </a:solidFill>
                <a:latin typeface="Aptos"/>
              </a:rPr>
              <a:t>p = 1.49×10⁻⁸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08392" y="3794760"/>
            <a:ext cx="3785615" cy="1627632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4014215"/>
            <a:ext cx="3200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8B6D"/>
                </a:solidFill>
                <a:latin typeface="Aptos"/>
              </a:rPr>
              <a:t>Robustness certificate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0144" y="4416552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933"/>
                </a:solidFill>
                <a:latin typeface="Aptos"/>
              </a:rPr>
              <a:t>5 / 5 training seeds pass every gate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144" y="4672584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3"/>
                </a:solidFill>
                <a:latin typeface="Aptos"/>
              </a:rPr>
              <a:t>33 / 33 strict clusters · CI [0.894, 1.000]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0144" y="4928616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3"/>
                </a:solidFill>
                <a:latin typeface="Aptos"/>
              </a:rPr>
              <a:t>15 / 15 appearance IDs · CI [0.782, 1.000]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10144" y="5184648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3"/>
                </a:solidFill>
                <a:latin typeface="Aptos"/>
              </a:rPr>
              <a:t>237 / 237 cause + admissible action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" y="5715000"/>
            <a:ext cx="11000232" cy="457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769864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24D"/>
                </a:solidFill>
                <a:latin typeface="Aptos"/>
              </a:rPr>
              <a:t>Structured v2 meets every pre-registered gate and significantly beats same-battery baselines.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C3 · CONSEQUENCE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The correct recovery depends on the physical cause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A4 forced-action consequence matrix; cost: 0 clean, 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243584"/>
            <a:ext cx="6766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27181"/>
                </a:solidFill>
                <a:latin typeface="Aptos"/>
              </a:rPr>
              <a:t>Hold the scene fixed. Change only the recovery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3087" y="1572768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27181"/>
                </a:solidFill>
                <a:latin typeface="Aptos"/>
              </a:rPr>
              <a:t>FORCED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672" y="1929384"/>
            <a:ext cx="2194560" cy="310896"/>
          </a:xfrm>
          <a:prstGeom prst="roundRect">
            <a:avLst/>
          </a:prstGeom>
          <a:solidFill>
            <a:srgbClr val="FBE8DD"/>
          </a:solidFill>
          <a:ln w="12700">
            <a:solidFill>
              <a:srgbClr val="FB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938527"/>
            <a:ext cx="2048255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7745"/>
                </a:solidFill>
                <a:latin typeface="Aptos"/>
              </a:rPr>
              <a:t>BACKSTEP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94576" y="1929384"/>
            <a:ext cx="2194560" cy="310896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1938527"/>
            <a:ext cx="2048255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7A75"/>
                </a:solidFill>
                <a:latin typeface="Aptos"/>
              </a:rPr>
              <a:t>HIGH-STEP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79776"/>
            <a:ext cx="21579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27181"/>
                </a:solidFill>
                <a:latin typeface="Aptos"/>
              </a:rPr>
              <a:t>TRUE CAUSE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273552"/>
            <a:ext cx="1965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D97745"/>
                </a:solidFill>
                <a:latin typeface="Aptos"/>
              </a:rPr>
              <a:t>Adhesion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498848"/>
            <a:ext cx="1965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7A75"/>
                </a:solidFill>
                <a:latin typeface="Aptos"/>
              </a:rPr>
              <a:t>Soft mud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2798064"/>
            <a:ext cx="2331720" cy="1024128"/>
          </a:xfrm>
          <a:prstGeom prst="roundRect">
            <a:avLst/>
          </a:prstGeom>
          <a:solidFill>
            <a:srgbClr val="F7E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4" y="2926080"/>
            <a:ext cx="56692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B78520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3136392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78520"/>
                </a:solidFill>
                <a:latin typeface="Aptos"/>
              </a:rPr>
              <a:t>slow but safe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1424" y="2798064"/>
            <a:ext cx="2331720" cy="1024128"/>
          </a:xfrm>
          <a:prstGeom prst="roundRect">
            <a:avLst/>
          </a:prstGeom>
          <a:solidFill>
            <a:srgbClr val="F7E5E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926080"/>
            <a:ext cx="56692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BC4B51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136392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C4B51"/>
                </a:solidFill>
                <a:latin typeface="Aptos"/>
              </a:rPr>
              <a:t>immobilized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4023360"/>
            <a:ext cx="2331720" cy="1024128"/>
          </a:xfrm>
          <a:prstGeom prst="roundRect">
            <a:avLst/>
          </a:prstGeom>
          <a:solidFill>
            <a:srgbClr val="F7E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4151376"/>
            <a:ext cx="56692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B78520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82896" y="4361688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78520"/>
                </a:solidFill>
                <a:latin typeface="Aptos"/>
              </a:rPr>
              <a:t>slow but safe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21424" y="4023360"/>
            <a:ext cx="2331720" cy="1024128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151376"/>
            <a:ext cx="56692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E8B6D"/>
                </a:solidFill>
                <a:latin typeface="Aptos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4361688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8B6D"/>
                </a:solidFill>
                <a:latin typeface="Aptos"/>
              </a:rPr>
              <a:t>clean recovery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5480" y="1929384"/>
            <a:ext cx="1847088" cy="31089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0656" y="2350008"/>
            <a:ext cx="1316736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7324D"/>
                </a:solidFill>
                <a:latin typeface="Aptos"/>
              </a:rPr>
              <a:t>630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3224" y="2907792"/>
            <a:ext cx="1371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933"/>
                </a:solidFill>
                <a:latin typeface="Aptos"/>
              </a:rPr>
              <a:t>physics episodes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84664" y="3547872"/>
            <a:ext cx="1197864" cy="0"/>
          </a:xfrm>
          <a:prstGeom prst="line">
            <a:avLst/>
          </a:prstGeom>
          <a:ln w="1270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902952" y="3776472"/>
            <a:ext cx="1170432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7181"/>
                </a:solidFill>
                <a:latin typeface="Aptos"/>
              </a:rPr>
              <a:t>9 scenes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7181"/>
                </a:solidFill>
                <a:latin typeface="Aptos"/>
              </a:rPr>
              <a:t>7 actions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7181"/>
                </a:solidFill>
                <a:latin typeface="Aptos"/>
              </a:rPr>
              <a:t>10 seeds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605272"/>
            <a:ext cx="11000232" cy="457200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660136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7A75"/>
                </a:solidFill>
                <a:latin typeface="Aptos"/>
              </a:rPr>
              <a:t>C3: action choice causally changes physical outcome—and errors are asymmetric.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C3 ·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Asymmetric harm yields a principled safe default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A4 T2 belief-weighted consequence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243584"/>
            <a:ext cx="8778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27181"/>
                </a:solidFill>
                <a:latin typeface="Aptos"/>
              </a:rPr>
              <a:t>Let p be the probability that the patch is adhesive rather than mud.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71600" y="4754880"/>
            <a:ext cx="5897880" cy="0"/>
          </a:xfrm>
          <a:prstGeom prst="line">
            <a:avLst/>
          </a:prstGeom>
          <a:ln w="15240">
            <a:solidFill>
              <a:srgbClr val="1E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2011680"/>
            <a:ext cx="0" cy="2743200"/>
          </a:xfrm>
          <a:prstGeom prst="line">
            <a:avLst/>
          </a:prstGeom>
          <a:ln w="15240">
            <a:solidFill>
              <a:srgbClr val="1E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4754880"/>
            <a:ext cx="5897880" cy="0"/>
          </a:xfrm>
          <a:prstGeom prst="line">
            <a:avLst/>
          </a:prstGeom>
          <a:ln w="8255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8407" y="4645152"/>
            <a:ext cx="2926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71600" y="4069080"/>
            <a:ext cx="5897880" cy="0"/>
          </a:xfrm>
          <a:prstGeom prst="line">
            <a:avLst/>
          </a:prstGeom>
          <a:ln w="8255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78407" y="3959352"/>
            <a:ext cx="2926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71600" y="3383280"/>
            <a:ext cx="5897880" cy="0"/>
          </a:xfrm>
          <a:prstGeom prst="line">
            <a:avLst/>
          </a:prstGeom>
          <a:ln w="8255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78407" y="3273552"/>
            <a:ext cx="2926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71600" y="2697480"/>
            <a:ext cx="5897880" cy="0"/>
          </a:xfrm>
          <a:prstGeom prst="line">
            <a:avLst/>
          </a:prstGeom>
          <a:ln w="8255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78407" y="2587752"/>
            <a:ext cx="2926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71600" y="2011680"/>
            <a:ext cx="5897880" cy="0"/>
          </a:xfrm>
          <a:prstGeom prst="line">
            <a:avLst/>
          </a:prstGeom>
          <a:ln w="8255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8407" y="1901952"/>
            <a:ext cx="2926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919472"/>
            <a:ext cx="32918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1477" y="4919472"/>
            <a:ext cx="32918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0.25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5948" y="4919472"/>
            <a:ext cx="32918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0.5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30418" y="4919472"/>
            <a:ext cx="32918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0.75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888" y="4919472"/>
            <a:ext cx="32918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221224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81"/>
                </a:solidFill>
                <a:latin typeface="Aptos"/>
              </a:rPr>
              <a:t>P(adhesion)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" y="2011680"/>
            <a:ext cx="1005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7181"/>
                </a:solidFill>
                <a:latin typeface="Aptos"/>
              </a:rPr>
              <a:t>expected cost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71600" y="4069080"/>
            <a:ext cx="5897880" cy="0"/>
          </a:xfrm>
          <a:prstGeom prst="line">
            <a:avLst/>
          </a:prstGeom>
          <a:ln w="3810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71600" y="2011680"/>
            <a:ext cx="5897880" cy="2743200"/>
          </a:xfrm>
          <a:prstGeom prst="line">
            <a:avLst/>
          </a:prstGeom>
          <a:ln w="38100">
            <a:solidFill>
              <a:srgbClr val="0B7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846070" y="2011680"/>
            <a:ext cx="0" cy="2743200"/>
          </a:xfrm>
          <a:prstGeom prst="line">
            <a:avLst/>
          </a:prstGeom>
          <a:ln w="16510">
            <a:solidFill>
              <a:srgbClr val="BC4B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2786634" y="4009644"/>
            <a:ext cx="118872" cy="118872"/>
          </a:xfrm>
          <a:prstGeom prst="ellipse">
            <a:avLst/>
          </a:prstGeom>
          <a:solidFill>
            <a:srgbClr val="BC4B51"/>
          </a:solidFill>
          <a:ln w="12700">
            <a:solidFill>
              <a:srgbClr val="BC4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233422" y="2212848"/>
            <a:ext cx="1234440" cy="310896"/>
          </a:xfrm>
          <a:prstGeom prst="roundRect">
            <a:avLst/>
          </a:prstGeom>
          <a:solidFill>
            <a:srgbClr val="F7E5E6"/>
          </a:solidFill>
          <a:ln w="12700">
            <a:solidFill>
              <a:srgbClr val="F7E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06574" y="2221991"/>
            <a:ext cx="108813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C4B51"/>
                </a:solidFill>
                <a:latin typeface="Aptos"/>
              </a:rPr>
              <a:t>p* = 0.25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76672" y="3630168"/>
            <a:ext cx="1316736" cy="310896"/>
          </a:xfrm>
          <a:prstGeom prst="roundRect">
            <a:avLst/>
          </a:prstGeom>
          <a:solidFill>
            <a:srgbClr val="FBE8DD"/>
          </a:solidFill>
          <a:ln w="12700">
            <a:solidFill>
              <a:srgbClr val="FB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9824" y="3639312"/>
            <a:ext cx="117043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7745"/>
                </a:solidFill>
                <a:latin typeface="Aptos"/>
              </a:rPr>
              <a:t>Backstep =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76672" y="2468880"/>
            <a:ext cx="1353312" cy="310896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9824" y="2478024"/>
            <a:ext cx="12070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High-step = 4p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73568" y="1856231"/>
            <a:ext cx="3474720" cy="3310128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2231136"/>
            <a:ext cx="2779776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324D"/>
                </a:solidFill>
                <a:latin typeface="Aptos"/>
              </a:rPr>
              <a:t>If adhesion is even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324D"/>
                </a:solidFill>
                <a:latin typeface="Aptos"/>
              </a:rPr>
              <a:t>moderately plausible…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06840" y="3172968"/>
            <a:ext cx="1426464" cy="310896"/>
          </a:xfrm>
          <a:prstGeom prst="roundRect">
            <a:avLst/>
          </a:prstGeom>
          <a:solidFill>
            <a:srgbClr val="BC4B51"/>
          </a:solidFill>
          <a:ln w="12700">
            <a:solidFill>
              <a:srgbClr val="BC4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79992" y="3182112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p &gt; 0.25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5" y="3767328"/>
            <a:ext cx="285292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D97745"/>
                </a:solidFill>
                <a:latin typeface="Aptos"/>
              </a:rPr>
              <a:t>prefer Backstep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352544"/>
            <a:ext cx="24871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27181"/>
                </a:solidFill>
                <a:latin typeface="Aptos"/>
              </a:rPr>
              <a:t>for this mud / adhesion pair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641848"/>
            <a:ext cx="11000232" cy="457200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696712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7A75"/>
                </a:solidFill>
                <a:latin typeface="Aptos"/>
              </a:rPr>
              <a:t>A safe default is a consequence-aware decision—not a confidence threshold.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C4 · SELECTIVE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Release only when See, Feel, and Act agree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A5.6 frozen structured gate; deployment-observable inputs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43584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27181"/>
                </a:solidFill>
                <a:latin typeface="Aptos"/>
              </a:rPr>
              <a:t>Four observable agreements form a frozen, auditable release rule.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1920240"/>
            <a:ext cx="2468880" cy="1664208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" y="2121408"/>
            <a:ext cx="393192" cy="39319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194560"/>
            <a:ext cx="393192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2456" y="2112264"/>
            <a:ext cx="144475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7A75"/>
                </a:solidFill>
                <a:latin typeface="Aptos"/>
              </a:rPr>
              <a:t>SEE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633472"/>
            <a:ext cx="198424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RGB resembles calibrated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soft-terrain 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9544" y="2532888"/>
            <a:ext cx="38404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627181"/>
                </a:solidFill>
                <a:latin typeface="Aptos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7" y="1920240"/>
            <a:ext cx="2468880" cy="1664208"/>
          </a:xfrm>
          <a:prstGeom prst="roundRect">
            <a:avLst/>
          </a:prstGeom>
          <a:solidFill>
            <a:srgbClr val="FBE8DD"/>
          </a:solidFill>
          <a:ln w="12700">
            <a:solidFill>
              <a:srgbClr val="FB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3" y="2121408"/>
            <a:ext cx="393192" cy="393192"/>
          </a:xfrm>
          <a:prstGeom prst="ellipse">
            <a:avLst/>
          </a:prstGeom>
          <a:solidFill>
            <a:srgbClr val="D97745"/>
          </a:solidFill>
          <a:ln w="12700">
            <a:solidFill>
              <a:srgbClr val="D9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3" y="2194560"/>
            <a:ext cx="393192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087" y="2112264"/>
            <a:ext cx="144475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7745"/>
                </a:solidFill>
                <a:latin typeface="Aptos"/>
              </a:rPr>
              <a:t>FEEL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5" y="2633472"/>
            <a:ext cx="198424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tracking-error peak confirms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a physical anomaly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175" y="2532888"/>
            <a:ext cx="38404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627181"/>
                </a:solidFill>
                <a:latin typeface="Aptos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920240"/>
            <a:ext cx="2468880" cy="1664208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2121408"/>
            <a:ext cx="393192" cy="393192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2194560"/>
            <a:ext cx="393192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112264"/>
            <a:ext cx="144475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324D"/>
                </a:solidFill>
                <a:latin typeface="Aptos"/>
              </a:rPr>
              <a:t>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2633472"/>
            <a:ext cx="198424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attribution is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“compliant terrain”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808" y="2532888"/>
            <a:ext cx="38404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627181"/>
                </a:solidFill>
                <a:latin typeface="Aptos"/>
              </a:rPr>
              <a:t>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88552" y="1920240"/>
            <a:ext cx="2468880" cy="1664208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62288" y="2121408"/>
            <a:ext cx="393192" cy="393192"/>
          </a:xfrm>
          <a:prstGeom prst="ellipse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2194560"/>
            <a:ext cx="393192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2112264"/>
            <a:ext cx="144475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8B6D"/>
                </a:solidFill>
                <a:latin typeface="Aptos"/>
              </a:rPr>
              <a:t>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633472"/>
            <a:ext cx="198424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proposed recovery is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High-step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9904" y="3730752"/>
            <a:ext cx="0" cy="329184"/>
          </a:xfrm>
          <a:prstGeom prst="line">
            <a:avLst/>
          </a:prstGeom>
          <a:ln w="25400">
            <a:solidFill>
              <a:srgbClr val="2E8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5897880" y="3941063"/>
            <a:ext cx="384048" cy="512064"/>
          </a:xfrm>
          <a:prstGeom prst="downArrow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93592" y="4425696"/>
            <a:ext cx="2176272" cy="841248"/>
          </a:xfrm>
          <a:prstGeom prst="roundRect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13048" y="4590288"/>
            <a:ext cx="173736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ALL TRUE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release High-step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19088" y="4425696"/>
            <a:ext cx="2176272" cy="841248"/>
          </a:xfrm>
          <a:prstGeom prst="roundRect">
            <a:avLst/>
          </a:prstGeom>
          <a:solidFill>
            <a:srgbClr val="627181"/>
          </a:solidFill>
          <a:ln w="12700">
            <a:solidFill>
              <a:srgbClr val="627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38544" y="4590288"/>
            <a:ext cx="173736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ANY FALSE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use Backstep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73552" y="5468112"/>
            <a:ext cx="5650992" cy="310896"/>
          </a:xfrm>
          <a:prstGeom prst="roundRect">
            <a:avLst/>
          </a:prstGeom>
          <a:solidFill>
            <a:srgbClr val="F7E5E6"/>
          </a:solidFill>
          <a:ln w="12700">
            <a:solidFill>
              <a:srgbClr val="F7E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6704" y="5477256"/>
            <a:ext cx="55046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C4B51"/>
                </a:solidFill>
                <a:latin typeface="Aptos"/>
              </a:rPr>
              <a:t>forbidden: truth · scenario ID · appearance ID · θ · split · cost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843016"/>
            <a:ext cx="11000232" cy="457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897879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24D"/>
                </a:solidFill>
                <a:latin typeface="Aptos"/>
              </a:rPr>
              <a:t>The VLA, projector, training data, and A1–A4 evidence remain frozen.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C4 ·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The frozen gate beats always-safe on two final evaluations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A5.6 final-v2 and confirmatory replication; paired two-stage bootstrap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261872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27181"/>
                </a:solidFill>
                <a:latin typeface="Aptos"/>
              </a:rPr>
              <a:t>Expected physical cost (lower is better)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" y="1993392"/>
            <a:ext cx="0" cy="2880360"/>
          </a:xfrm>
          <a:prstGeom prst="line">
            <a:avLst/>
          </a:prstGeom>
          <a:ln w="1270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8136" y="4873752"/>
            <a:ext cx="6419087" cy="0"/>
          </a:xfrm>
          <a:prstGeom prst="line">
            <a:avLst/>
          </a:prstGeom>
          <a:ln w="1270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42416" y="4873752"/>
            <a:ext cx="6464807" cy="0"/>
          </a:xfrm>
          <a:prstGeom prst="line">
            <a:avLst/>
          </a:prstGeom>
          <a:ln w="6985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6656" y="4764024"/>
            <a:ext cx="3108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2416" y="3433572"/>
            <a:ext cx="6464807" cy="0"/>
          </a:xfrm>
          <a:prstGeom prst="line">
            <a:avLst/>
          </a:prstGeom>
          <a:ln w="6985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6656" y="3323844"/>
            <a:ext cx="3108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42416" y="1993391"/>
            <a:ext cx="6464807" cy="0"/>
          </a:xfrm>
          <a:prstGeom prst="line">
            <a:avLst/>
          </a:prstGeom>
          <a:ln w="6985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6656" y="1883663"/>
            <a:ext cx="3108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2653426"/>
            <a:ext cx="621792" cy="2220325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2342530"/>
            <a:ext cx="8961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7A75"/>
                </a:solidFill>
                <a:latin typeface="Aptos"/>
              </a:rPr>
              <a:t>1.54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4983480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933"/>
                </a:solidFill>
                <a:latin typeface="Aptos"/>
              </a:rPr>
              <a:t>Final-v2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933"/>
                </a:solidFill>
                <a:latin typeface="Aptos"/>
              </a:rPr>
              <a:t>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353436"/>
            <a:ext cx="621792" cy="2520315"/>
          </a:xfrm>
          <a:prstGeom prst="rect">
            <a:avLst/>
          </a:prstGeom>
          <a:solidFill>
            <a:srgbClr val="627181"/>
          </a:solidFill>
          <a:ln w="12700">
            <a:solidFill>
              <a:srgbClr val="627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2042540"/>
            <a:ext cx="8961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27181"/>
                </a:solidFill>
                <a:latin typeface="Aptos"/>
              </a:rPr>
              <a:t>1.75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6" y="4983480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933"/>
                </a:solidFill>
                <a:latin typeface="Aptos"/>
              </a:rPr>
              <a:t>Final-v2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933"/>
                </a:solidFill>
                <a:latin typeface="Aptos"/>
              </a:rPr>
              <a:t>always-safe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79" y="2684678"/>
            <a:ext cx="621792" cy="2189073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19" y="2373782"/>
            <a:ext cx="8961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7A75"/>
                </a:solidFill>
                <a:latin typeface="Aptos"/>
              </a:rPr>
              <a:t>1.52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5695" y="4983480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933"/>
                </a:solidFill>
                <a:latin typeface="Aptos"/>
              </a:rPr>
              <a:t>Replication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933"/>
                </a:solidFill>
                <a:latin typeface="Aptos"/>
              </a:rPr>
              <a:t>ours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2396642"/>
            <a:ext cx="621792" cy="2477109"/>
          </a:xfrm>
          <a:prstGeom prst="rect">
            <a:avLst/>
          </a:prstGeom>
          <a:solidFill>
            <a:srgbClr val="627181"/>
          </a:solidFill>
          <a:ln w="12700">
            <a:solidFill>
              <a:srgbClr val="627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199" y="2085746"/>
            <a:ext cx="8961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27181"/>
                </a:solidFill>
                <a:latin typeface="Aptos"/>
              </a:rPr>
              <a:t>1.72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0175" y="4983480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933"/>
                </a:solidFill>
                <a:latin typeface="Aptos"/>
              </a:rPr>
              <a:t>Replication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933"/>
                </a:solidFill>
                <a:latin typeface="Aptos"/>
              </a:rPr>
              <a:t>always-safe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1627632"/>
            <a:ext cx="1143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27181"/>
                </a:solidFill>
                <a:latin typeface="Aptos"/>
              </a:rPr>
              <a:t>lower is better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7848" y="1627632"/>
            <a:ext cx="3566160" cy="3794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1938528"/>
            <a:ext cx="12070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27181"/>
                </a:solidFill>
                <a:latin typeface="Aptos"/>
              </a:rPr>
              <a:t>FINAL-v2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258568"/>
            <a:ext cx="2331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7A75"/>
                </a:solidFill>
                <a:latin typeface="Aptos"/>
              </a:rPr>
              <a:t>Δ = −0.208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670048"/>
            <a:ext cx="2697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3"/>
                </a:solidFill>
                <a:latin typeface="Aptos"/>
              </a:rPr>
              <a:t>95% CI [−0.208, −0.208]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29600" y="3090672"/>
            <a:ext cx="2852928" cy="0"/>
          </a:xfrm>
          <a:prstGeom prst="line">
            <a:avLst/>
          </a:prstGeom>
          <a:ln w="1270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0" y="3383280"/>
            <a:ext cx="1463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27181"/>
                </a:solidFill>
                <a:latin typeface="Aptos"/>
              </a:rPr>
              <a:t>REPLICATION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703320"/>
            <a:ext cx="2331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7A75"/>
                </a:solidFill>
                <a:latin typeface="Aptos"/>
              </a:rPr>
              <a:t>Δ = −0.200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114800"/>
            <a:ext cx="2697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3"/>
                </a:solidFill>
                <a:latin typeface="Aptos"/>
              </a:rPr>
              <a:t>95% CI [−0.20, −0.20]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29600" y="4535424"/>
            <a:ext cx="2852928" cy="0"/>
          </a:xfrm>
          <a:prstGeom prst="line">
            <a:avLst/>
          </a:prstGeom>
          <a:ln w="1270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229600" y="4773168"/>
            <a:ext cx="2697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8B6D"/>
                </a:solidFill>
                <a:latin typeface="Aptos"/>
              </a:rPr>
              <a:t>release precision 1.00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678424"/>
            <a:ext cx="11000232" cy="457200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733288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7A75"/>
                </a:solidFill>
                <a:latin typeface="Aptos"/>
              </a:rPr>
              <a:t>C4: in-support selective recovery is safer than always using the fallback.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C4 · CONFIRMATION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The positive result survives a post-freeze appearance replication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A5.6 six-cluster confirmatory corpus; unchanged gate hash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14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70432" y="2002536"/>
            <a:ext cx="9738360" cy="0"/>
          </a:xfrm>
          <a:prstGeom prst="line">
            <a:avLst/>
          </a:prstGeom>
          <a:ln w="3048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78992" y="1773936"/>
            <a:ext cx="457200" cy="457200"/>
          </a:xfrm>
          <a:prstGeom prst="ellipse">
            <a:avLst/>
          </a:prstGeom>
          <a:solidFill>
            <a:srgbClr val="627181"/>
          </a:solidFill>
          <a:ln w="12700">
            <a:solidFill>
              <a:srgbClr val="627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395728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27181"/>
                </a:solidFill>
                <a:latin typeface="Aptos"/>
              </a:rPr>
              <a:t>Develop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" y="2852928"/>
            <a:ext cx="166420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3"/>
                </a:solidFill>
                <a:latin typeface="Aptos"/>
              </a:rPr>
              <a:t>select observable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3"/>
                </a:solidFill>
                <a:latin typeface="Aptos"/>
              </a:rPr>
              <a:t>conditions</a:t>
            </a:r>
          </a:p>
        </p:txBody>
      </p:sp>
      <p:sp>
        <p:nvSpPr>
          <p:cNvPr id="11" name="Oval 10"/>
          <p:cNvSpPr/>
          <p:nvPr/>
        </p:nvSpPr>
        <p:spPr>
          <a:xfrm>
            <a:off x="3941063" y="1773936"/>
            <a:ext cx="457200" cy="45720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3" y="2395728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24D"/>
                </a:solidFill>
                <a:latin typeface="Aptos"/>
              </a:rPr>
              <a:t>Freeze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59" y="2852928"/>
            <a:ext cx="166420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3"/>
                </a:solidFill>
                <a:latin typeface="Aptos"/>
              </a:rPr>
              <a:t>gate hash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3"/>
                </a:solidFill>
                <a:latin typeface="Aptos"/>
              </a:rPr>
              <a:t>1d538a…9287bbd</a:t>
            </a:r>
          </a:p>
        </p:txBody>
      </p:sp>
      <p:sp>
        <p:nvSpPr>
          <p:cNvPr id="14" name="Oval 13"/>
          <p:cNvSpPr/>
          <p:nvPr/>
        </p:nvSpPr>
        <p:spPr>
          <a:xfrm>
            <a:off x="6830568" y="1773936"/>
            <a:ext cx="457200" cy="45720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395728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7A75"/>
                </a:solidFill>
                <a:latin typeface="Aptos"/>
              </a:rPr>
              <a:t>Final-v2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852928"/>
            <a:ext cx="166420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3"/>
                </a:solidFill>
                <a:latin typeface="Aptos"/>
              </a:rPr>
              <a:t>288 snapshots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3"/>
                </a:solidFill>
                <a:latin typeface="Aptos"/>
              </a:rPr>
              <a:t>2 release clusters</a:t>
            </a:r>
          </a:p>
        </p:txBody>
      </p:sp>
      <p:sp>
        <p:nvSpPr>
          <p:cNvPr id="17" name="Oval 16"/>
          <p:cNvSpPr/>
          <p:nvPr/>
        </p:nvSpPr>
        <p:spPr>
          <a:xfrm>
            <a:off x="9665208" y="1773936"/>
            <a:ext cx="457200" cy="457200"/>
          </a:xfrm>
          <a:prstGeom prst="ellipse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2395728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8B6D"/>
                </a:solidFill>
                <a:latin typeface="Aptos"/>
              </a:rPr>
              <a:t>Replicate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1704" y="2852928"/>
            <a:ext cx="166420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3"/>
                </a:solidFill>
                <a:latin typeface="Aptos"/>
              </a:rPr>
              <a:t>300 snapshots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3"/>
                </a:solidFill>
                <a:latin typeface="Aptos"/>
              </a:rPr>
              <a:t>24 new appearance IDs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3886200"/>
            <a:ext cx="10195560" cy="1261872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4169663"/>
            <a:ext cx="11430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E8B6D"/>
                </a:solidFill>
                <a:latin typeface="Aptos"/>
              </a:rPr>
              <a:t>6 /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160520"/>
            <a:ext cx="720547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E2933"/>
                </a:solidFill>
                <a:latin typeface="Aptos"/>
              </a:rPr>
              <a:t>released mud appearance clusters improved by exactly 1.0 cost unit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67328" y="4645152"/>
            <a:ext cx="40965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4654296"/>
            <a:ext cx="39502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B6D"/>
                </a:solidFill>
                <a:latin typeface="Aptos"/>
              </a:rPr>
              <a:t>one-sided exact sign test p = 0.015625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678424"/>
            <a:ext cx="11000232" cy="457200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733288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7A75"/>
                </a:solidFill>
                <a:latin typeface="Aptos"/>
              </a:rPr>
              <a:t>Independent appearances, unchanged gate, no released-cluster harm.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A7 · WHAT MADE IT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The load-bearing choices are measurable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A7 controlled route, dose, rationale, and encoder ablations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62456"/>
            <a:ext cx="351129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1636776"/>
            <a:ext cx="1188720" cy="310896"/>
          </a:xfrm>
          <a:prstGeom prst="roundRect">
            <a:avLst/>
          </a:prstGeom>
          <a:solidFill>
            <a:srgbClr val="FBE8DD"/>
          </a:solidFill>
          <a:ln w="12700">
            <a:solidFill>
              <a:srgbClr val="FB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104241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7745"/>
                </a:solidFill>
                <a:latin typeface="Aptos"/>
              </a:rPr>
              <a:t>BODY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12344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BC4B51"/>
                </a:solidFill>
                <a:latin typeface="Aptos"/>
              </a:rPr>
              <a:t>0.458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70632"/>
            <a:ext cx="115214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27181"/>
                </a:solidFill>
                <a:latin typeface="Aptos"/>
              </a:rPr>
              <a:t>vision-only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984" y="2359152"/>
            <a:ext cx="4206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9E1E7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1176" y="2267712"/>
            <a:ext cx="12344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E8B6D"/>
                </a:solidFill>
                <a:latin typeface="Aptos"/>
              </a:rPr>
              <a:t>1.000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770632"/>
            <a:ext cx="115214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27181"/>
                </a:solidFill>
                <a:latin typeface="Aptos"/>
              </a:rPr>
              <a:t>latent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40" y="3328416"/>
            <a:ext cx="2788920" cy="0"/>
          </a:xfrm>
          <a:prstGeom prst="line">
            <a:avLst/>
          </a:prstGeom>
          <a:ln w="1270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24712" y="3575304"/>
            <a:ext cx="25420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933"/>
                </a:solidFill>
                <a:latin typeface="Aptos"/>
              </a:rPr>
              <a:t>same VLM harness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05656"/>
            <a:ext cx="279806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97745"/>
                </a:solidFill>
                <a:latin typeface="Aptos"/>
              </a:rPr>
              <a:t>binned text uses 1.27× as many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97745"/>
                </a:solidFill>
                <a:latin typeface="Aptos"/>
              </a:rPr>
              <a:t>tokens; latent adds a θ head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62456"/>
            <a:ext cx="351129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17720" y="1636776"/>
            <a:ext cx="1417320" cy="310896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0872" y="1645920"/>
            <a:ext cx="127101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CONFLICT DOSE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27448" y="3886200"/>
            <a:ext cx="2724912" cy="0"/>
          </a:xfrm>
          <a:prstGeom prst="line">
            <a:avLst/>
          </a:prstGeom>
          <a:ln w="1270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27448" y="2304288"/>
            <a:ext cx="2724912" cy="0"/>
          </a:xfrm>
          <a:prstGeom prst="line">
            <a:avLst/>
          </a:prstGeom>
          <a:ln w="6985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27448" y="2831592"/>
            <a:ext cx="2724912" cy="0"/>
          </a:xfrm>
          <a:prstGeom prst="line">
            <a:avLst/>
          </a:prstGeom>
          <a:ln w="6985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727448" y="3358896"/>
            <a:ext cx="2724912" cy="0"/>
          </a:xfrm>
          <a:prstGeom prst="line">
            <a:avLst/>
          </a:prstGeom>
          <a:ln w="6985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27448" y="3886200"/>
            <a:ext cx="2724912" cy="0"/>
          </a:xfrm>
          <a:prstGeom prst="line">
            <a:avLst/>
          </a:prstGeom>
          <a:ln w="6985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663440" y="2979032"/>
            <a:ext cx="128016" cy="12801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4568" y="3959352"/>
            <a:ext cx="3657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0</a:t>
            </a:r>
          </a:p>
        </p:txBody>
      </p:sp>
      <p:sp>
        <p:nvSpPr>
          <p:cNvPr id="28" name="Oval 27"/>
          <p:cNvSpPr/>
          <p:nvPr/>
        </p:nvSpPr>
        <p:spPr>
          <a:xfrm>
            <a:off x="5344668" y="3295415"/>
            <a:ext cx="128016" cy="12801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25796" y="3959352"/>
            <a:ext cx="3657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5</a:t>
            </a:r>
          </a:p>
        </p:txBody>
      </p:sp>
      <p:sp>
        <p:nvSpPr>
          <p:cNvPr id="30" name="Oval 29"/>
          <p:cNvSpPr/>
          <p:nvPr/>
        </p:nvSpPr>
        <p:spPr>
          <a:xfrm>
            <a:off x="6025896" y="2662650"/>
            <a:ext cx="128016" cy="128016"/>
          </a:xfrm>
          <a:prstGeom prst="ellipse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07024" y="3959352"/>
            <a:ext cx="3657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10</a:t>
            </a:r>
          </a:p>
        </p:txBody>
      </p:sp>
      <p:sp>
        <p:nvSpPr>
          <p:cNvPr id="32" name="Oval 31"/>
          <p:cNvSpPr/>
          <p:nvPr/>
        </p:nvSpPr>
        <p:spPr>
          <a:xfrm>
            <a:off x="6707123" y="2767056"/>
            <a:ext cx="128016" cy="12801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8251" y="3959352"/>
            <a:ext cx="3657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20</a:t>
            </a:r>
          </a:p>
        </p:txBody>
      </p:sp>
      <p:sp>
        <p:nvSpPr>
          <p:cNvPr id="34" name="Oval 33"/>
          <p:cNvSpPr/>
          <p:nvPr/>
        </p:nvSpPr>
        <p:spPr>
          <a:xfrm>
            <a:off x="7388352" y="2767056"/>
            <a:ext cx="128016" cy="12801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3959352"/>
            <a:ext cx="3657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40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727448" y="3043040"/>
            <a:ext cx="681228" cy="316383"/>
          </a:xfrm>
          <a:prstGeom prst="line">
            <a:avLst/>
          </a:prstGeom>
          <a:ln w="25400">
            <a:solidFill>
              <a:srgbClr val="0B7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408676" y="2726658"/>
            <a:ext cx="681228" cy="632765"/>
          </a:xfrm>
          <a:prstGeom prst="line">
            <a:avLst/>
          </a:prstGeom>
          <a:ln w="25400">
            <a:solidFill>
              <a:srgbClr val="0B7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89904" y="2726658"/>
            <a:ext cx="681227" cy="104406"/>
          </a:xfrm>
          <a:prstGeom prst="line">
            <a:avLst/>
          </a:prstGeom>
          <a:ln w="25400">
            <a:solidFill>
              <a:srgbClr val="0B7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771131" y="2831064"/>
            <a:ext cx="681229" cy="0"/>
          </a:xfrm>
          <a:prstGeom prst="line">
            <a:avLst/>
          </a:prstGeom>
          <a:ln w="25400">
            <a:solidFill>
              <a:srgbClr val="0B7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718304" y="4270248"/>
            <a:ext cx="2697480" cy="310896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91456" y="4279392"/>
            <a:ext cx="25511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E8B6D"/>
                </a:solidFill>
                <a:latin typeface="Aptos"/>
              </a:rPr>
              <a:t>best mean = 0.733 at dose 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18888" y="4782312"/>
            <a:ext cx="24871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27181"/>
                </a:solidFill>
                <a:latin typeface="Aptos"/>
              </a:rPr>
              <a:t>3 seeds · non-monotone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28431" y="1362456"/>
            <a:ext cx="351129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302752" y="1636776"/>
            <a:ext cx="1170432" cy="310896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75904" y="1645920"/>
            <a:ext cx="102412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E8B6D"/>
                </a:solidFill>
                <a:latin typeface="Aptos"/>
              </a:rPr>
              <a:t>GROUNDING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2267712"/>
            <a:ext cx="12344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27181"/>
                </a:solidFill>
                <a:latin typeface="Aptos"/>
              </a:rPr>
              <a:t>0.604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2770632"/>
            <a:ext cx="12435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27181"/>
                </a:solidFill>
                <a:latin typeface="Aptos"/>
              </a:rPr>
              <a:t>raw rationales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37192" y="2359152"/>
            <a:ext cx="4206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9E1E7"/>
                </a:solidFill>
                <a:latin typeface="Aptos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48672" y="2267712"/>
            <a:ext cx="12344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E8B6D"/>
                </a:solidFill>
                <a:latin typeface="Aptos"/>
              </a:rPr>
              <a:t>0.765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39528" y="2770632"/>
            <a:ext cx="12527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27181"/>
                </a:solidFill>
                <a:latin typeface="Aptos"/>
              </a:rPr>
              <a:t>truth-filtered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357616" y="3328416"/>
            <a:ext cx="2798064" cy="0"/>
          </a:xfrm>
          <a:prstGeom prst="line">
            <a:avLst/>
          </a:prstGeom>
          <a:ln w="1270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375904" y="3685032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933"/>
                </a:solidFill>
                <a:latin typeface="Aptos"/>
              </a:rPr>
              <a:t>best θ MAE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47504" y="3575304"/>
            <a:ext cx="135331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24D"/>
                </a:solidFill>
                <a:latin typeface="Aptos"/>
              </a:rPr>
              <a:t>0.0279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4215384"/>
            <a:ext cx="27066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27181"/>
                </a:solidFill>
                <a:latin typeface="Aptos"/>
              </a:rPr>
              <a:t>privileged-distillation encoder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" y="5751576"/>
            <a:ext cx="11000232" cy="457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5806440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24D"/>
                </a:solidFill>
                <a:latin typeface="Aptos"/>
              </a:rPr>
              <a:t>Proprioceptive evidence, conflict supervision, and grounded filtering are load-bearing.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What the evidence supports—and what it does not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A0–A7 evidence audit; negative results retained as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1389888"/>
            <a:ext cx="5330952" cy="4270248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9264" y="1691640"/>
            <a:ext cx="1243584" cy="310896"/>
          </a:xfrm>
          <a:prstGeom prst="roundRect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700784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SUPPORTED</a:t>
            </a:r>
          </a:p>
        </p:txBody>
      </p:sp>
      <p:sp>
        <p:nvSpPr>
          <p:cNvPr id="10" name="Oval 9"/>
          <p:cNvSpPr/>
          <p:nvPr/>
        </p:nvSpPr>
        <p:spPr>
          <a:xfrm>
            <a:off x="987552" y="2350008"/>
            <a:ext cx="228600" cy="228600"/>
          </a:xfrm>
          <a:prstGeom prst="ellipse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86584"/>
            <a:ext cx="228600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313432"/>
            <a:ext cx="4050791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933"/>
                </a:solidFill>
                <a:latin typeface="Aptos"/>
              </a:rPr>
              <a:t>Complementary single-modality blind spots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2944368"/>
            <a:ext cx="228600" cy="228600"/>
          </a:xfrm>
          <a:prstGeom prst="ellipse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980944"/>
            <a:ext cx="228600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907791"/>
            <a:ext cx="4050791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933"/>
                </a:solidFill>
                <a:latin typeface="Aptos"/>
              </a:rPr>
              <a:t>Learned bidirectional conflict resolution</a:t>
            </a:r>
          </a:p>
        </p:txBody>
      </p:sp>
      <p:sp>
        <p:nvSpPr>
          <p:cNvPr id="16" name="Oval 15"/>
          <p:cNvSpPr/>
          <p:nvPr/>
        </p:nvSpPr>
        <p:spPr>
          <a:xfrm>
            <a:off x="987552" y="3538727"/>
            <a:ext cx="228600" cy="228600"/>
          </a:xfrm>
          <a:prstGeom prst="ellipse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575303"/>
            <a:ext cx="228600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502151"/>
            <a:ext cx="4050791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933"/>
                </a:solidFill>
                <a:latin typeface="Aptos"/>
              </a:rPr>
              <a:t>Frozen all-cell structured confirmation</a:t>
            </a:r>
          </a:p>
        </p:txBody>
      </p:sp>
      <p:sp>
        <p:nvSpPr>
          <p:cNvPr id="19" name="Oval 18"/>
          <p:cNvSpPr/>
          <p:nvPr/>
        </p:nvSpPr>
        <p:spPr>
          <a:xfrm>
            <a:off x="987552" y="4133087"/>
            <a:ext cx="228600" cy="228600"/>
          </a:xfrm>
          <a:prstGeom prst="ellipse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169663"/>
            <a:ext cx="228600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096512"/>
            <a:ext cx="4050791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933"/>
                </a:solidFill>
                <a:latin typeface="Aptos"/>
              </a:rPr>
              <a:t>Causal action–consequence asymmetry</a:t>
            </a:r>
          </a:p>
        </p:txBody>
      </p:sp>
      <p:sp>
        <p:nvSpPr>
          <p:cNvPr id="22" name="Oval 21"/>
          <p:cNvSpPr/>
          <p:nvPr/>
        </p:nvSpPr>
        <p:spPr>
          <a:xfrm>
            <a:off x="987552" y="4727448"/>
            <a:ext cx="228600" cy="228600"/>
          </a:xfrm>
          <a:prstGeom prst="ellipse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764024"/>
            <a:ext cx="228600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690872"/>
            <a:ext cx="4050791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933"/>
                </a:solidFill>
                <a:latin typeface="Aptos"/>
              </a:rPr>
              <a:t>In-support structured selective recovery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8776" y="1389888"/>
            <a:ext cx="5321808" cy="4270248"/>
          </a:xfrm>
          <a:prstGeom prst="roundRect">
            <a:avLst/>
          </a:prstGeom>
          <a:solidFill>
            <a:srgbClr val="F7E5E6"/>
          </a:solidFill>
          <a:ln w="12700">
            <a:solidFill>
              <a:srgbClr val="F7E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19672" y="1691640"/>
            <a:ext cx="1417320" cy="310896"/>
          </a:xfrm>
          <a:prstGeom prst="roundRect">
            <a:avLst/>
          </a:prstGeom>
          <a:solidFill>
            <a:srgbClr val="BC4B51"/>
          </a:solidFill>
          <a:ln w="12700">
            <a:solidFill>
              <a:srgbClr val="BC4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92824" y="1700784"/>
            <a:ext cx="127101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NOT CLAIMED</a:t>
            </a:r>
          </a:p>
        </p:txBody>
      </p:sp>
      <p:sp>
        <p:nvSpPr>
          <p:cNvPr id="28" name="Oval 27"/>
          <p:cNvSpPr/>
          <p:nvPr/>
        </p:nvSpPr>
        <p:spPr>
          <a:xfrm>
            <a:off x="6519672" y="2313432"/>
            <a:ext cx="228600" cy="228600"/>
          </a:xfrm>
          <a:prstGeom prst="ellipse">
            <a:avLst/>
          </a:prstGeom>
          <a:solidFill>
            <a:srgbClr val="BC4B51"/>
          </a:solidFill>
          <a:ln w="12700">
            <a:solidFill>
              <a:srgbClr val="BC4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2336292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2276856"/>
            <a:ext cx="4069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2933"/>
                </a:solidFill>
                <a:latin typeface="Aptos"/>
              </a:rPr>
              <a:t>Physical-robot deployment</a:t>
            </a:r>
          </a:p>
        </p:txBody>
      </p:sp>
      <p:sp>
        <p:nvSpPr>
          <p:cNvPr id="31" name="Oval 30"/>
          <p:cNvSpPr/>
          <p:nvPr/>
        </p:nvSpPr>
        <p:spPr>
          <a:xfrm>
            <a:off x="6519672" y="2825496"/>
            <a:ext cx="228600" cy="228600"/>
          </a:xfrm>
          <a:prstGeom prst="ellipse">
            <a:avLst/>
          </a:prstGeom>
          <a:solidFill>
            <a:srgbClr val="BC4B51"/>
          </a:solidFill>
          <a:ln w="12700">
            <a:solidFill>
              <a:srgbClr val="BC4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2848356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2008" y="2788920"/>
            <a:ext cx="4069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2933"/>
                </a:solidFill>
                <a:latin typeface="Aptos"/>
              </a:rPr>
              <a:t>Open-world material recognition</a:t>
            </a:r>
          </a:p>
        </p:txBody>
      </p:sp>
      <p:sp>
        <p:nvSpPr>
          <p:cNvPr id="34" name="Oval 33"/>
          <p:cNvSpPr/>
          <p:nvPr/>
        </p:nvSpPr>
        <p:spPr>
          <a:xfrm>
            <a:off x="6519672" y="3337560"/>
            <a:ext cx="228600" cy="228600"/>
          </a:xfrm>
          <a:prstGeom prst="ellipse">
            <a:avLst/>
          </a:prstGeom>
          <a:solidFill>
            <a:srgbClr val="BC4B51"/>
          </a:solidFill>
          <a:ln w="12700">
            <a:solidFill>
              <a:srgbClr val="BC4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3360420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3300984"/>
            <a:ext cx="4069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2933"/>
                </a:solidFill>
                <a:latin typeface="Aptos"/>
              </a:rPr>
              <a:t>Unseen-operator semantic naming</a:t>
            </a:r>
          </a:p>
        </p:txBody>
      </p:sp>
      <p:sp>
        <p:nvSpPr>
          <p:cNvPr id="37" name="Oval 36"/>
          <p:cNvSpPr/>
          <p:nvPr/>
        </p:nvSpPr>
        <p:spPr>
          <a:xfrm>
            <a:off x="6519672" y="3849624"/>
            <a:ext cx="228600" cy="228600"/>
          </a:xfrm>
          <a:prstGeom prst="ellipse">
            <a:avLst/>
          </a:prstGeom>
          <a:solidFill>
            <a:srgbClr val="BC4B51"/>
          </a:solidFill>
          <a:ln w="12700">
            <a:solidFill>
              <a:srgbClr val="BC4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9672" y="3872483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2008" y="3813048"/>
            <a:ext cx="4069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2933"/>
                </a:solidFill>
                <a:latin typeface="Aptos"/>
              </a:rPr>
              <a:t>A universal scalar abstention score</a:t>
            </a:r>
          </a:p>
        </p:txBody>
      </p:sp>
      <p:sp>
        <p:nvSpPr>
          <p:cNvPr id="40" name="Oval 39"/>
          <p:cNvSpPr/>
          <p:nvPr/>
        </p:nvSpPr>
        <p:spPr>
          <a:xfrm>
            <a:off x="6519672" y="4361688"/>
            <a:ext cx="228600" cy="228600"/>
          </a:xfrm>
          <a:prstGeom prst="ellipse">
            <a:avLst/>
          </a:prstGeom>
          <a:solidFill>
            <a:srgbClr val="BC4B51"/>
          </a:solidFill>
          <a:ln w="12700">
            <a:solidFill>
              <a:srgbClr val="BC4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9672" y="4384548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22008" y="4325112"/>
            <a:ext cx="4069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2933"/>
                </a:solidFill>
                <a:latin typeface="Aptos"/>
              </a:rPr>
              <a:t>A learned intervention boundary</a:t>
            </a:r>
          </a:p>
        </p:txBody>
      </p:sp>
      <p:sp>
        <p:nvSpPr>
          <p:cNvPr id="43" name="Oval 42"/>
          <p:cNvSpPr/>
          <p:nvPr/>
        </p:nvSpPr>
        <p:spPr>
          <a:xfrm>
            <a:off x="6519672" y="4873752"/>
            <a:ext cx="228600" cy="228600"/>
          </a:xfrm>
          <a:prstGeom prst="ellipse">
            <a:avLst/>
          </a:prstGeom>
          <a:solidFill>
            <a:srgbClr val="BC4B51"/>
          </a:solidFill>
          <a:ln w="12700">
            <a:solidFill>
              <a:srgbClr val="BC4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9672" y="4896612"/>
            <a:ext cx="2286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22008" y="4837176"/>
            <a:ext cx="4069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2933"/>
                </a:solidFill>
                <a:latin typeface="Aptos"/>
              </a:rPr>
              <a:t>End-to-end VLA all-cell dominance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806440"/>
            <a:ext cx="11000232" cy="457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861303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24D"/>
                </a:solidFill>
                <a:latin typeface="Aptos"/>
              </a:rPr>
              <a:t>The positive C4 claim is narrow by design: calibrated material support, not open-world OOD.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Feel it. See it. Recover selectively.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KinoVLA Paper-A ·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8875" y="1572768"/>
            <a:ext cx="1186891" cy="462686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04948" y="1633118"/>
            <a:ext cx="422452" cy="321868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66467" y="1703527"/>
            <a:ext cx="80467" cy="804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1159459" y="1954987"/>
            <a:ext cx="60350" cy="523037"/>
          </a:xfrm>
          <a:prstGeom prst="line">
            <a:avLst/>
          </a:prstGeom>
          <a:ln w="4064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59459" y="2478024"/>
            <a:ext cx="140817" cy="251460"/>
          </a:xfrm>
          <a:prstGeom prst="line">
            <a:avLst/>
          </a:prstGeom>
          <a:ln w="4064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481328" y="1954987"/>
            <a:ext cx="60350" cy="523037"/>
          </a:xfrm>
          <a:prstGeom prst="line">
            <a:avLst/>
          </a:prstGeom>
          <a:ln w="4064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81328" y="2478024"/>
            <a:ext cx="140817" cy="251460"/>
          </a:xfrm>
          <a:prstGeom prst="line">
            <a:avLst/>
          </a:prstGeom>
          <a:ln w="4064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843430" y="1954987"/>
            <a:ext cx="60350" cy="523037"/>
          </a:xfrm>
          <a:prstGeom prst="line">
            <a:avLst/>
          </a:prstGeom>
          <a:ln w="4064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43430" y="2478024"/>
            <a:ext cx="140818" cy="251460"/>
          </a:xfrm>
          <a:prstGeom prst="line">
            <a:avLst/>
          </a:prstGeom>
          <a:ln w="4064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084832" y="1954987"/>
            <a:ext cx="60350" cy="523037"/>
          </a:xfrm>
          <a:prstGeom prst="line">
            <a:avLst/>
          </a:prstGeom>
          <a:ln w="4064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84832" y="2478024"/>
            <a:ext cx="140817" cy="251460"/>
          </a:xfrm>
          <a:prstGeom prst="line">
            <a:avLst/>
          </a:prstGeom>
          <a:ln w="4064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757123" y="1452067"/>
            <a:ext cx="321869" cy="251460"/>
          </a:xfrm>
          <a:prstGeom prst="line">
            <a:avLst/>
          </a:prstGeom>
          <a:ln w="2794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3232" y="2852928"/>
            <a:ext cx="1874519" cy="438912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832" y="2962656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25295" y="3035808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508760" y="2962656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792224" y="3035808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75687" y="2962656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59152" y="3035808"/>
            <a:ext cx="82296" cy="822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3232" y="3465576"/>
            <a:ext cx="1874519" cy="438912"/>
          </a:xfrm>
          <a:prstGeom prst="roundRect">
            <a:avLst/>
          </a:prstGeom>
          <a:solidFill>
            <a:srgbClr val="FBE8DD"/>
          </a:solidFill>
          <a:ln w="12700">
            <a:solidFill>
              <a:srgbClr val="FB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033271" y="3538728"/>
            <a:ext cx="91441" cy="246887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341881" y="3538728"/>
            <a:ext cx="91441" cy="246887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650491" y="3538728"/>
            <a:ext cx="91440" cy="246887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59102" y="3538728"/>
            <a:ext cx="91440" cy="246887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267711" y="3538728"/>
            <a:ext cx="91440" cy="246887"/>
          </a:xfrm>
          <a:prstGeom prst="line">
            <a:avLst/>
          </a:prstGeom>
          <a:ln w="20320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136392" y="1353312"/>
            <a:ext cx="8183879" cy="1051560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83280" y="1591056"/>
            <a:ext cx="530352" cy="53035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1728216"/>
            <a:ext cx="5303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78808" y="1472184"/>
            <a:ext cx="3977639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7A75"/>
                </a:solidFill>
                <a:latin typeface="Aptos"/>
              </a:rPr>
              <a:t>Ambiguity is real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8808" y="1993391"/>
            <a:ext cx="65562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2933"/>
                </a:solidFill>
                <a:latin typeface="Aptos"/>
              </a:rPr>
              <a:t>The same symptom can hide opposite mechanics.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36392" y="2752344"/>
            <a:ext cx="8183879" cy="10515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383280" y="2990087"/>
            <a:ext cx="530352" cy="530352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3127248"/>
            <a:ext cx="5303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78808" y="2871215"/>
            <a:ext cx="3977639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24D"/>
                </a:solidFill>
                <a:latin typeface="Aptos"/>
              </a:rPr>
              <a:t>Conflict resolution is robust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78808" y="3392424"/>
            <a:ext cx="65562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2933"/>
                </a:solidFill>
                <a:latin typeface="Aptos"/>
              </a:rPr>
              <a:t>Structured v2 passes every battery cell across five training seeds.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36392" y="4151376"/>
            <a:ext cx="8183879" cy="1051560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383280" y="4389120"/>
            <a:ext cx="530352" cy="530352"/>
          </a:xfrm>
          <a:prstGeom prst="ellipse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3280" y="4526280"/>
            <a:ext cx="5303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8808" y="4270248"/>
            <a:ext cx="3977639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E8B6D"/>
                </a:solidFill>
                <a:latin typeface="Aptos"/>
              </a:rPr>
              <a:t>Recovery must be selective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8808" y="4791456"/>
            <a:ext cx="65562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E2933"/>
                </a:solidFill>
                <a:latin typeface="Aptos"/>
              </a:rPr>
              <a:t>A frozen observable gate improves cost on two final sets.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6968" y="4800600"/>
            <a:ext cx="1499616" cy="310896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809744"/>
            <a:ext cx="135331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DISCUSSION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4680" y="5705856"/>
            <a:ext cx="819302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324D"/>
                </a:solidFill>
                <a:latin typeface="Aptos"/>
              </a:rPr>
              <a:t>Where should we expand next: broader support, new mechanics, or hardware?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A0–A7 evidence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Machine artifacts and frozen reducers; no external-dataset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1389888"/>
            <a:ext cx="2523744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572768"/>
            <a:ext cx="585216" cy="310896"/>
          </a:xfrm>
          <a:prstGeom prst="roundRect">
            <a:avLst/>
          </a:prstGeom>
          <a:solidFill>
            <a:srgbClr val="627181"/>
          </a:solidFill>
          <a:ln w="12700">
            <a:solidFill>
              <a:srgbClr val="627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81912"/>
            <a:ext cx="43891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5336" y="1591056"/>
            <a:ext cx="144475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7181"/>
                </a:solidFill>
                <a:latin typeface="Aptos"/>
              </a:rPr>
              <a:t>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76272"/>
            <a:ext cx="2084831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548 snapshots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determinism + corpus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1389888"/>
            <a:ext cx="2523744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66744" y="1572768"/>
            <a:ext cx="585216" cy="310896"/>
          </a:xfrm>
          <a:prstGeom prst="roundRect">
            <a:avLst/>
          </a:prstGeom>
          <a:solidFill>
            <a:srgbClr val="D97745"/>
          </a:solidFill>
          <a:ln w="12700">
            <a:solidFill>
              <a:srgbClr val="D9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9896" y="1581912"/>
            <a:ext cx="43891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591056"/>
            <a:ext cx="144475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7745"/>
                </a:solidFill>
                <a:latin typeface="Aptos"/>
              </a:rPr>
              <a:t>Necessity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2176272"/>
            <a:ext cx="2084831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matched-body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construct validity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389888"/>
            <a:ext cx="2523744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64807" y="1572768"/>
            <a:ext cx="585216" cy="310896"/>
          </a:xfrm>
          <a:prstGeom prst="roundRect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1581912"/>
            <a:ext cx="43891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1464" y="1591056"/>
            <a:ext cx="144475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7A75"/>
                </a:solidFill>
                <a:latin typeface="Aptos"/>
              </a:rPr>
              <a:t>Vision-true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2176272"/>
            <a:ext cx="2084831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240 paired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conflicts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389888"/>
            <a:ext cx="2523744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62872" y="1572768"/>
            <a:ext cx="585216" cy="310896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36024" y="1581912"/>
            <a:ext cx="43891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1591056"/>
            <a:ext cx="144475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324D"/>
                </a:solidFill>
                <a:latin typeface="Aptos"/>
              </a:rPr>
              <a:t>Conflict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176272"/>
            <a:ext cx="2084831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237 frozen confirm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33 strict clusters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" y="3566160"/>
            <a:ext cx="2523744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8680" y="3749039"/>
            <a:ext cx="585216" cy="310896"/>
          </a:xfrm>
          <a:prstGeom prst="roundRect">
            <a:avLst/>
          </a:prstGeom>
          <a:solidFill>
            <a:srgbClr val="BC4B51"/>
          </a:solidFill>
          <a:ln w="12700">
            <a:solidFill>
              <a:srgbClr val="BC4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3758183"/>
            <a:ext cx="43891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45336" y="3767328"/>
            <a:ext cx="144475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C4B51"/>
                </a:solidFill>
                <a:latin typeface="Aptos"/>
              </a:rPr>
              <a:t>Consequence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4352544"/>
            <a:ext cx="2084831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630 physics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episodes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65576" y="3566160"/>
            <a:ext cx="2523744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66744" y="3749039"/>
            <a:ext cx="585216" cy="310896"/>
          </a:xfrm>
          <a:prstGeom prst="roundRect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39896" y="3758183"/>
            <a:ext cx="43891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3767328"/>
            <a:ext cx="144475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8B6D"/>
                </a:solidFill>
                <a:latin typeface="Aptos"/>
              </a:rPr>
              <a:t>Selective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85032" y="4352544"/>
            <a:ext cx="2084831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288 + 300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final snapshots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3566160"/>
            <a:ext cx="2523744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64807" y="3749039"/>
            <a:ext cx="585216" cy="310896"/>
          </a:xfrm>
          <a:prstGeom prst="roundRect">
            <a:avLst/>
          </a:prstGeom>
          <a:solidFill>
            <a:srgbClr val="B78520"/>
          </a:solidFill>
          <a:ln w="12700">
            <a:solidFill>
              <a:srgbClr val="B78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59" y="3758183"/>
            <a:ext cx="43891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41464" y="3767328"/>
            <a:ext cx="144475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8520"/>
                </a:solidFill>
                <a:latin typeface="Aptos"/>
              </a:rPr>
              <a:t>Boundary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83096" y="4352544"/>
            <a:ext cx="2084831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base bracket;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no learned flip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1704" y="3566160"/>
            <a:ext cx="2523744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262872" y="3749039"/>
            <a:ext cx="585216" cy="310896"/>
          </a:xfrm>
          <a:prstGeom prst="roundRect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36024" y="3758183"/>
            <a:ext cx="43891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39528" y="3767328"/>
            <a:ext cx="144475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7A75"/>
                </a:solidFill>
                <a:latin typeface="Aptos"/>
              </a:rPr>
              <a:t>Ablations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4352544"/>
            <a:ext cx="2084831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route, dose,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grounding, uncertainty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5769864"/>
            <a:ext cx="11000232" cy="457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824727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24D"/>
                </a:solidFill>
                <a:latin typeface="Aptos"/>
              </a:rPr>
              <a:t>Every A0–A7 block has traceable machine-readable artifacts.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Statistical unit and uncertainty by experiment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A0–A7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353312"/>
            <a:ext cx="1234440" cy="47548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481328"/>
            <a:ext cx="10881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Experiment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7672" y="1353312"/>
            <a:ext cx="3063240" cy="47548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1481328"/>
            <a:ext cx="29169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Primary unit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0912" y="1353312"/>
            <a:ext cx="3886200" cy="47548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84064" y="1481328"/>
            <a:ext cx="37398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Uncertainty / 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7112" y="1353312"/>
            <a:ext cx="2212848" cy="47548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0264" y="1481328"/>
            <a:ext cx="2066543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1828800"/>
            <a:ext cx="1234440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1947672"/>
            <a:ext cx="108813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2933"/>
                </a:solidFill>
                <a:latin typeface="Aptos"/>
              </a:rPr>
              <a:t>A1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47672" y="1828800"/>
            <a:ext cx="3063240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0824" y="1947672"/>
            <a:ext cx="291693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fresh app × lane × seed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0912" y="1828800"/>
            <a:ext cx="3886200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4064" y="1947672"/>
            <a:ext cx="373989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C2ST + permutation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7112" y="1828800"/>
            <a:ext cx="2212848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0264" y="1947672"/>
            <a:ext cx="2066543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construct validity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2468880"/>
            <a:ext cx="1234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2587752"/>
            <a:ext cx="108813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2933"/>
                </a:solidFill>
                <a:latin typeface="Aptos"/>
              </a:rPr>
              <a:t>A2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47672" y="2468880"/>
            <a:ext cx="3063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20824" y="2587752"/>
            <a:ext cx="291693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matched pair / appearance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0912" y="2468880"/>
            <a:ext cx="3886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2587752"/>
            <a:ext cx="373989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exact McNemar + 3 seeds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7112" y="2468880"/>
            <a:ext cx="221284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70264" y="2587752"/>
            <a:ext cx="2066543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conflict learning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3108960"/>
            <a:ext cx="1234440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3227832"/>
            <a:ext cx="108813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2933"/>
                </a:solidFill>
                <a:latin typeface="Aptos"/>
              </a:rPr>
              <a:t>A3-v2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3108960"/>
            <a:ext cx="3063240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3227832"/>
            <a:ext cx="291693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case×appearance + seed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10912" y="3108960"/>
            <a:ext cx="3886200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84064" y="3227832"/>
            <a:ext cx="373989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2-level bootstrap + sign test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7112" y="3108960"/>
            <a:ext cx="2212848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70264" y="3227832"/>
            <a:ext cx="2066543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frozen confirmation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" y="3749039"/>
            <a:ext cx="1234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3867911"/>
            <a:ext cx="108813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2933"/>
                </a:solidFill>
                <a:latin typeface="Aptos"/>
              </a:rPr>
              <a:t>A4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3749039"/>
            <a:ext cx="3063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824" y="3867911"/>
            <a:ext cx="291693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physical episode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10912" y="3749039"/>
            <a:ext cx="3886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84064" y="3867911"/>
            <a:ext cx="373989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2-stage paired bootstrap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7112" y="3749039"/>
            <a:ext cx="221284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70264" y="3867911"/>
            <a:ext cx="2066543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causal cost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232" y="4389120"/>
            <a:ext cx="1234440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" y="4507992"/>
            <a:ext cx="108813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2933"/>
                </a:solidFill>
                <a:latin typeface="Aptos"/>
              </a:rPr>
              <a:t>A5.6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4389120"/>
            <a:ext cx="3063240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20824" y="4507992"/>
            <a:ext cx="291693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appearance cluster + episode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10912" y="4389120"/>
            <a:ext cx="3886200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84064" y="4507992"/>
            <a:ext cx="373989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2-stage paired bootstrap + sign test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97112" y="4389120"/>
            <a:ext cx="2212848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70264" y="4507992"/>
            <a:ext cx="2066543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selective recovery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3232" y="5029200"/>
            <a:ext cx="1234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6384" y="5148072"/>
            <a:ext cx="108813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2933"/>
                </a:solidFill>
                <a:latin typeface="Aptos"/>
              </a:rPr>
              <a:t>A7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5029200"/>
            <a:ext cx="3063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20824" y="5148072"/>
            <a:ext cx="291693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training seed / appearance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10912" y="5029200"/>
            <a:ext cx="3886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84064" y="5148072"/>
            <a:ext cx="373989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mean + range; held-out CIs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97112" y="5029200"/>
            <a:ext cx="221284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70264" y="5148072"/>
            <a:ext cx="2066543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method ablation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4360" y="5705856"/>
            <a:ext cx="11000232" cy="457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5760720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24D"/>
                </a:solidFill>
                <a:latin typeface="Aptos"/>
              </a:rPr>
              <a:t>Snapshot counts are descriptive; claims respect appearance, seed, and episode dependence.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A3-v2 paired comparator audit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A3-v2 frozen confirmation · cluster-balanced paired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01568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1673352"/>
            <a:ext cx="2889504" cy="310896"/>
          </a:xfrm>
          <a:prstGeom prst="roundRect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1682496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BODY-ONLY · B1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285292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7A75"/>
                </a:solidFill>
                <a:latin typeface="Aptos"/>
              </a:rPr>
              <a:t>+0.545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62072"/>
            <a:ext cx="270662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81"/>
                </a:solidFill>
                <a:latin typeface="Aptos"/>
              </a:rPr>
              <a:t>cluster-balanced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64408"/>
            <a:ext cx="28529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933"/>
                </a:solidFill>
                <a:latin typeface="Aptos"/>
              </a:rPr>
              <a:t>95% CI  [0.364, 0.727]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93592"/>
            <a:ext cx="28529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p = 7.629 × 10⁻⁶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417320"/>
            <a:ext cx="3401568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26864" y="1673352"/>
            <a:ext cx="2889504" cy="310896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1682496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CLOSED-SET FUSION · B-F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331720"/>
            <a:ext cx="285292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24D"/>
                </a:solidFill>
                <a:latin typeface="Aptos"/>
              </a:rPr>
              <a:t>+0.864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4" y="2862072"/>
            <a:ext cx="270662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81"/>
                </a:solidFill>
                <a:latin typeface="Aptos"/>
              </a:rPr>
              <a:t>cluster-balanced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264408"/>
            <a:ext cx="28529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933"/>
                </a:solidFill>
                <a:latin typeface="Aptos"/>
              </a:rPr>
              <a:t>95% CI  [0.742, 0.962]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3593592"/>
            <a:ext cx="28529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p = 3.725 × 10⁻⁹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55864" y="1417320"/>
            <a:ext cx="3401568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11896" y="1673352"/>
            <a:ext cx="2889504" cy="310896"/>
          </a:xfrm>
          <a:prstGeom prst="roundRect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1682496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VLA CONFLICT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2331720"/>
            <a:ext cx="285292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E8B6D"/>
                </a:solidFill>
                <a:latin typeface="Aptos"/>
              </a:rPr>
              <a:t>+0.818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62072"/>
            <a:ext cx="270662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81"/>
                </a:solidFill>
                <a:latin typeface="Aptos"/>
              </a:rPr>
              <a:t>cluster-balanced 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3264408"/>
            <a:ext cx="28529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933"/>
                </a:solidFill>
                <a:latin typeface="Aptos"/>
              </a:rPr>
              <a:t>95% CI  [0.667, 0.939]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4" y="3593592"/>
            <a:ext cx="28529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p = 1.490 × 10⁻⁸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15968"/>
            <a:ext cx="10771632" cy="1124712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4535424"/>
            <a:ext cx="115214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8B6D"/>
                </a:solidFill>
                <a:latin typeface="Aptos"/>
              </a:rPr>
              <a:t>5 /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66543" y="4535424"/>
            <a:ext cx="2084831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training seeds 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535424"/>
            <a:ext cx="115214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8B6D"/>
                </a:solidFill>
                <a:latin typeface="Aptos"/>
              </a:rPr>
              <a:t>33 / 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9552" y="4535424"/>
            <a:ext cx="2084831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strict clusters · CI [0.894, 1.000]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7" y="4535424"/>
            <a:ext cx="115214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8B6D"/>
                </a:solidFill>
                <a:latin typeface="Aptos"/>
              </a:rPr>
              <a:t>15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59" y="4535424"/>
            <a:ext cx="2084831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3"/>
                </a:solidFill>
                <a:latin typeface="Aptos"/>
              </a:rPr>
              <a:t>appearance IDs · CI [0.782, 1.000]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769864"/>
            <a:ext cx="11000232" cy="457200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824727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B6D"/>
                </a:solidFill>
                <a:latin typeface="Aptos"/>
              </a:rPr>
              <a:t>Every same-battery paired interval excludes zero; exact sign-test evidence is decisive.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A3-v2 pre-registered gates: all passed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outputs/eval/a3_successor_v2/publication_report.json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1389888"/>
            <a:ext cx="3401568" cy="1737360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85623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8B6D"/>
                </a:solidFill>
                <a:latin typeface="Aptos"/>
              </a:rPr>
              <a:t>T1 agree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5496" y="1554480"/>
            <a:ext cx="95097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8B6D"/>
                </a:solidFill>
                <a:latin typeface="Aptos"/>
              </a:rPr>
              <a:t>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287121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required ≥ 0.90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389888"/>
            <a:ext cx="3401568" cy="1737360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600200"/>
            <a:ext cx="185623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8B6D"/>
                </a:solidFill>
                <a:latin typeface="Aptos"/>
              </a:rPr>
              <a:t>T2 vision-true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7" y="1554480"/>
            <a:ext cx="95097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8B6D"/>
                </a:solidFill>
                <a:latin typeface="Aptos"/>
              </a:rPr>
              <a:t>1.000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194560"/>
            <a:ext cx="287121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required = 1.00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6" y="1389888"/>
            <a:ext cx="3401568" cy="1737360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600200"/>
            <a:ext cx="185623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8B6D"/>
                </a:solidFill>
                <a:latin typeface="Aptos"/>
              </a:rPr>
              <a:t>T3 body-true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5560" y="1554480"/>
            <a:ext cx="95097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8B6D"/>
                </a:solidFill>
                <a:latin typeface="Aptos"/>
              </a:rPr>
              <a:t>1.000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194560"/>
            <a:ext cx="287121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required &gt; 0.917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3474720"/>
            <a:ext cx="3401568" cy="1737360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85032"/>
            <a:ext cx="185623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8B6D"/>
                </a:solidFill>
                <a:latin typeface="Aptos"/>
              </a:rPr>
              <a:t>T4 fine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25496" y="3639312"/>
            <a:ext cx="95097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8B6D"/>
                </a:solidFill>
                <a:latin typeface="Aptos"/>
              </a:rPr>
              <a:t>1.000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79392"/>
            <a:ext cx="287121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required = 1.00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3474720"/>
            <a:ext cx="3401568" cy="1737360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3685032"/>
            <a:ext cx="185623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8B6D"/>
                </a:solidFill>
                <a:latin typeface="Aptos"/>
              </a:rPr>
              <a:t>T5 continue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7" y="3639312"/>
            <a:ext cx="95097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8B6D"/>
                </a:solidFill>
                <a:latin typeface="Aptos"/>
              </a:rPr>
              <a:t>1.000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1" y="4279392"/>
            <a:ext cx="287121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required ≥ 0.90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37576" y="3474720"/>
            <a:ext cx="3401568" cy="1737360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4" y="3685032"/>
            <a:ext cx="185623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8B6D"/>
                </a:solidFill>
                <a:latin typeface="Aptos"/>
              </a:rPr>
              <a:t>Worst / macro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3639312"/>
            <a:ext cx="95097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8B6D"/>
                </a:solidFill>
                <a:latin typeface="Aptos"/>
              </a:rPr>
              <a:t>1.000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4279392"/>
            <a:ext cx="287121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3"/>
                </a:solidFill>
                <a:latin typeface="Aptos"/>
              </a:rPr>
              <a:t>required ≥ 0.90 / 0.95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696712"/>
            <a:ext cx="11000232" cy="457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751576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24D"/>
                </a:solidFill>
                <a:latin typeface="Aptos"/>
              </a:rPr>
              <a:t>Five seeds · method SHA-256 537a5861…1d89c · frozen before confirmation collection.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324D"/>
                </a:solidFill>
                <a:latin typeface="Aptos Display"/>
              </a:rPr>
              <a:t>Frozen See–Feel–Act gate specification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47104"/>
            <a:ext cx="9784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7181"/>
                </a:solidFill>
                <a:latin typeface="Aptos"/>
              </a:rPr>
              <a:t>configs/eval/c4_structured_gate_v2.yaml; A5.6 final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181"/>
                </a:solidFill>
                <a:latin typeface="Aptos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1463040"/>
            <a:ext cx="2468880" cy="1993392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D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5256" y="1709928"/>
            <a:ext cx="841248" cy="310896"/>
          </a:xfrm>
          <a:prstGeom prst="roundRect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719072"/>
            <a:ext cx="69494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197510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933"/>
                </a:solidFill>
                <a:latin typeface="Aptos"/>
              </a:rPr>
              <a:t>material-support 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86207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7A75"/>
                </a:solidFill>
                <a:latin typeface="Aptos"/>
              </a:rPr>
              <a:t>≤ 0.13283753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1463040"/>
            <a:ext cx="2468880" cy="1993392"/>
          </a:xfrm>
          <a:prstGeom prst="roundRect">
            <a:avLst/>
          </a:prstGeom>
          <a:solidFill>
            <a:srgbClr val="FBE8DD"/>
          </a:solidFill>
          <a:ln w="12700">
            <a:solidFill>
              <a:srgbClr val="FB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75887" y="1709928"/>
            <a:ext cx="841248" cy="310896"/>
          </a:xfrm>
          <a:prstGeom prst="roundRect">
            <a:avLst/>
          </a:prstGeom>
          <a:solidFill>
            <a:srgbClr val="D97745"/>
          </a:solidFill>
          <a:ln w="12700">
            <a:solidFill>
              <a:srgbClr val="D9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1719072"/>
            <a:ext cx="69494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FEEL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1" y="2258568"/>
            <a:ext cx="197510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933"/>
                </a:solidFill>
                <a:latin typeface="Aptos"/>
              </a:rPr>
              <a:t>tracking-error peak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86207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97745"/>
                </a:solidFill>
                <a:latin typeface="Aptos"/>
              </a:rPr>
              <a:t>≥ 0.15150436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5" y="1463040"/>
            <a:ext cx="2468880" cy="1993392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19" y="1709928"/>
            <a:ext cx="841248" cy="310896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1" y="1719072"/>
            <a:ext cx="69494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3" y="2258568"/>
            <a:ext cx="197510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933"/>
                </a:solidFill>
                <a:latin typeface="Aptos"/>
              </a:rPr>
              <a:t>required attribution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5" y="286207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24D"/>
                </a:solidFill>
                <a:latin typeface="Aptos"/>
              </a:rPr>
              <a:t>compliant_terrain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9408" y="1463040"/>
            <a:ext cx="2468880" cy="1993392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17152" y="1709928"/>
            <a:ext cx="841248" cy="310896"/>
          </a:xfrm>
          <a:prstGeom prst="roundRect">
            <a:avLst/>
          </a:prstGeom>
          <a:solidFill>
            <a:srgbClr val="2E8B6D"/>
          </a:solidFill>
          <a:ln w="12700">
            <a:solidFill>
              <a:srgbClr val="2E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0304" y="1719072"/>
            <a:ext cx="69494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2258568"/>
            <a:ext cx="197510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933"/>
                </a:solidFill>
                <a:latin typeface="Aptos"/>
              </a:rPr>
              <a:t>required proposal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286207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8B6D"/>
                </a:solidFill>
                <a:latin typeface="Aptos"/>
              </a:rPr>
              <a:t>high_step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" y="3813048"/>
            <a:ext cx="5148072" cy="1252728"/>
          </a:xfrm>
          <a:prstGeom prst="roundRect">
            <a:avLst/>
          </a:prstGeom>
          <a:solidFill>
            <a:srgbClr val="E2F2EA"/>
          </a:solidFill>
          <a:ln w="12700">
            <a:solidFill>
              <a:srgbClr val="E2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078224"/>
            <a:ext cx="15361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8B6D"/>
                </a:solidFill>
                <a:latin typeface="Aptos"/>
              </a:rPr>
              <a:t>ALL FOUR TRUE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7168" y="4041648"/>
            <a:ext cx="28346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8B6D"/>
                </a:solidFill>
                <a:latin typeface="Aptos"/>
              </a:rPr>
              <a:t>release High-step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4489704"/>
            <a:ext cx="2834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27181"/>
                </a:solidFill>
                <a:latin typeface="Aptos"/>
              </a:rPr>
              <a:t>coverage ≈ 0.20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44184" y="3813048"/>
            <a:ext cx="5458968" cy="1252728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4" y="4078224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27181"/>
                </a:solidFill>
                <a:latin typeface="Aptos"/>
              </a:rPr>
              <a:t>ANY FALSE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08392" y="4041648"/>
            <a:ext cx="32735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24D"/>
                </a:solidFill>
                <a:latin typeface="Aptos"/>
              </a:rPr>
              <a:t>use backstep_detour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8392" y="4489704"/>
            <a:ext cx="32735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7181"/>
                </a:solidFill>
                <a:latin typeface="Aptos"/>
              </a:rPr>
              <a:t>gate SHA-256 1d538a…9287bbd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632704"/>
            <a:ext cx="11000232" cy="457200"/>
          </a:xfrm>
          <a:prstGeom prst="roundRect">
            <a:avLst/>
          </a:prstGeom>
          <a:solidFill>
            <a:srgbClr val="F7E5E6"/>
          </a:solidFill>
          <a:ln w="12700">
            <a:solidFill>
              <a:srgbClr val="F7E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687568"/>
            <a:ext cx="105613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C4B51"/>
                </a:solidFill>
                <a:latin typeface="Aptos"/>
              </a:rPr>
              <a:t>No truth, scenario ID, appearance ID, θ, split, or cost is read at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Feel It, See It, Recover — KinoVLA Academic Presentation</dc:title>
  <dc:subject>Cross-modal failure attribution for safer quadrupedal navigation recovery</dc:subject>
  <dc:creator>KinoVLA</dc:creator>
  <cp:keywords>KinoVLA, quadruped, cross-modal, recovery, attribution, A0-A7</cp:keywords>
  <dc:description>Receiver-oriented white-background academic deck following Amaral's communication guidance.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