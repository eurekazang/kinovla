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561320" y="2240280"/>
            <a:ext cx="1097280" cy="0"/>
          </a:xfrm>
          <a:prstGeom prst="line">
            <a:avLst/>
          </a:prstGeom>
          <a:ln w="38100">
            <a:solidFill>
              <a:srgbClr val="EAD9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561320" y="2240280"/>
            <a:ext cx="775894" cy="775894"/>
          </a:xfrm>
          <a:prstGeom prst="line">
            <a:avLst/>
          </a:prstGeom>
          <a:ln w="38100">
            <a:solidFill>
              <a:srgbClr val="EAD9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561320" y="2240280"/>
            <a:ext cx="0" cy="1097280"/>
          </a:xfrm>
          <a:prstGeom prst="line">
            <a:avLst/>
          </a:prstGeom>
          <a:ln w="38100">
            <a:solidFill>
              <a:srgbClr val="EAD9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9785425" y="2240280"/>
            <a:ext cx="775895" cy="775894"/>
          </a:xfrm>
          <a:prstGeom prst="line">
            <a:avLst/>
          </a:prstGeom>
          <a:ln w="38100">
            <a:solidFill>
              <a:srgbClr val="EAD9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9464040" y="2240280"/>
            <a:ext cx="1097280" cy="0"/>
          </a:xfrm>
          <a:prstGeom prst="line">
            <a:avLst/>
          </a:prstGeom>
          <a:ln w="38100">
            <a:solidFill>
              <a:srgbClr val="EAD9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9785425" y="1464385"/>
            <a:ext cx="775895" cy="775895"/>
          </a:xfrm>
          <a:prstGeom prst="line">
            <a:avLst/>
          </a:prstGeom>
          <a:ln w="38100">
            <a:solidFill>
              <a:srgbClr val="EAD9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561320" y="1143000"/>
            <a:ext cx="0" cy="1097280"/>
          </a:xfrm>
          <a:prstGeom prst="line">
            <a:avLst/>
          </a:prstGeom>
          <a:ln w="38100">
            <a:solidFill>
              <a:srgbClr val="EAD9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561320" y="1464385"/>
            <a:ext cx="775894" cy="775895"/>
          </a:xfrm>
          <a:prstGeom prst="line">
            <a:avLst/>
          </a:prstGeom>
          <a:ln w="38100">
            <a:solidFill>
              <a:srgbClr val="EAD9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561320" y="2240280"/>
            <a:ext cx="603504" cy="0"/>
          </a:xfrm>
          <a:prstGeom prst="line">
            <a:avLst/>
          </a:prstGeom>
          <a:ln w="38100">
            <a:solidFill>
              <a:srgbClr val="E7C9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561320" y="2240280"/>
            <a:ext cx="426741" cy="426741"/>
          </a:xfrm>
          <a:prstGeom prst="line">
            <a:avLst/>
          </a:prstGeom>
          <a:ln w="38100">
            <a:solidFill>
              <a:srgbClr val="E7C9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561320" y="2240280"/>
            <a:ext cx="0" cy="603504"/>
          </a:xfrm>
          <a:prstGeom prst="line">
            <a:avLst/>
          </a:prstGeom>
          <a:ln w="38100">
            <a:solidFill>
              <a:srgbClr val="E7C9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0134578" y="2240280"/>
            <a:ext cx="426742" cy="426741"/>
          </a:xfrm>
          <a:prstGeom prst="line">
            <a:avLst/>
          </a:prstGeom>
          <a:ln w="38100">
            <a:solidFill>
              <a:srgbClr val="E7C9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957816" y="2240280"/>
            <a:ext cx="603504" cy="0"/>
          </a:xfrm>
          <a:prstGeom prst="line">
            <a:avLst/>
          </a:prstGeom>
          <a:ln w="38100">
            <a:solidFill>
              <a:srgbClr val="E7C9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0134578" y="1813538"/>
            <a:ext cx="426742" cy="426742"/>
          </a:xfrm>
          <a:prstGeom prst="line">
            <a:avLst/>
          </a:prstGeom>
          <a:ln w="38100">
            <a:solidFill>
              <a:srgbClr val="E7C9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561320" y="1636776"/>
            <a:ext cx="0" cy="603504"/>
          </a:xfrm>
          <a:prstGeom prst="line">
            <a:avLst/>
          </a:prstGeom>
          <a:ln w="38100">
            <a:solidFill>
              <a:srgbClr val="E7C9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0561320" y="1813538"/>
            <a:ext cx="426741" cy="426742"/>
          </a:xfrm>
          <a:prstGeom prst="line">
            <a:avLst/>
          </a:prstGeom>
          <a:ln w="38100">
            <a:solidFill>
              <a:srgbClr val="E7C9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78992" y="1490472"/>
            <a:ext cx="118872" cy="0"/>
          </a:xfrm>
          <a:prstGeom prst="line">
            <a:avLst/>
          </a:prstGeom>
          <a:ln w="2413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78992" y="1490472"/>
            <a:ext cx="84055" cy="84055"/>
          </a:xfrm>
          <a:prstGeom prst="line">
            <a:avLst/>
          </a:prstGeom>
          <a:ln w="2413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78992" y="1490472"/>
            <a:ext cx="0" cy="118871"/>
          </a:xfrm>
          <a:prstGeom prst="line">
            <a:avLst/>
          </a:prstGeom>
          <a:ln w="2413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994936" y="1490472"/>
            <a:ext cx="84056" cy="84055"/>
          </a:xfrm>
          <a:prstGeom prst="line">
            <a:avLst/>
          </a:prstGeom>
          <a:ln w="2413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960119" y="1490472"/>
            <a:ext cx="118873" cy="0"/>
          </a:xfrm>
          <a:prstGeom prst="line">
            <a:avLst/>
          </a:prstGeom>
          <a:ln w="2413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994936" y="1406416"/>
            <a:ext cx="84056" cy="84056"/>
          </a:xfrm>
          <a:prstGeom prst="line">
            <a:avLst/>
          </a:prstGeom>
          <a:ln w="2413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078992" y="1371600"/>
            <a:ext cx="0" cy="118872"/>
          </a:xfrm>
          <a:prstGeom prst="line">
            <a:avLst/>
          </a:prstGeom>
          <a:ln w="2413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78992" y="1406416"/>
            <a:ext cx="84055" cy="84056"/>
          </a:xfrm>
          <a:prstGeom prst="line">
            <a:avLst/>
          </a:prstGeom>
          <a:ln w="2413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33271" y="4005072"/>
            <a:ext cx="2624329" cy="0"/>
          </a:xfrm>
          <a:prstGeom prst="line">
            <a:avLst/>
          </a:prstGeom>
          <a:ln w="3302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05840" y="5669280"/>
            <a:ext cx="10180015" cy="0"/>
          </a:xfrm>
          <a:prstGeom prst="line">
            <a:avLst/>
          </a:prstGeom>
          <a:ln w="12700">
            <a:solidFill>
              <a:srgbClr val="E2D7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98448" y="1335024"/>
            <a:ext cx="8229600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F6F4B"/>
                </a:solidFill>
                <a:latin typeface="Noto Sans CJK SC"/>
                <a:ea typeface="Noto Sans CJK SC"/>
                <a:cs typeface="Noto Sans CJK SC"/>
              </a:rPr>
              <a:t>组会汇报 · 2026 年 6 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1847088"/>
            <a:ext cx="10241280" cy="91440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23201B"/>
                </a:solidFill>
                <a:latin typeface="Noto Serif CJK SC"/>
                <a:ea typeface="Noto Serif CJK SC"/>
                <a:cs typeface="Noto Serif CJK SC"/>
              </a:rPr>
              <a:t>让机器狗 “摔倒后会反思”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2907792"/>
            <a:ext cx="10058400" cy="8229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6E655A"/>
                </a:solidFill>
                <a:latin typeface="Noto Sans CJK SC"/>
                <a:ea typeface="Noto Sans CJK SC"/>
                <a:cs typeface="Noto Sans CJK SC"/>
              </a:rPr>
              <a:t>一个会判断“自己为什么走不动”、并安全选对恢复办法的四足机器人系统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187952"/>
            <a:ext cx="10241280" cy="45720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E655A"/>
                </a:solidFill>
                <a:latin typeface="Noto Sans CJK SC"/>
                <a:ea typeface="Noto Sans CJK SC"/>
                <a:cs typeface="Noto Sans CJK SC"/>
              </a:rPr>
              <a:t>项目代号 Kino-VLA　|　宇树 Go2 机器狗　|　高精度物理仿真　|　会看图的 AI 大模型 ＋ 数学安全护盾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815584"/>
            <a:ext cx="6400800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汇报人：________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16575" y="5815584"/>
            <a:ext cx="5669280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已形成 8 页论文初稿（ICRA 会议格式）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50392" y="612648"/>
            <a:ext cx="109727" cy="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50392" y="612648"/>
            <a:ext cx="77589" cy="77589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50392" y="612648"/>
            <a:ext cx="0" cy="109728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772802" y="612648"/>
            <a:ext cx="77590" cy="77589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740664" y="612648"/>
            <a:ext cx="109728" cy="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772802" y="535058"/>
            <a:ext cx="77590" cy="7759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0392" y="502920"/>
            <a:ext cx="0" cy="109728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50392" y="535058"/>
            <a:ext cx="77589" cy="7759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95528" y="1581912"/>
            <a:ext cx="1536192" cy="0"/>
          </a:xfrm>
          <a:prstGeom prst="line">
            <a:avLst/>
          </a:prstGeom>
          <a:ln w="3048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12700">
            <a:solidFill>
              <a:srgbClr val="E2D7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0" y="2286000"/>
            <a:ext cx="4553712" cy="1024128"/>
          </a:xfrm>
          <a:prstGeom prst="roundRect">
            <a:avLst>
              <a:gd name="adj" fmla="val 7142"/>
            </a:avLst>
          </a:prstGeom>
          <a:solidFill>
            <a:srgbClr val="F4E2D6"/>
          </a:solidFill>
          <a:ln w="1270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863072" y="2395728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E6C24E"/>
          </a:solidFill>
          <a:ln w="1016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0" y="3401568"/>
            <a:ext cx="4553712" cy="1024128"/>
          </a:xfrm>
          <a:prstGeom prst="roundRect">
            <a:avLst>
              <a:gd name="adj" fmla="val 7142"/>
            </a:avLst>
          </a:prstGeom>
          <a:solidFill>
            <a:srgbClr val="FCFAF5"/>
          </a:solidFill>
          <a:ln w="1270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863072" y="3511296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8C5A33"/>
          </a:solidFill>
          <a:ln w="1016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0" y="4572000"/>
            <a:ext cx="4553712" cy="713232"/>
          </a:xfrm>
          <a:prstGeom prst="roundRect">
            <a:avLst>
              <a:gd name="adj" fmla="val 7692"/>
            </a:avLst>
          </a:prstGeom>
          <a:solidFill>
            <a:srgbClr val="ED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5614416"/>
            <a:ext cx="10637215" cy="603504"/>
          </a:xfrm>
          <a:prstGeom prst="roundRect">
            <a:avLst>
              <a:gd name="adj" fmla="val 9090"/>
            </a:avLst>
          </a:prstGeom>
          <a:solidFill>
            <a:srgbClr val="F4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466344"/>
            <a:ext cx="8229600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F6F4B"/>
                </a:solidFill>
                <a:latin typeface="Noto Sans CJK SC"/>
                <a:ea typeface="Noto Sans CJK SC"/>
                <a:cs typeface="Noto Sans CJK SC"/>
              </a:rPr>
              <a:t>为什么需要“会反思”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768096"/>
            <a:ext cx="10637215" cy="86868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3201B"/>
                </a:solidFill>
                <a:latin typeface="Noto Serif CJK SC"/>
                <a:ea typeface="Noto Serif CJK SC"/>
                <a:cs typeface="Noto Serif CJK SC"/>
              </a:rPr>
              <a:t>机器狗已经很能“扛”，但有一类失败“扛”不过去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473952"/>
            <a:ext cx="8229600" cy="32004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让机器狗摔倒后会反思 · 组会汇报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85655" y="6473952"/>
            <a:ext cx="1828800" cy="32004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2 /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1828800"/>
            <a:ext cx="5806440" cy="45720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CF6F4B"/>
                </a:solidFill>
                <a:latin typeface="Noto Sans CJK SC"/>
                <a:ea typeface="Noto Sans CJK SC"/>
                <a:cs typeface="Noto Sans CJK SC"/>
              </a:rPr>
              <a:t>①　</a:t>
            </a:r>
            <a:r>
              <a:rPr sz="1500" b="1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现在的机器狗已经很强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2212848"/>
            <a:ext cx="5806440" cy="91440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E655A"/>
                </a:solidFill>
                <a:latin typeface="Noto Sans CJK SC"/>
                <a:ea typeface="Noto Sans CJK SC"/>
                <a:cs typeface="Noto Sans CJK SC"/>
              </a:rPr>
              <a:t>靠强化学习，它能边走边自动适应——打滑、负重、被推，多半能反射式地硬扛过去。这部分做得很好，我们不去改它。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926080"/>
            <a:ext cx="5806440" cy="45720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CF6F4B"/>
                </a:solidFill>
                <a:latin typeface="Noto Sans CJK SC"/>
                <a:ea typeface="Noto Sans CJK SC"/>
                <a:cs typeface="Noto Sans CJK SC"/>
              </a:rPr>
              <a:t>②　</a:t>
            </a:r>
            <a:r>
              <a:rPr sz="1500" b="1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但有一类失败，“加力”只会更糟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310128"/>
            <a:ext cx="5806440" cy="91440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E655A"/>
                </a:solidFill>
                <a:latin typeface="Noto Sans CJK SC"/>
                <a:ea typeface="Noto Sans CJK SC"/>
                <a:cs typeface="Noto Sans CJK SC"/>
              </a:rPr>
              <a:t>例：腿被有弹性的绳子缠住，越用力、绳子越像被拉满的弓。正确做法是“后退松劲”，而不是加大力气——需要的是“换个策略”。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160520"/>
            <a:ext cx="5806440" cy="45720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CF6F4B"/>
                </a:solidFill>
                <a:latin typeface="Noto Sans CJK SC"/>
                <a:ea typeface="Noto Sans CJK SC"/>
                <a:cs typeface="Noto Sans CJK SC"/>
              </a:rPr>
              <a:t>③　</a:t>
            </a:r>
            <a:r>
              <a:rPr sz="1500" b="1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最棘手：手感一样，却要反着来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544568"/>
            <a:ext cx="5806440" cy="91440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E655A"/>
                </a:solidFill>
                <a:latin typeface="Noto Sans CJK SC"/>
                <a:ea typeface="Noto Sans CJK SC"/>
                <a:cs typeface="Noto Sans CJK SC"/>
              </a:rPr>
              <a:t>有些失败“脚下手感几乎一模一样，却要用相反的办法”。光凭手感分不出来，必须“看一眼”才能判断（见右图）。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1828800"/>
            <a:ext cx="4553712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一个真实例子：手感相同，处置相反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9168" y="2414016"/>
            <a:ext cx="3639312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脚被胶面粘住（黄色）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2798064"/>
            <a:ext cx="3913632" cy="45720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正确恢复：后退脱困（越用力越糟）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3529584"/>
            <a:ext cx="3639312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脚陷进烂泥（褐色）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9168" y="3913632"/>
            <a:ext cx="3913632" cy="45720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正确恢复：换个步态继续前进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4572000"/>
            <a:ext cx="4224528" cy="713232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关节“手感”几乎相同，颜色完全不同 → 要靠视觉分辨，并记到地图上。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614416"/>
            <a:ext cx="10271455" cy="603504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目标：</a:t>
            </a:r>
            <a:r>
              <a:rPr sz="145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让机器狗像人一样——先判断“是什么情况”，再“对症下药”，而且全程不摔倒。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50392" y="612648"/>
            <a:ext cx="109727" cy="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50392" y="612648"/>
            <a:ext cx="77589" cy="77589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50392" y="612648"/>
            <a:ext cx="0" cy="109728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772802" y="612648"/>
            <a:ext cx="77590" cy="77589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740664" y="612648"/>
            <a:ext cx="109728" cy="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772802" y="535058"/>
            <a:ext cx="77590" cy="7759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0392" y="502920"/>
            <a:ext cx="0" cy="109728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50392" y="535058"/>
            <a:ext cx="77589" cy="7759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95528" y="1581912"/>
            <a:ext cx="1536192" cy="0"/>
          </a:xfrm>
          <a:prstGeom prst="line">
            <a:avLst/>
          </a:prstGeom>
          <a:ln w="3048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12700">
            <a:solidFill>
              <a:srgbClr val="E2D7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1828800"/>
            <a:ext cx="2276856" cy="2084831"/>
          </a:xfrm>
          <a:prstGeom prst="roundRect">
            <a:avLst>
              <a:gd name="adj" fmla="val 3508"/>
            </a:avLst>
          </a:prstGeom>
          <a:solidFill>
            <a:srgbClr val="FCFAF5"/>
          </a:solidFill>
          <a:ln w="1270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41832" y="2761488"/>
            <a:ext cx="1947672" cy="0"/>
          </a:xfrm>
          <a:prstGeom prst="line">
            <a:avLst/>
          </a:prstGeom>
          <a:ln w="12700">
            <a:solidFill>
              <a:srgbClr val="E2D7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557016" y="1828800"/>
            <a:ext cx="2276856" cy="2084831"/>
          </a:xfrm>
          <a:prstGeom prst="roundRect">
            <a:avLst>
              <a:gd name="adj" fmla="val 3508"/>
            </a:avLst>
          </a:prstGeom>
          <a:solidFill>
            <a:srgbClr val="FCFAF5"/>
          </a:solidFill>
          <a:ln w="1270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3721608" y="2761488"/>
            <a:ext cx="1947672" cy="0"/>
          </a:xfrm>
          <a:prstGeom prst="line">
            <a:avLst/>
          </a:prstGeom>
          <a:ln w="12700">
            <a:solidFill>
              <a:srgbClr val="E2D7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36792" y="1828800"/>
            <a:ext cx="2276856" cy="2084831"/>
          </a:xfrm>
          <a:prstGeom prst="roundRect">
            <a:avLst>
              <a:gd name="adj" fmla="val 3508"/>
            </a:avLst>
          </a:prstGeom>
          <a:solidFill>
            <a:srgbClr val="FCFAF5"/>
          </a:solidFill>
          <a:ln w="1270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6501383" y="2761488"/>
            <a:ext cx="1947673" cy="0"/>
          </a:xfrm>
          <a:prstGeom prst="line">
            <a:avLst/>
          </a:prstGeom>
          <a:ln w="12700">
            <a:solidFill>
              <a:srgbClr val="E2D7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16568" y="1828800"/>
            <a:ext cx="2276856" cy="2084831"/>
          </a:xfrm>
          <a:prstGeom prst="roundRect">
            <a:avLst>
              <a:gd name="adj" fmla="val 3508"/>
            </a:avLst>
          </a:prstGeom>
          <a:solidFill>
            <a:srgbClr val="FCFAF5"/>
          </a:solidFill>
          <a:ln w="1270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9281160" y="2761488"/>
            <a:ext cx="1947672" cy="0"/>
          </a:xfrm>
          <a:prstGeom prst="line">
            <a:avLst/>
          </a:prstGeom>
          <a:ln w="12700">
            <a:solidFill>
              <a:srgbClr val="E2D7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77240" y="4261104"/>
            <a:ext cx="10637215" cy="960120"/>
          </a:xfrm>
          <a:prstGeom prst="roundRect">
            <a:avLst>
              <a:gd name="adj" fmla="val 7619"/>
            </a:avLst>
          </a:prstGeom>
          <a:solidFill>
            <a:srgbClr val="FCFAF5"/>
          </a:solidFill>
          <a:ln w="17780">
            <a:solidFill>
              <a:srgbClr val="CF6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5340096"/>
            <a:ext cx="10637215" cy="585216"/>
          </a:xfrm>
          <a:prstGeom prst="roundRect">
            <a:avLst>
              <a:gd name="adj" fmla="val 9375"/>
            </a:avLst>
          </a:prstGeom>
          <a:solidFill>
            <a:srgbClr val="F4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466344"/>
            <a:ext cx="8229600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F6F4B"/>
                </a:solidFill>
                <a:latin typeface="Noto Sans CJK SC"/>
                <a:ea typeface="Noto Sans CJK SC"/>
                <a:cs typeface="Noto Sans CJK SC"/>
              </a:rPr>
              <a:t>方法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768096"/>
            <a:ext cx="10637215" cy="86868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3201B"/>
                </a:solidFill>
                <a:latin typeface="Noto Serif CJK SC"/>
                <a:ea typeface="Noto Serif CJK SC"/>
                <a:cs typeface="Noto Serif CJK SC"/>
              </a:rPr>
              <a:t>我们的系统：边走边纠错的“四步闭环”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473952"/>
            <a:ext cx="8229600" cy="32004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让机器狗摔倒后会反思 · 组会汇报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5655" y="6473952"/>
            <a:ext cx="1828800" cy="32004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3 /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1993392"/>
            <a:ext cx="1947672" cy="45720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F6F4B"/>
                </a:solidFill>
                <a:latin typeface="Noto Serif CJK SC"/>
                <a:ea typeface="Noto Serif CJK SC"/>
                <a:cs typeface="Noto Serif CJK SC"/>
              </a:rPr>
              <a:t>① </a:t>
            </a:r>
            <a:r>
              <a:rPr sz="1500" b="1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实时自检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2487168"/>
            <a:ext cx="1947672" cy="292608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每秒上千次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" y="2871215"/>
            <a:ext cx="1947672" cy="932687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6E655A"/>
                </a:solidFill>
                <a:latin typeface="Noto Sans CJK SC"/>
                <a:ea typeface="Noto Sans CJK SC"/>
                <a:cs typeface="Noto Sans CJK SC"/>
              </a:rPr>
              <a:t>监测打滑、吃力、走不动；一发现异常，立刻“条件反射”稳住身体（毫秒级），先保证不摔倒。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1608" y="1993392"/>
            <a:ext cx="1947672" cy="45720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F6F4B"/>
                </a:solidFill>
                <a:latin typeface="Noto Serif CJK SC"/>
                <a:ea typeface="Noto Serif CJK SC"/>
                <a:cs typeface="Noto Serif CJK SC"/>
              </a:rPr>
              <a:t>② </a:t>
            </a:r>
            <a:r>
              <a:rPr sz="1500" b="1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物理状态感知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21608" y="2487168"/>
            <a:ext cx="1947672" cy="292608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看不见也能估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21608" y="2871215"/>
            <a:ext cx="1947672" cy="932687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6E655A"/>
                </a:solidFill>
                <a:latin typeface="Noto Sans CJK SC"/>
                <a:ea typeface="Noto Sans CJK SC"/>
                <a:cs typeface="Noto Sans CJK SC"/>
              </a:rPr>
              <a:t>从关节的“手感”反推地面多滑、负载多重等看不见的物理量，翻译成 AI 能读懂的信息。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1383" y="1993392"/>
            <a:ext cx="1947672" cy="45720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F6F4B"/>
                </a:solidFill>
                <a:latin typeface="Noto Serif CJK SC"/>
                <a:ea typeface="Noto Serif CJK SC"/>
                <a:cs typeface="Noto Serif CJK SC"/>
              </a:rPr>
              <a:t>③ </a:t>
            </a:r>
            <a:r>
              <a:rPr sz="1500" b="1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看图 ＋ 推理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01383" y="2487168"/>
            <a:ext cx="1947672" cy="292608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会看图的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1383" y="2871215"/>
            <a:ext cx="1947672" cy="932687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6E655A"/>
                </a:solidFill>
                <a:latin typeface="Noto Sans CJK SC"/>
                <a:ea typeface="Noto Sans CJK SC"/>
                <a:cs typeface="Noto Sans CJK SC"/>
              </a:rPr>
              <a:t>结合画面、地图和物理手感，判断“到底是什么失败”，写出恢复动作和理由。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1993392"/>
            <a:ext cx="1947672" cy="45720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F6F4B"/>
                </a:solidFill>
                <a:latin typeface="Noto Serif CJK SC"/>
                <a:ea typeface="Noto Serif CJK SC"/>
                <a:cs typeface="Noto Serif CJK SC"/>
              </a:rPr>
              <a:t>④ </a:t>
            </a:r>
            <a:r>
              <a:rPr sz="1500" b="1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安全护盾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2487168"/>
            <a:ext cx="1947672" cy="292608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数学保证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2871215"/>
            <a:ext cx="1947672" cy="932687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6E655A"/>
                </a:solidFill>
                <a:latin typeface="Noto Sans CJK SC"/>
                <a:ea typeface="Noto Sans CJK SC"/>
                <a:cs typeface="Noto Sans CJK SC"/>
              </a:rPr>
              <a:t>AI 给的动作要先过一道安全层，实时把危险指令改安全（不到 1 毫秒），可证明不摔。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54096" y="2615183"/>
            <a:ext cx="502920" cy="512064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F6F4B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3872" y="2615183"/>
            <a:ext cx="502920" cy="512064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F6F4B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13648" y="2615183"/>
            <a:ext cx="502920" cy="512064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F6F4B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7940" y="3931920"/>
            <a:ext cx="2194560" cy="292608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↕  规划器 读图 · 写图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" y="4370832"/>
            <a:ext cx="10234879" cy="310896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视觉在这里起作用 —— 语义地图（代价地图）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" y="4690872"/>
            <a:ext cx="10234879" cy="50292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相机把场景分成区域、标出危险，记到一张三维地图上：换个视角也记得，还会推广到长得像的地方（踩穿一块薄冰 → 整片标危险）。规划器读这张图来判断和绕行；当身体真摔了、与画面矛盾时，以身体经历为准、改写地图上的视觉判断。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5340096"/>
            <a:ext cx="10271455" cy="585216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一快一慢配合：</a:t>
            </a:r>
            <a:r>
              <a:rPr sz="135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慢的“思考”（约 1 秒）想对策；快的“反射”（毫秒级）在思考时不让它倒下——边走边判断边纠正，就是“闭环”。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998464"/>
            <a:ext cx="10637215" cy="329184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注：整套系统都在高精度物理仿真中验证；推理用一个开源、会看图的 AI 大模型（约 40 亿参数，轻量微调）。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50392" y="612648"/>
            <a:ext cx="109727" cy="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50392" y="612648"/>
            <a:ext cx="77589" cy="77589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50392" y="612648"/>
            <a:ext cx="0" cy="109728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772802" y="612648"/>
            <a:ext cx="77590" cy="77589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740664" y="612648"/>
            <a:ext cx="109728" cy="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772802" y="535058"/>
            <a:ext cx="77590" cy="7759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0392" y="502920"/>
            <a:ext cx="0" cy="109728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50392" y="535058"/>
            <a:ext cx="77589" cy="7759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95528" y="1581912"/>
            <a:ext cx="1536192" cy="0"/>
          </a:xfrm>
          <a:prstGeom prst="line">
            <a:avLst/>
          </a:prstGeom>
          <a:ln w="3048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12700">
            <a:solidFill>
              <a:srgbClr val="E2D7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1828800"/>
            <a:ext cx="10637215" cy="822960"/>
          </a:xfrm>
          <a:prstGeom prst="roundRect">
            <a:avLst>
              <a:gd name="adj" fmla="val 6666"/>
            </a:avLst>
          </a:prstGeom>
          <a:solidFill>
            <a:srgbClr val="ED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3200400"/>
            <a:ext cx="2276856" cy="1417320"/>
          </a:xfrm>
          <a:prstGeom prst="roundRect">
            <a:avLst>
              <a:gd name="adj" fmla="val 5161"/>
            </a:avLst>
          </a:prstGeom>
          <a:solidFill>
            <a:srgbClr val="FCFAF5"/>
          </a:solidFill>
          <a:ln w="1270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57016" y="3200400"/>
            <a:ext cx="2276856" cy="1417320"/>
          </a:xfrm>
          <a:prstGeom prst="roundRect">
            <a:avLst>
              <a:gd name="adj" fmla="val 5161"/>
            </a:avLst>
          </a:prstGeom>
          <a:solidFill>
            <a:srgbClr val="FCFAF5"/>
          </a:solidFill>
          <a:ln w="1270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36792" y="3200400"/>
            <a:ext cx="2276856" cy="1417320"/>
          </a:xfrm>
          <a:prstGeom prst="roundRect">
            <a:avLst>
              <a:gd name="adj" fmla="val 5161"/>
            </a:avLst>
          </a:prstGeom>
          <a:solidFill>
            <a:srgbClr val="FCFAF5"/>
          </a:solidFill>
          <a:ln w="1270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16568" y="3200400"/>
            <a:ext cx="2276856" cy="1417320"/>
          </a:xfrm>
          <a:prstGeom prst="roundRect">
            <a:avLst>
              <a:gd name="adj" fmla="val 5161"/>
            </a:avLst>
          </a:prstGeom>
          <a:solidFill>
            <a:srgbClr val="FCFAF5"/>
          </a:solidFill>
          <a:ln w="1270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480060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4E2D6"/>
          </a:solidFill>
          <a:ln w="1270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91071" y="4800600"/>
            <a:ext cx="5123383" cy="1371600"/>
          </a:xfrm>
          <a:prstGeom prst="roundRect">
            <a:avLst>
              <a:gd name="adj" fmla="val 5333"/>
            </a:avLst>
          </a:prstGeom>
          <a:solidFill>
            <a:srgbClr val="FCFAF5"/>
          </a:solidFill>
          <a:ln w="1270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466344"/>
            <a:ext cx="8229600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F6F4B"/>
                </a:solidFill>
                <a:latin typeface="Noto Sans CJK SC"/>
                <a:ea typeface="Noto Sans CJK SC"/>
                <a:cs typeface="Noto Sans CJK SC"/>
              </a:rPr>
              <a:t>数据与训练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768096"/>
            <a:ext cx="10637215" cy="86868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3201B"/>
                </a:solidFill>
                <a:latin typeface="Noto Serif CJK SC"/>
                <a:ea typeface="Noto Serif CJK SC"/>
                <a:cs typeface="Noto Serif CJK SC"/>
              </a:rPr>
              <a:t>难点：AI 会“一本正经地胡说”；怎么让它说真话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473952"/>
            <a:ext cx="8229600" cy="32004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让机器狗摔倒后会反思 · 组会汇报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5655" y="6473952"/>
            <a:ext cx="1828800" cy="32004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4 /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1828800"/>
            <a:ext cx="10234879" cy="822960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问题：</a:t>
            </a:r>
            <a:r>
              <a:rPr sz="140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让 AI 判断“为什么失败”，它常常自信地猜错（例如一看到黄色就乱归因）。若直接拿它的话去训练，错误也会被一起学进去。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788920"/>
            <a:ext cx="10637215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我们的办法：先在仿真里真实地失败，再用“真值”当判卷老师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3346704"/>
            <a:ext cx="1947672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F6F4B"/>
                </a:solidFill>
                <a:latin typeface="Noto Serif CJK SC"/>
                <a:ea typeface="Noto Serif CJK SC"/>
                <a:cs typeface="Noto Serif CJK SC"/>
              </a:rPr>
              <a:t>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3749039"/>
            <a:ext cx="1947672" cy="758952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在仿真里让机器狗真实地“失败”。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21608" y="3346704"/>
            <a:ext cx="1947672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F6F4B"/>
                </a:solidFill>
                <a:latin typeface="Noto Serif CJK SC"/>
                <a:ea typeface="Noto Serif CJK SC"/>
                <a:cs typeface="Noto Serif CJK SC"/>
              </a:rPr>
              <a:t>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21608" y="3749039"/>
            <a:ext cx="1947672" cy="758952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仿真有“上帝视角”，知道真正的原因和物理参数。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1383" y="3346704"/>
            <a:ext cx="1947672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F6F4B"/>
                </a:solidFill>
                <a:latin typeface="Noto Serif CJK SC"/>
                <a:ea typeface="Noto Serif CJK SC"/>
                <a:cs typeface="Noto Serif CJK SC"/>
              </a:rPr>
              <a:t>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1383" y="3749039"/>
            <a:ext cx="1947672" cy="758952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调用真实的前沿大模型，写出诊断和恢复理由。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3346704"/>
            <a:ext cx="1947672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F6F4B"/>
                </a:solidFill>
                <a:latin typeface="Noto Serif CJK SC"/>
                <a:ea typeface="Noto Serif CJK SC"/>
                <a:cs typeface="Noto Serif CJK SC"/>
              </a:rPr>
              <a:t>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3749039"/>
            <a:ext cx="1947672" cy="758952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用真值判卷：对不上真相、或办法行不通的，一律丢掉。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54096" y="3653028"/>
            <a:ext cx="502920" cy="512064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F6F4B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3872" y="3653028"/>
            <a:ext cx="502920" cy="512064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F6F4B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13648" y="3653028"/>
            <a:ext cx="502920" cy="512064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F6F4B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" y="4946904"/>
            <a:ext cx="4718303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数据成果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" y="5312664"/>
            <a:ext cx="4718303" cy="786384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已收集 413 条真实机器狗失败样本；“真话过滤”丢掉约 21% 的胡说；覆盖多组“看起来一样、其实不同”的成对难题。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39" y="4946904"/>
            <a:ext cx="4721047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为什么这一步是“贡献”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39" y="5312664"/>
            <a:ext cx="4721047" cy="786384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这套“真话过滤器”能挡住 AI 的“幻觉”——物理上讲不通的诊断会被自动筛掉。我们已用真实大模型的真实错误验证过它。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50392" y="612648"/>
            <a:ext cx="109727" cy="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50392" y="612648"/>
            <a:ext cx="77589" cy="77589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50392" y="612648"/>
            <a:ext cx="0" cy="109728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772802" y="612648"/>
            <a:ext cx="77590" cy="77589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740664" y="612648"/>
            <a:ext cx="109728" cy="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772802" y="535058"/>
            <a:ext cx="77590" cy="7759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0392" y="502920"/>
            <a:ext cx="0" cy="109728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50392" y="535058"/>
            <a:ext cx="77589" cy="7759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95528" y="1581912"/>
            <a:ext cx="1536192" cy="0"/>
          </a:xfrm>
          <a:prstGeom prst="line">
            <a:avLst/>
          </a:prstGeom>
          <a:ln w="3048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12700">
            <a:solidFill>
              <a:srgbClr val="E2D7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39" y="4736592"/>
            <a:ext cx="4434841" cy="0"/>
          </a:xfrm>
          <a:prstGeom prst="line">
            <a:avLst/>
          </a:prstGeom>
          <a:ln w="16510">
            <a:solidFill>
              <a:srgbClr val="E2D7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600200" y="2910809"/>
            <a:ext cx="1143000" cy="1825782"/>
          </a:xfrm>
          <a:prstGeom prst="rect">
            <a:avLst/>
          </a:prstGeom>
          <a:solidFill>
            <a:srgbClr val="CF6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03320" y="4292330"/>
            <a:ext cx="1143000" cy="444261"/>
          </a:xfrm>
          <a:prstGeom prst="rect">
            <a:avLst/>
          </a:prstGeom>
          <a:solidFill>
            <a:srgbClr val="C2B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1828800"/>
            <a:ext cx="5242255" cy="1024128"/>
          </a:xfrm>
          <a:prstGeom prst="roundRect">
            <a:avLst>
              <a:gd name="adj" fmla="val 6250"/>
            </a:avLst>
          </a:prstGeom>
          <a:solidFill>
            <a:srgbClr val="FCFAF5"/>
          </a:solidFill>
          <a:ln w="1270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2029968"/>
            <a:ext cx="118872" cy="118872"/>
          </a:xfrm>
          <a:prstGeom prst="rect">
            <a:avLst/>
          </a:prstGeom>
          <a:solidFill>
            <a:srgbClr val="CF6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2971800"/>
            <a:ext cx="5242255" cy="1024128"/>
          </a:xfrm>
          <a:prstGeom prst="roundRect">
            <a:avLst>
              <a:gd name="adj" fmla="val 6250"/>
            </a:avLst>
          </a:prstGeom>
          <a:solidFill>
            <a:srgbClr val="FCFAF5"/>
          </a:solidFill>
          <a:ln w="1270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3172968"/>
            <a:ext cx="118872" cy="118872"/>
          </a:xfrm>
          <a:prstGeom prst="rect">
            <a:avLst/>
          </a:prstGeom>
          <a:solidFill>
            <a:srgbClr val="CF6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4114800"/>
            <a:ext cx="5242255" cy="1024128"/>
          </a:xfrm>
          <a:prstGeom prst="roundRect">
            <a:avLst>
              <a:gd name="adj" fmla="val 6250"/>
            </a:avLst>
          </a:prstGeom>
          <a:solidFill>
            <a:srgbClr val="FCFAF5"/>
          </a:solidFill>
          <a:ln w="1270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4315968"/>
            <a:ext cx="118872" cy="118872"/>
          </a:xfrm>
          <a:prstGeom prst="rect">
            <a:avLst/>
          </a:prstGeom>
          <a:solidFill>
            <a:srgbClr val="CF6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2200" y="5257800"/>
            <a:ext cx="5242255" cy="1024128"/>
          </a:xfrm>
          <a:prstGeom prst="roundRect">
            <a:avLst>
              <a:gd name="adj" fmla="val 6250"/>
            </a:avLst>
          </a:prstGeom>
          <a:solidFill>
            <a:srgbClr val="FCFAF5"/>
          </a:solidFill>
          <a:ln w="12700">
            <a:solidFill>
              <a:srgbClr val="E2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5458968"/>
            <a:ext cx="118872" cy="118872"/>
          </a:xfrm>
          <a:prstGeom prst="rect">
            <a:avLst/>
          </a:prstGeom>
          <a:solidFill>
            <a:srgbClr val="CF6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466344"/>
            <a:ext cx="8229600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F6F4B"/>
                </a:solidFill>
                <a:latin typeface="Noto Sans CJK SC"/>
                <a:ea typeface="Noto Sans CJK SC"/>
                <a:cs typeface="Noto Sans CJK SC"/>
              </a:rPr>
              <a:t>实验结果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768096"/>
            <a:ext cx="10637215" cy="86868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3201B"/>
                </a:solidFill>
                <a:latin typeface="Noto Serif CJK SC"/>
                <a:ea typeface="Noto Serif CJK SC"/>
                <a:cs typeface="Noto Serif CJK SC"/>
              </a:rPr>
              <a:t>结果：“会反思”带来不可替代的提升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73952"/>
            <a:ext cx="8229600" cy="32004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让机器狗摔倒后会反思 · 组会汇报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5655" y="6473952"/>
            <a:ext cx="1828800" cy="32004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5 /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1828800"/>
            <a:ext cx="5120640" cy="64008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在“看起来一样、其实不同”的难题上，判断“为什么失败”的准确率：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2343881"/>
            <a:ext cx="1600200" cy="548640"/>
          </a:xfrm>
          <a:prstGeom prst="rect">
            <a:avLst/>
          </a:prstGeom>
          <a:noFill/>
        </p:spPr>
        <p:txBody>
          <a:bodyPr wrap="square" tIns="36576" bIns="36576" anchor="b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A9542F"/>
                </a:solidFill>
                <a:latin typeface="Noto Serif CJK SC"/>
                <a:ea typeface="Noto Serif CJK SC"/>
                <a:cs typeface="Noto Serif CJK SC"/>
              </a:rPr>
              <a:t>97.4%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3725402"/>
            <a:ext cx="1600200" cy="548640"/>
          </a:xfrm>
          <a:prstGeom prst="rect">
            <a:avLst/>
          </a:prstGeom>
          <a:noFill/>
        </p:spPr>
        <p:txBody>
          <a:bodyPr wrap="square" tIns="36576" bIns="36576" anchor="b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6E655A"/>
                </a:solidFill>
                <a:latin typeface="Noto Serif CJK SC"/>
                <a:ea typeface="Noto Serif CJK SC"/>
                <a:cs typeface="Noto Serif CJK SC"/>
              </a:rPr>
              <a:t>23.7%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828031"/>
            <a:ext cx="1874519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会反思的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4828031"/>
            <a:ext cx="1874519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E655A"/>
                </a:solidFill>
                <a:latin typeface="Noto Sans CJK SC"/>
                <a:ea typeface="Noto Sans CJK SC"/>
                <a:cs typeface="Noto Sans CJK SC"/>
              </a:rPr>
              <a:t>传统规则方法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285232"/>
            <a:ext cx="5212080" cy="8229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高出约 74 个百分点。</a:t>
            </a:r>
            <a:r>
              <a:rPr sz="135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这类失败靠“手感”或写死的规则都不行，必须“看图 ＋ 推理”。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92824" y="1965960"/>
            <a:ext cx="4693615" cy="292608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语义地图（代价地图）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92824" y="2276856"/>
            <a:ext cx="4638751" cy="521208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把危险区域记在三维地图上、换视角也记得；踩穿一块薄冰，就把整片相似区域标危险（必要时用身体经历改写视觉）。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92824" y="3108960"/>
            <a:ext cx="4693615" cy="292608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安全护盾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92824" y="3419856"/>
            <a:ext cx="4638751" cy="521208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每次决策不到 0.2 毫秒；把危险的速度指令从 2.5 砍到安全范围，全程没有摔倒（且有数学证明）。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92824" y="4251960"/>
            <a:ext cx="4693615" cy="292608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物理状态感知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92824" y="4562856"/>
            <a:ext cx="4638751" cy="521208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地面摩擦、负载等都估得准（都在容忍误差内）；一旦判出“很滑”，安全余量自动收紧约 77%。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92824" y="5394960"/>
            <a:ext cx="4693615" cy="292608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全链路打通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92824" y="5705856"/>
            <a:ext cx="4638751" cy="521208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完整跑通“摔倒 → 看＋感 → 诊断 → 安全恢复”；AI 给的恢复动作 100% 能被正确执行。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50392" y="612648"/>
            <a:ext cx="109727" cy="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50392" y="612648"/>
            <a:ext cx="77589" cy="77589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50392" y="612648"/>
            <a:ext cx="0" cy="109728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772802" y="612648"/>
            <a:ext cx="77590" cy="77589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740664" y="612648"/>
            <a:ext cx="109728" cy="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772802" y="535058"/>
            <a:ext cx="77590" cy="7759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0392" y="502920"/>
            <a:ext cx="0" cy="109728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50392" y="535058"/>
            <a:ext cx="77589" cy="77590"/>
          </a:xfrm>
          <a:prstGeom prst="line">
            <a:avLst/>
          </a:prstGeom>
          <a:ln w="2159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95528" y="1581912"/>
            <a:ext cx="1536192" cy="0"/>
          </a:xfrm>
          <a:prstGeom prst="line">
            <a:avLst/>
          </a:prstGeom>
          <a:ln w="30480">
            <a:solidFill>
              <a:srgbClr val="CF6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" y="6419088"/>
            <a:ext cx="10637215" cy="0"/>
          </a:xfrm>
          <a:prstGeom prst="line">
            <a:avLst/>
          </a:prstGeom>
          <a:ln w="12700">
            <a:solidFill>
              <a:srgbClr val="E2D7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2240280"/>
            <a:ext cx="592074" cy="310896"/>
          </a:xfrm>
          <a:prstGeom prst="roundRect">
            <a:avLst>
              <a:gd name="adj" fmla="val 8823"/>
            </a:avLst>
          </a:prstGeom>
          <a:solidFill>
            <a:srgbClr val="CF6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424178" y="2240280"/>
            <a:ext cx="592074" cy="310896"/>
          </a:xfrm>
          <a:prstGeom prst="roundRect">
            <a:avLst>
              <a:gd name="adj" fmla="val 8823"/>
            </a:avLst>
          </a:prstGeom>
          <a:solidFill>
            <a:srgbClr val="CF6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071116" y="2240280"/>
            <a:ext cx="592074" cy="310896"/>
          </a:xfrm>
          <a:prstGeom prst="roundRect">
            <a:avLst>
              <a:gd name="adj" fmla="val 8823"/>
            </a:avLst>
          </a:prstGeom>
          <a:solidFill>
            <a:srgbClr val="CF6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18054" y="2240280"/>
            <a:ext cx="592074" cy="310896"/>
          </a:xfrm>
          <a:prstGeom prst="roundRect">
            <a:avLst>
              <a:gd name="adj" fmla="val 8823"/>
            </a:avLst>
          </a:prstGeom>
          <a:solidFill>
            <a:srgbClr val="CF6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64992" y="2240280"/>
            <a:ext cx="592074" cy="310896"/>
          </a:xfrm>
          <a:prstGeom prst="roundRect">
            <a:avLst>
              <a:gd name="adj" fmla="val 8823"/>
            </a:avLst>
          </a:prstGeom>
          <a:solidFill>
            <a:srgbClr val="CF6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11930" y="2240280"/>
            <a:ext cx="592074" cy="310896"/>
          </a:xfrm>
          <a:prstGeom prst="roundRect">
            <a:avLst>
              <a:gd name="adj" fmla="val 8823"/>
            </a:avLst>
          </a:prstGeom>
          <a:solidFill>
            <a:srgbClr val="CF6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58868" y="2240280"/>
            <a:ext cx="592074" cy="310896"/>
          </a:xfrm>
          <a:prstGeom prst="roundRect">
            <a:avLst>
              <a:gd name="adj" fmla="val 8823"/>
            </a:avLst>
          </a:prstGeom>
          <a:solidFill>
            <a:srgbClr val="CF6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05806" y="2240280"/>
            <a:ext cx="592074" cy="310896"/>
          </a:xfrm>
          <a:prstGeom prst="roundRect">
            <a:avLst>
              <a:gd name="adj" fmla="val 8823"/>
            </a:avLst>
          </a:prstGeom>
          <a:noFill/>
          <a:ln w="16510">
            <a:solidFill>
              <a:srgbClr val="CF6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8" y="4114800"/>
            <a:ext cx="91440" cy="91440"/>
          </a:xfrm>
          <a:prstGeom prst="rect">
            <a:avLst/>
          </a:prstGeom>
          <a:solidFill>
            <a:srgbClr val="CF6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8" y="4626864"/>
            <a:ext cx="91440" cy="91440"/>
          </a:xfrm>
          <a:prstGeom prst="rect">
            <a:avLst/>
          </a:prstGeom>
          <a:solidFill>
            <a:srgbClr val="CF6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5528" y="5138928"/>
            <a:ext cx="91440" cy="91440"/>
          </a:xfrm>
          <a:prstGeom prst="rect">
            <a:avLst/>
          </a:prstGeom>
          <a:solidFill>
            <a:srgbClr val="CF6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72200" y="4590288"/>
            <a:ext cx="5242255" cy="877824"/>
          </a:xfrm>
          <a:prstGeom prst="roundRect">
            <a:avLst>
              <a:gd name="adj" fmla="val 7291"/>
            </a:avLst>
          </a:prstGeom>
          <a:solidFill>
            <a:srgbClr val="EDE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5596128"/>
            <a:ext cx="10637215" cy="676656"/>
          </a:xfrm>
          <a:prstGeom prst="roundRect">
            <a:avLst>
              <a:gd name="adj" fmla="val 8108"/>
            </a:avLst>
          </a:prstGeom>
          <a:solidFill>
            <a:srgbClr val="F4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" y="466344"/>
            <a:ext cx="8229600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F6F4B"/>
                </a:solidFill>
                <a:latin typeface="Noto Sans CJK SC"/>
                <a:ea typeface="Noto Sans CJK SC"/>
                <a:cs typeface="Noto Sans CJK SC"/>
              </a:rPr>
              <a:t>进展与展望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768096"/>
            <a:ext cx="10637215" cy="86868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3201B"/>
                </a:solidFill>
                <a:latin typeface="Noto Serif CJK SC"/>
                <a:ea typeface="Noto Serif CJK SC"/>
                <a:cs typeface="Noto Serif CJK SC"/>
              </a:rPr>
              <a:t>进展、诚实的局限与下一步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473952"/>
            <a:ext cx="8229600" cy="32004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让机器狗摔倒后会反思 · 组会汇报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5655" y="6473952"/>
            <a:ext cx="1828800" cy="32004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6 /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1828800"/>
            <a:ext cx="5120640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进展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2651760"/>
            <a:ext cx="5120640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8 个阶段已完成 7 个；论文（ICRA 会议格式，8 页）初稿已成型。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2999232"/>
            <a:ext cx="5120640" cy="54864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99F90"/>
                </a:solidFill>
                <a:latin typeface="Noto Sans CJK SC"/>
                <a:ea typeface="Noto Sans CJK SC"/>
                <a:cs typeface="Noto Sans CJK SC"/>
              </a:rPr>
              <a:t>仿真搭建 · 失败情形库 · 监测＋反射 · 安全护盾 · 物理状态感知 · 语义地图 · 数据＋训练 ✓　｜　完整评测（进行中）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639312"/>
            <a:ext cx="5120640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诚实的局限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1" y="4041648"/>
            <a:ext cx="4864607" cy="54864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E655A"/>
                </a:solidFill>
                <a:latin typeface="Noto Sans CJK SC"/>
                <a:ea typeface="Noto Sans CJK SC"/>
                <a:cs typeface="Noto Sans CJK SC"/>
              </a:rPr>
              <a:t>数据集还偏小（几百条，属“打通流程”级，目标上千）。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1" y="4553712"/>
            <a:ext cx="4864607" cy="54864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E655A"/>
                </a:solidFill>
                <a:latin typeface="Noto Sans CJK SC"/>
                <a:ea typeface="Noto Sans CJK SC"/>
                <a:cs typeface="Noto Sans CJK SC"/>
              </a:rPr>
              <a:t>训练与实际部署的“手感”有差异，闭环成功率仍有提升（3 个测试场景成功 1 个）。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1" y="5065776"/>
            <a:ext cx="4864607" cy="54864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E655A"/>
                </a:solidFill>
                <a:latin typeface="Noto Sans CJK SC"/>
                <a:ea typeface="Noto Sans CJK SC"/>
                <a:cs typeface="Noto Sans CJK SC"/>
              </a:rPr>
              <a:t>“偏好优化”暂未超过基础训练——因为基础训练本身已接近上限。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1828800"/>
            <a:ext cx="5242255" cy="36576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下一步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2286000"/>
            <a:ext cx="5242255" cy="50292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F6F4B"/>
                </a:solidFill>
                <a:latin typeface="Noto Sans CJK SC"/>
                <a:ea typeface="Noto Sans CJK SC"/>
                <a:cs typeface="Noto Sans CJK SC"/>
              </a:rPr>
              <a:t>① </a:t>
            </a:r>
            <a:r>
              <a:rPr sz="130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扩大数据规模（更多仿真场景与样本）。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2816352"/>
            <a:ext cx="5242255" cy="50292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F6F4B"/>
                </a:solidFill>
                <a:latin typeface="Noto Sans CJK SC"/>
                <a:ea typeface="Noto Sans CJK SC"/>
                <a:cs typeface="Noto Sans CJK SC"/>
              </a:rPr>
              <a:t>② </a:t>
            </a:r>
            <a:r>
              <a:rPr sz="130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完善“偏好优化”，争取再上一个台阶。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3346704"/>
            <a:ext cx="5242255" cy="50292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F6F4B"/>
                </a:solidFill>
                <a:latin typeface="Noto Sans CJK SC"/>
                <a:ea typeface="Noto Sans CJK SC"/>
                <a:cs typeface="Noto Sans CJK SC"/>
              </a:rPr>
              <a:t>③ </a:t>
            </a:r>
            <a:r>
              <a:rPr sz="130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做完整评测 ＋ 公平的基线对比。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3877056"/>
            <a:ext cx="5242255" cy="50292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F6F4B"/>
                </a:solidFill>
                <a:latin typeface="Noto Sans CJK SC"/>
                <a:ea typeface="Noto Sans CJK SC"/>
                <a:cs typeface="Noto Sans CJK SC"/>
              </a:rPr>
              <a:t>④ </a:t>
            </a:r>
            <a:r>
              <a:rPr sz="130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目标投稿 RSS / CoRL / ICRA / IROS 等机器人会议。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4590288"/>
            <a:ext cx="4839919" cy="877824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核心结论：</a:t>
            </a:r>
            <a:r>
              <a:rPr sz="135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当“手感”分不出原因时，准确率 97.4%（会反思）对 23.7%（规则）。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5596128"/>
            <a:ext cx="10180015" cy="676656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A9542F"/>
                </a:solidFill>
                <a:latin typeface="Noto Sans CJK SC"/>
                <a:ea typeface="Noto Sans CJK SC"/>
                <a:cs typeface="Noto Sans CJK SC"/>
              </a:rPr>
              <a:t>一句话总结：</a:t>
            </a:r>
            <a:r>
              <a:rPr sz="1450" b="0" i="0">
                <a:solidFill>
                  <a:srgbClr val="23201B"/>
                </a:solidFill>
                <a:latin typeface="Noto Sans CJK SC"/>
                <a:ea typeface="Noto Sans CJK SC"/>
                <a:cs typeface="Noto Sans CJK SC"/>
              </a:rPr>
              <a:t>当“手感”无法分辨失败原因时，“看图 ＋ 推理”不可替代；再加上数学安全保证，机器狗就能“一边反思、一边不摔”。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