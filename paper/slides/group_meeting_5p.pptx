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A4A"/>
                </a:solidFill>
              </a:rPr>
              <a:t>Feel It, See It, Recover</a:t>
            </a:r>
          </a:p>
          <a:p>
            <a:r>
              <a:rPr sz="1400" i="1">
                <a:solidFill>
                  <a:srgbClr val="B03A2E"/>
                </a:solidFill>
              </a:rPr>
              <a:t>Cross-Modal Failure Attribution for Safe Quadrupedal-Navigation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3444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22A4A"/>
                </a:solidFill>
              </a:rPr>
              <a:t>▪  The problem.</a:t>
            </a:r>
            <a:r>
              <a:rPr sz="1500" b="0">
                <a:solidFill>
                  <a:srgbClr val="122A4A"/>
                </a:solidFill>
              </a:rPr>
              <a:t> A legged robot walking over unknown terrain sometimes fails — it slips, gets stuck, or is overloaded. To recover *safely* it must first diagnose </a:t>
            </a:r>
            <a:r>
              <a:rPr sz="1500" b="1">
                <a:solidFill>
                  <a:srgbClr val="122A4A"/>
                </a:solidFill>
              </a:rPr>
              <a:t>why</a:t>
            </a:r>
            <a:r>
              <a:rPr sz="1500" b="0">
                <a:solidFill>
                  <a:srgbClr val="122A4A"/>
                </a:solidFill>
              </a:rPr>
              <a:t> — and the honest evidence is split across two senses that often </a:t>
            </a:r>
            <a:r>
              <a:rPr sz="1500" b="1">
                <a:solidFill>
                  <a:srgbClr val="122A4A"/>
                </a:solidFill>
              </a:rPr>
              <a:t>disagree</a:t>
            </a:r>
            <a:r>
              <a:rPr sz="1500" b="0">
                <a:solidFill>
                  <a:srgbClr val="122A4A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22A4A"/>
                </a:solidFill>
              </a:rPr>
              <a:t>▪  Two senses, each with blind spots.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444444"/>
                </a:solidFill>
              </a:rPr>
              <a:t>–  Proprioception</a:t>
            </a:r>
            <a:r>
              <a:rPr sz="1400" b="0">
                <a:solidFill>
                  <a:srgbClr val="444444"/>
                </a:solidFill>
              </a:rPr>
              <a:t> — the robot's own body sensing (joint torques, foot slip, IMU) at </a:t>
            </a:r>
            <a:r>
              <a:rPr sz="1400" b="1">
                <a:solidFill>
                  <a:srgbClr val="444444"/>
                </a:solidFill>
              </a:rPr>
              <a:t>1000 Hz</a:t>
            </a:r>
            <a:r>
              <a:rPr sz="1400" b="0">
                <a:solidFill>
                  <a:srgbClr val="444444"/>
                </a:solidFill>
              </a:rPr>
              <a:t>: fast and always-on, but it *cannot see*.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444444"/>
                </a:solidFill>
              </a:rPr>
              <a:t>–  Vision (RGB-D camera)</a:t>
            </a:r>
            <a:r>
              <a:rPr sz="1400" b="0">
                <a:solidFill>
                  <a:srgbClr val="444444"/>
                </a:solidFill>
              </a:rPr>
              <a:t> — reads the surface look, but is fooled by *appearance*: a patch that looks safe but is slippery ice; a glass wall that is invisible.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22A4A"/>
                </a:solidFill>
              </a:rPr>
              <a:t>▪  This work's thesis.</a:t>
            </a:r>
            <a:r>
              <a:rPr sz="1500" b="0">
                <a:solidFill>
                  <a:srgbClr val="122A4A"/>
                </a:solidFill>
              </a:rPr>
              <a:t> Resolving these cross-modal conflicts — deciding which sense to trust, *per situation* — is a distinct cognitive operation that is: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</a:rPr>
              <a:t>–  (1) </a:t>
            </a:r>
            <a:r>
              <a:rPr sz="1400" b="1">
                <a:solidFill>
                  <a:srgbClr val="444444"/>
                </a:solidFill>
              </a:rPr>
              <a:t>necessary</a:t>
            </a:r>
            <a:r>
              <a:rPr sz="1400" b="0">
                <a:solidFill>
                  <a:srgbClr val="444444"/>
                </a:solidFill>
              </a:rPr>
              <a:t> — each sense has failures only the other can solve;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</a:rPr>
              <a:t>–  (2) </a:t>
            </a:r>
            <a:r>
              <a:rPr sz="1400" b="1">
                <a:solidFill>
                  <a:srgbClr val="444444"/>
                </a:solidFill>
              </a:rPr>
              <a:t>learned</a:t>
            </a:r>
            <a:r>
              <a:rPr sz="1400" b="0">
                <a:solidFill>
                  <a:srgbClr val="444444"/>
                </a:solidFill>
              </a:rPr>
              <a:t> — merely plugging in a camera is not enough;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</a:rPr>
              <a:t>–  (3) </a:t>
            </a:r>
            <a:r>
              <a:rPr sz="1400" b="1">
                <a:solidFill>
                  <a:srgbClr val="444444"/>
                </a:solidFill>
              </a:rPr>
              <a:t>consequential</a:t>
            </a:r>
            <a:r>
              <a:rPr sz="1400" b="0">
                <a:solidFill>
                  <a:srgbClr val="444444"/>
                </a:solidFill>
              </a:rPr>
              <a:t> — the diagnosis causally determines whether the robot falls / gets stuck / reaches the goal;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</a:rPr>
              <a:t>–  (4) </a:t>
            </a:r>
            <a:r>
              <a:rPr sz="1400" b="1">
                <a:solidFill>
                  <a:srgbClr val="444444"/>
                </a:solidFill>
              </a:rPr>
              <a:t>generalizes</a:t>
            </a:r>
            <a:r>
              <a:rPr sz="1400" b="0">
                <a:solidFill>
                  <a:srgbClr val="444444"/>
                </a:solidFill>
              </a:rPr>
              <a:t> and can self-assess its own uncertainty.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22A4A"/>
                </a:solidFill>
              </a:rPr>
              <a:t>▪  Contributions (this talk):</a:t>
            </a:r>
            <a:r>
              <a:rPr sz="1500" b="0">
                <a:solidFill>
                  <a:srgbClr val="122A4A"/>
                </a:solidFill>
              </a:rPr>
              <a:t> a certified benchmark + a learned cross-modal attributor (KinoVLA) + a measured safe-recovery guarantee — all on a physically-simulated Unitree Go2 with real RTX rendering and real CLIP 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A4A"/>
                </a:solidFill>
              </a:rPr>
              <a:t>Neither Sense Suffices</a:t>
            </a:r>
          </a:p>
          <a:p>
            <a:r>
              <a:rPr sz="1400" i="1">
                <a:solidFill>
                  <a:srgbClr val="B03A2E"/>
                </a:solidFill>
              </a:rPr>
              <a:t>A bidirectional necessity result (Claim C1)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34440"/>
            <a:ext cx="6492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22A4A"/>
                </a:solidFill>
              </a:rPr>
              <a:t>▪  We organize every failure by </a:t>
            </a:r>
            <a:r>
              <a:rPr sz="1400" b="1">
                <a:solidFill>
                  <a:srgbClr val="122A4A"/>
                </a:solidFill>
              </a:rPr>
              <a:t>which sense decides it</a:t>
            </a:r>
            <a:r>
              <a:rPr sz="1400" b="0">
                <a:solidFill>
                  <a:srgbClr val="122A4A"/>
                </a:solidFill>
              </a:rPr>
              <a:t> (the *conflict taxonomy*):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444444"/>
                </a:solidFill>
              </a:rPr>
              <a:t>–  T2 — vision-decidable:</a:t>
            </a:r>
            <a:r>
              <a:rPr sz="1300" b="0">
                <a:solidFill>
                  <a:srgbClr val="444444"/>
                </a:solidFill>
              </a:rPr>
              <a:t> the body-feel is *genuinely ambiguous* — two different hazards feel identical — only the camera separates them.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444444"/>
                </a:solidFill>
              </a:rPr>
              <a:t>–  T3 — body-decidable:</a:t>
            </a:r>
            <a:r>
              <a:rPr sz="1300" b="0">
                <a:solidFill>
                  <a:srgbClr val="444444"/>
                </a:solidFill>
              </a:rPr>
              <a:t> the camera is *deceived* (slippery ice disguised as safe ground; an invisible glass wall) — only the body-feel reveals it.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22A4A"/>
                </a:solidFill>
              </a:rPr>
              <a:t>▪  Constructive proof (the matched pair).</a:t>
            </a:r>
            <a:r>
              <a:rPr sz="1400" b="0">
                <a:solidFill>
                  <a:srgbClr val="122A4A"/>
                </a:solidFill>
              </a:rPr>
              <a:t> An adhesive / sticky surface (needs back-away) and soft mud (needs high-step-through) are tuned to exert the </a:t>
            </a:r>
            <a:r>
              <a:rPr sz="1400" b="1">
                <a:solidFill>
                  <a:srgbClr val="122A4A"/>
                </a:solidFill>
              </a:rPr>
              <a:t>exact same force</a:t>
            </a:r>
            <a:r>
              <a:rPr sz="1400" b="0">
                <a:solidFill>
                  <a:srgbClr val="122A4A"/>
                </a:solidFill>
              </a:rPr>
              <a:t> on the robot's legs.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</a:rPr>
              <a:t>–  ⇒ the body-sensor signal is </a:t>
            </a:r>
            <a:r>
              <a:rPr sz="1300" b="1">
                <a:solidFill>
                  <a:srgbClr val="444444"/>
                </a:solidFill>
              </a:rPr>
              <a:t>byte-for-byte identical</a:t>
            </a:r>
            <a:r>
              <a:rPr sz="1300" b="0">
                <a:solidFill>
                  <a:srgbClr val="444444"/>
                </a:solidFill>
              </a:rPr>
              <a:t> (max difference = </a:t>
            </a:r>
            <a:r>
              <a:rPr sz="1300" b="1">
                <a:solidFill>
                  <a:srgbClr val="444444"/>
                </a:solidFill>
              </a:rPr>
              <a:t>0.0</a:t>
            </a:r>
            <a:r>
              <a:rPr sz="1300" b="0">
                <a:solidFill>
                  <a:srgbClr val="444444"/>
                </a:solidFill>
              </a:rPr>
              <a:t>); yet real CLIP vision separates them perfectly (AUC = </a:t>
            </a:r>
            <a:r>
              <a:rPr sz="1300" b="1">
                <a:solidFill>
                  <a:srgbClr val="444444"/>
                </a:solidFill>
              </a:rPr>
              <a:t>1.0</a:t>
            </a:r>
            <a:r>
              <a:rPr sz="1300" b="0">
                <a:solidFill>
                  <a:srgbClr val="444444"/>
                </a:solidFill>
              </a:rPr>
              <a:t>). Body-feel alone is provably blind.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22A4A"/>
                </a:solidFill>
              </a:rPr>
              <a:t>▪  Mirror proof (T3).</a:t>
            </a:r>
            <a:r>
              <a:rPr sz="1400" b="0">
                <a:solidFill>
                  <a:srgbClr val="122A4A"/>
                </a:solidFill>
              </a:rPr>
              <a:t> On a patch that *looks* like safe ground but is slippery ice, vision is blind (CLIP AUC = </a:t>
            </a:r>
            <a:r>
              <a:rPr sz="1400" b="1">
                <a:solidFill>
                  <a:srgbClr val="122A4A"/>
                </a:solidFill>
              </a:rPr>
              <a:t>0.31</a:t>
            </a:r>
            <a:r>
              <a:rPr sz="1400" b="0">
                <a:solidFill>
                  <a:srgbClr val="122A4A"/>
                </a:solidFill>
              </a:rPr>
              <a:t>) while body-feel is decisive (AUC = </a:t>
            </a:r>
            <a:r>
              <a:rPr sz="1400" b="1">
                <a:solidFill>
                  <a:srgbClr val="122A4A"/>
                </a:solidFill>
              </a:rPr>
              <a:t>1.0</a:t>
            </a:r>
            <a:r>
              <a:rPr sz="1400" b="0">
                <a:solidFill>
                  <a:srgbClr val="122A4A"/>
                </a:solidFill>
              </a:rPr>
              <a:t>); on an invisible wall, body-feel detects it (</a:t>
            </a:r>
            <a:r>
              <a:rPr sz="1400" b="1">
                <a:solidFill>
                  <a:srgbClr val="122A4A"/>
                </a:solidFill>
              </a:rPr>
              <a:t>100%</a:t>
            </a:r>
            <a:r>
              <a:rPr sz="1400" b="0">
                <a:solidFill>
                  <a:srgbClr val="122A4A"/>
                </a:solidFill>
              </a:rPr>
              <a:t>), vision cannot (</a:t>
            </a:r>
            <a:r>
              <a:rPr sz="1400" b="1">
                <a:solidFill>
                  <a:srgbClr val="122A4A"/>
                </a:solidFill>
              </a:rPr>
              <a:t>0%</a:t>
            </a:r>
            <a:r>
              <a:rPr sz="1400" b="0">
                <a:solidFill>
                  <a:srgbClr val="122A4A"/>
                </a:solidFill>
              </a:rPr>
              <a:t>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22A4A"/>
                </a:solidFill>
              </a:rPr>
              <a:t>▪  ⇒ </a:t>
            </a:r>
            <a:r>
              <a:rPr sz="1400" b="1">
                <a:solidFill>
                  <a:srgbClr val="122A4A"/>
                </a:solidFill>
              </a:rPr>
              <a:t>Necessity is bidirectional</a:t>
            </a:r>
            <a:r>
              <a:rPr sz="1400" b="0">
                <a:solidFill>
                  <a:srgbClr val="122A4A"/>
                </a:solidFill>
              </a:rPr>
              <a:t>: no single modality subsumes the other. "Feel It AND See It."</a:t>
            </a:r>
          </a:p>
        </p:txBody>
      </p:sp>
      <p:pic>
        <p:nvPicPr>
          <p:cNvPr id="4" name="Picture 3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0"/>
            <a:ext cx="5029200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44444"/>
                </a:solidFill>
              </a:rPr>
              <a:t>Feel It, See It, Recover  ·  Cross-Modal Failure Attribution for Safe Quadrupedal Recovery   | 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A4A"/>
                </a:solidFill>
              </a:rPr>
              <a:t>Having Eyes Is Not Using Them</a:t>
            </a:r>
          </a:p>
          <a:p>
            <a:r>
              <a:rPr sz="1400" i="1">
                <a:solidFill>
                  <a:srgbClr val="B03A2E"/>
                </a:solidFill>
              </a:rPr>
              <a:t>Conflict resolution is a learned skill (Claims C2, C5)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34440"/>
            <a:ext cx="6492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Claim:</a:t>
            </a:r>
            <a:r>
              <a:rPr sz="1300" b="0">
                <a:solidFill>
                  <a:srgbClr val="122A4A"/>
                </a:solidFill>
              </a:rPr>
              <a:t> adding a camera does </a:t>
            </a:r>
            <a:r>
              <a:rPr sz="1300" b="1">
                <a:solidFill>
                  <a:srgbClr val="122A4A"/>
                </a:solidFill>
              </a:rPr>
              <a:t>not</a:t>
            </a:r>
            <a:r>
              <a:rPr sz="1300" b="0">
                <a:solidFill>
                  <a:srgbClr val="122A4A"/>
                </a:solidFill>
              </a:rPr>
              <a:t> solve conflicts — the model must be *taught* to weigh evidence against appearance.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Three-row result</a:t>
            </a:r>
            <a:r>
              <a:rPr sz="1300" b="0">
                <a:solidFill>
                  <a:srgbClr val="122A4A"/>
                </a:solidFill>
              </a:rPr>
              <a:t> (balanced accuracy — a metric immune to gaming):</a:t>
            </a:r>
          </a:p>
          <a:p>
            <a:pPr lvl="1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</a:rPr>
              <a:t>–  Body-only agent: 0.50</a:t>
            </a:r>
            <a:r>
              <a:rPr sz="1200" b="0">
                <a:solidFill>
                  <a:srgbClr val="444444"/>
                </a:solidFill>
              </a:rPr>
              <a:t> — provably capped (on a byte-identical pair it can only output one constant guess).</a:t>
            </a:r>
          </a:p>
          <a:p>
            <a:pPr lvl="1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</a:rPr>
              <a:t>–  Four "has-vision" agents</a:t>
            </a:r>
            <a:r>
              <a:rPr sz="1200" b="0">
                <a:solidFill>
                  <a:srgbClr val="444444"/>
                </a:solidFill>
              </a:rPr>
              <a:t> (incl. a frozen CLIP+body fusion): all plateau at </a:t>
            </a:r>
            <a:r>
              <a:rPr sz="1200" b="1">
                <a:solidFill>
                  <a:srgbClr val="444444"/>
                </a:solidFill>
              </a:rPr>
              <a:t>0.80</a:t>
            </a:r>
            <a:r>
              <a:rPr sz="1200" b="0">
                <a:solidFill>
                  <a:srgbClr val="444444"/>
                </a:solidFill>
              </a:rPr>
              <a:t> — they solve the vision-decidable cases but crack nothing more.</a:t>
            </a:r>
          </a:p>
          <a:p>
            <a:pPr lvl="1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</a:rPr>
              <a:t>–  Our full model</a:t>
            </a:r>
            <a:r>
              <a:rPr sz="1200" b="0">
                <a:solidFill>
                  <a:srgbClr val="444444"/>
                </a:solidFill>
              </a:rPr>
              <a:t> (latent </a:t>
            </a:r>
            <a:r>
              <a:rPr sz="1200" b="1">
                <a:solidFill>
                  <a:srgbClr val="444444"/>
                </a:solidFill>
              </a:rPr>
              <a:t>Kino-Tokens</a:t>
            </a:r>
            <a:r>
              <a:rPr sz="1200" b="0">
                <a:solidFill>
                  <a:srgbClr val="444444"/>
                </a:solidFill>
              </a:rPr>
              <a:t> + conflict </a:t>
            </a:r>
            <a:r>
              <a:rPr sz="1200" b="1">
                <a:solidFill>
                  <a:srgbClr val="444444"/>
                </a:solidFill>
              </a:rPr>
              <a:t>chain-of-thought</a:t>
            </a:r>
            <a:r>
              <a:rPr sz="1200" b="0">
                <a:solidFill>
                  <a:srgbClr val="444444"/>
                </a:solidFill>
              </a:rPr>
              <a:t>): </a:t>
            </a:r>
            <a:r>
              <a:rPr sz="1200" b="1">
                <a:solidFill>
                  <a:srgbClr val="444444"/>
                </a:solidFill>
              </a:rPr>
              <a:t>0.90</a:t>
            </a:r>
            <a:r>
              <a:rPr sz="1200" b="0">
                <a:solidFill>
                  <a:srgbClr val="444444"/>
                </a:solidFill>
              </a:rPr>
              <a:t> — the only one that breaks the ceiling. Paired McNemar test </a:t>
            </a:r>
            <a:r>
              <a:rPr sz="1200" b="1">
                <a:solidFill>
                  <a:srgbClr val="444444"/>
                </a:solidFill>
              </a:rPr>
              <a:t>p &lt; 1e-5</a:t>
            </a:r>
            <a:r>
              <a:rPr sz="1200" b="0">
                <a:solidFill>
                  <a:srgbClr val="444444"/>
                </a:solidFill>
              </a:rPr>
              <a:t>; reproduced across </a:t>
            </a:r>
            <a:r>
              <a:rPr sz="1200" b="1">
                <a:solidFill>
                  <a:srgbClr val="444444"/>
                </a:solidFill>
              </a:rPr>
              <a:t>3 seeds (0.900 / 0.900 / 0.900)</a:t>
            </a:r>
            <a:r>
              <a:rPr sz="1200" b="0">
                <a:solidFill>
                  <a:srgbClr val="444444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Shortcut-killer (appearance held-out):</a:t>
            </a:r>
            <a:r>
              <a:rPr sz="1300" b="0">
                <a:solidFill>
                  <a:srgbClr val="122A4A"/>
                </a:solidFill>
              </a:rPr>
              <a:t> trained on some surface looks, tested on </a:t>
            </a:r>
            <a:r>
              <a:rPr sz="1300" b="1">
                <a:solidFill>
                  <a:srgbClr val="122A4A"/>
                </a:solidFill>
              </a:rPr>
              <a:t>never-seen</a:t>
            </a:r>
            <a:r>
              <a:rPr sz="1300" b="0">
                <a:solidFill>
                  <a:srgbClr val="122A4A"/>
                </a:solidFill>
              </a:rPr>
              <a:t> looks → still </a:t>
            </a:r>
            <a:r>
              <a:rPr sz="1300" b="1">
                <a:solidFill>
                  <a:srgbClr val="122A4A"/>
                </a:solidFill>
              </a:rPr>
              <a:t>0.83</a:t>
            </a:r>
            <a:r>
              <a:rPr sz="1300" b="0">
                <a:solidFill>
                  <a:srgbClr val="122A4A"/>
                </a:solidFill>
              </a:rPr>
              <a:t> ⇒ it learned the *physics concept*, not a color cue. It even beats a frozen CLIP classifier on looks CLIP cannot separate ⇒ genuine reasoning.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Bidirectional evidence-weighing (figure):</a:t>
            </a:r>
            <a:r>
              <a:rPr sz="1300" b="0">
                <a:solidFill>
                  <a:srgbClr val="122A4A"/>
                </a:solidFill>
              </a:rPr>
              <a:t> a model trained only on "trust-vision" conflicts scores </a:t>
            </a:r>
            <a:r>
              <a:rPr sz="1300" b="1">
                <a:solidFill>
                  <a:srgbClr val="122A4A"/>
                </a:solidFill>
              </a:rPr>
              <a:t>0</a:t>
            </a:r>
            <a:r>
              <a:rPr sz="1300" b="0">
                <a:solidFill>
                  <a:srgbClr val="122A4A"/>
                </a:solidFill>
              </a:rPr>
              <a:t> on "trust-body" conflicts; trained </a:t>
            </a:r>
            <a:r>
              <a:rPr sz="1300" b="1">
                <a:solidFill>
                  <a:srgbClr val="122A4A"/>
                </a:solidFill>
              </a:rPr>
              <a:t>bidirectionally</a:t>
            </a:r>
            <a:r>
              <a:rPr sz="1300" b="0">
                <a:solidFill>
                  <a:srgbClr val="122A4A"/>
                </a:solidFill>
              </a:rPr>
              <a:t> it correctly </a:t>
            </a:r>
            <a:r>
              <a:rPr sz="1300" b="1">
                <a:solidFill>
                  <a:srgbClr val="122A4A"/>
                </a:solidFill>
              </a:rPr>
              <a:t>overrides a benign look when the body-signal is strong</a:t>
            </a:r>
            <a:r>
              <a:rPr sz="1300" b="0">
                <a:solidFill>
                  <a:srgbClr val="122A4A"/>
                </a:solidFill>
              </a:rPr>
              <a:t> (probability of "slippery" rises monotonically as slip grows). Genuine weighing — not "always trust the camera."</a:t>
            </a:r>
          </a:p>
        </p:txBody>
      </p:sp>
      <p:pic>
        <p:nvPicPr>
          <p:cNvPr id="4" name="Picture 3" descr="dos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846320" cy="3461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44444"/>
                </a:solidFill>
              </a:rPr>
              <a:t>Feel It, See It, Recover  ·  Cross-Modal Failure Attribution for Safe Quadrupedal Recovery   | 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A4A"/>
                </a:solidFill>
              </a:rPr>
              <a:t>Wrong Diagnosis → Wrong Recovery</a:t>
            </a:r>
          </a:p>
          <a:p>
            <a:r>
              <a:rPr sz="1400" i="1">
                <a:solidFill>
                  <a:srgbClr val="B03A2E"/>
                </a:solidFill>
              </a:rPr>
              <a:t>Attribution causally determines safety (Claim C3) + the intervention boundary (C4)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3444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The label-swap matrix M.</a:t>
            </a:r>
            <a:r>
              <a:rPr sz="1300" b="0">
                <a:solidFill>
                  <a:srgbClr val="122A4A"/>
                </a:solidFill>
              </a:rPr>
              <a:t> Hold the physical scene fixed, </a:t>
            </a:r>
            <a:r>
              <a:rPr sz="1300" b="1">
                <a:solidFill>
                  <a:srgbClr val="122A4A"/>
                </a:solidFill>
              </a:rPr>
              <a:t>force</a:t>
            </a:r>
            <a:r>
              <a:rPr sz="1300" b="0">
                <a:solidFill>
                  <a:srgbClr val="122A4A"/>
                </a:solidFill>
              </a:rPr>
              <a:t> each recovery action (a *label*), measure the real outcome on the robot — isolating the causal effect of the diagnosis. </a:t>
            </a:r>
            <a:r>
              <a:rPr sz="1300" b="1">
                <a:solidFill>
                  <a:srgbClr val="122A4A"/>
                </a:solidFill>
              </a:rPr>
              <a:t>630 real-robot episodes</a:t>
            </a:r>
            <a:r>
              <a:rPr sz="1300" b="0">
                <a:solidFill>
                  <a:srgbClr val="122A4A"/>
                </a:solidFill>
              </a:rPr>
              <a:t>, deterministic (reproducible).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The diagonal dominates:</a:t>
            </a:r>
            <a:r>
              <a:rPr sz="1300" b="0">
                <a:solidFill>
                  <a:srgbClr val="122A4A"/>
                </a:solidFill>
              </a:rPr>
              <a:t> each hazard's *correct* recovery succeeds (rate </a:t>
            </a:r>
            <a:r>
              <a:rPr sz="1300" b="1">
                <a:solidFill>
                  <a:srgbClr val="122A4A"/>
                </a:solidFill>
              </a:rPr>
              <a:t>1.0</a:t>
            </a:r>
            <a:r>
              <a:rPr sz="1300" b="0">
                <a:solidFill>
                  <a:srgbClr val="122A4A"/>
                </a:solidFill>
              </a:rPr>
              <a:t>); wrong recoveries fail (</a:t>
            </a:r>
            <a:r>
              <a:rPr sz="1300" b="1">
                <a:solidFill>
                  <a:srgbClr val="122A4A"/>
                </a:solidFill>
              </a:rPr>
              <a:t>0.0</a:t>
            </a:r>
            <a:r>
              <a:rPr sz="1300" b="0">
                <a:solidFill>
                  <a:srgbClr val="122A4A"/>
                </a:solidFill>
              </a:rPr>
              <a:t>) — statistically separated.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The headline asymmetry: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–  Pushing-through (correct for </a:t>
            </a:r>
            <a:r>
              <a:rPr sz="1200" b="1">
                <a:solidFill>
                  <a:srgbClr val="444444"/>
                </a:solidFill>
              </a:rPr>
              <a:t>mud</a:t>
            </a:r>
            <a:r>
              <a:rPr sz="1200" b="0">
                <a:solidFill>
                  <a:srgbClr val="444444"/>
                </a:solidFill>
              </a:rPr>
              <a:t>) on a </a:t>
            </a:r>
            <a:r>
              <a:rPr sz="1200" b="1">
                <a:solidFill>
                  <a:srgbClr val="444444"/>
                </a:solidFill>
              </a:rPr>
              <a:t>sticky</a:t>
            </a:r>
            <a:r>
              <a:rPr sz="1200" b="0">
                <a:solidFill>
                  <a:srgbClr val="444444"/>
                </a:solidFill>
              </a:rPr>
              <a:t> surface → the robot gets </a:t>
            </a:r>
            <a:r>
              <a:rPr sz="1200" b="1">
                <a:solidFill>
                  <a:srgbClr val="444444"/>
                </a:solidFill>
              </a:rPr>
              <a:t>stuck</a:t>
            </a:r>
            <a:r>
              <a:rPr sz="1200" b="0">
                <a:solidFill>
                  <a:srgbClr val="444444"/>
                </a:solidFill>
              </a:rPr>
              <a:t> (cost </a:t>
            </a:r>
            <a:r>
              <a:rPr sz="1200" b="1">
                <a:solidFill>
                  <a:srgbClr val="444444"/>
                </a:solidFill>
              </a:rPr>
              <a:t>4×</a:t>
            </a:r>
            <a:r>
              <a:rPr sz="1200" b="0">
                <a:solidFill>
                  <a:srgbClr val="444444"/>
                </a:solidFill>
              </a:rPr>
              <a:t>);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–  Backing-out (correct for </a:t>
            </a:r>
            <a:r>
              <a:rPr sz="1200" b="1">
                <a:solidFill>
                  <a:srgbClr val="444444"/>
                </a:solidFill>
              </a:rPr>
              <a:t>sticky</a:t>
            </a:r>
            <a:r>
              <a:rPr sz="1200" b="0">
                <a:solidFill>
                  <a:srgbClr val="444444"/>
                </a:solidFill>
              </a:rPr>
              <a:t>) on </a:t>
            </a:r>
            <a:r>
              <a:rPr sz="1200" b="1">
                <a:solidFill>
                  <a:srgbClr val="444444"/>
                </a:solidFill>
              </a:rPr>
              <a:t>mud</a:t>
            </a:r>
            <a:r>
              <a:rPr sz="1200" b="0">
                <a:solidFill>
                  <a:srgbClr val="444444"/>
                </a:solidFill>
              </a:rPr>
              <a:t> → merely </a:t>
            </a:r>
            <a:r>
              <a:rPr sz="1200" b="1">
                <a:solidFill>
                  <a:srgbClr val="444444"/>
                </a:solidFill>
              </a:rPr>
              <a:t>slow</a:t>
            </a:r>
            <a:r>
              <a:rPr sz="1200" b="0">
                <a:solidFill>
                  <a:srgbClr val="444444"/>
                </a:solidFill>
              </a:rPr>
              <a:t> (cost </a:t>
            </a:r>
            <a:r>
              <a:rPr sz="1200" b="1">
                <a:solidFill>
                  <a:srgbClr val="444444"/>
                </a:solidFill>
              </a:rPr>
              <a:t>1×</a:t>
            </a:r>
            <a:r>
              <a:rPr sz="1200" b="0">
                <a:solidFill>
                  <a:srgbClr val="444444"/>
                </a:solidFill>
              </a:rPr>
              <a:t>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⇒ mis-diagnosis cost is </a:t>
            </a:r>
            <a:r>
              <a:rPr sz="1300" b="1">
                <a:solidFill>
                  <a:srgbClr val="122A4A"/>
                </a:solidFill>
              </a:rPr>
              <a:t>asymmetric</a:t>
            </a:r>
            <a:r>
              <a:rPr sz="1300" b="0">
                <a:solidFill>
                  <a:srgbClr val="122A4A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A safe default emerges (figure).</a:t>
            </a:r>
            <a:r>
              <a:rPr sz="1300" b="0">
                <a:solidFill>
                  <a:srgbClr val="122A4A"/>
                </a:solidFill>
              </a:rPr>
              <a:t> When unsure whether a patch is sticky or mud, </a:t>
            </a:r>
            <a:r>
              <a:rPr sz="1300" b="1">
                <a:solidFill>
                  <a:srgbClr val="122A4A"/>
                </a:solidFill>
              </a:rPr>
              <a:t>backing-out</a:t>
            </a:r>
            <a:r>
              <a:rPr sz="1300" b="0">
                <a:solidFill>
                  <a:srgbClr val="122A4A"/>
                </a:solidFill>
              </a:rPr>
              <a:t> is the expected-cost-minimizing action as soon as sticky-surface belief exceeds just </a:t>
            </a:r>
            <a:r>
              <a:rPr sz="1300" b="1">
                <a:solidFill>
                  <a:srgbClr val="122A4A"/>
                </a:solidFill>
              </a:rPr>
              <a:t>25%</a:t>
            </a:r>
            <a:r>
              <a:rPr sz="1300" b="0">
                <a:solidFill>
                  <a:srgbClr val="122A4A"/>
                </a:solidFill>
              </a:rPr>
              <a:t> — a decision-theoretic "Safe" rule derived from *measured consequences* (no hard-coded safety filter needed).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Intervention boundary:</a:t>
            </a:r>
            <a:r>
              <a:rPr sz="1300" b="0">
                <a:solidFill>
                  <a:srgbClr val="122A4A"/>
                </a:solidFill>
              </a:rPr>
              <a:t> the severity at which the robot's low-level adaptation stops being enough is a clean, agent-independent, reproducible number — </a:t>
            </a:r>
            <a:r>
              <a:rPr sz="1300" b="1">
                <a:solidFill>
                  <a:srgbClr val="122A4A"/>
                </a:solidFill>
              </a:rPr>
              <a:t>θ\* = 0.275</a:t>
            </a:r>
            <a:r>
              <a:rPr sz="1300" b="0">
                <a:solidFill>
                  <a:srgbClr val="122A4A"/>
                </a:solidFill>
              </a:rPr>
              <a:t>.</a:t>
            </a:r>
          </a:p>
        </p:txBody>
      </p:sp>
      <p:pic>
        <p:nvPicPr>
          <p:cNvPr id="4" name="Picture 3" descr="safe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17320"/>
            <a:ext cx="47548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44444"/>
                </a:solidFill>
              </a:rPr>
              <a:t>Feel It, See It, Recover  ·  Cross-Modal Failure Attribution for Safe Quadrupedal Recovery   | 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A4A"/>
                </a:solidFill>
              </a:rPr>
              <a:t>Generalizes — and Knows When It Doesn't</a:t>
            </a:r>
          </a:p>
          <a:p>
            <a:r>
              <a:rPr sz="1400" i="1">
                <a:solidFill>
                  <a:srgbClr val="B03A2E"/>
                </a:solidFill>
              </a:rPr>
              <a:t>Calibrated abstention + a strict safety advantage (Claim C4)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3444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Generalization.</a:t>
            </a:r>
            <a:r>
              <a:rPr sz="1300" b="0">
                <a:solidFill>
                  <a:srgbClr val="122A4A"/>
                </a:solidFill>
              </a:rPr>
              <a:t> Attribution holds across </a:t>
            </a:r>
            <a:r>
              <a:rPr sz="1300" b="1">
                <a:solidFill>
                  <a:srgbClr val="122A4A"/>
                </a:solidFill>
              </a:rPr>
              <a:t>held-out surface appearances</a:t>
            </a:r>
            <a:r>
              <a:rPr sz="1300" b="0">
                <a:solidFill>
                  <a:srgbClr val="122A4A"/>
                </a:solidFill>
              </a:rPr>
              <a:t> (vision-dependent agents degrade most, body-only least — confirming body-feel is the appearance-invariant channel) and across </a:t>
            </a:r>
            <a:r>
              <a:rPr sz="1300" b="1">
                <a:solidFill>
                  <a:srgbClr val="122A4A"/>
                </a:solidFill>
              </a:rPr>
              <a:t>stacked operator combinations</a:t>
            </a:r>
            <a:r>
              <a:rPr sz="1300" b="0">
                <a:solidFill>
                  <a:srgbClr val="122A4A"/>
                </a:solidFill>
              </a:rPr>
              <a:t> (</a:t>
            </a:r>
            <a:r>
              <a:rPr sz="1300" b="1">
                <a:solidFill>
                  <a:srgbClr val="122A4A"/>
                </a:solidFill>
              </a:rPr>
              <a:t>100%</a:t>
            </a:r>
            <a:r>
              <a:rPr sz="1300" b="0">
                <a:solidFill>
                  <a:srgbClr val="122A4A"/>
                </a:solidFill>
              </a:rPr>
              <a:t> dominant-factor recognition).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A usable "I'm uncertain" signal.</a:t>
            </a:r>
            <a:r>
              <a:rPr sz="1300" b="0">
                <a:solidFill>
                  <a:srgbClr val="122A4A"/>
                </a:solidFill>
              </a:rPr>
              <a:t> A small privileged-physics predictor's prediction-error is a calibrated uncertainty score — it detects the model's own attribution errors with </a:t>
            </a:r>
            <a:r>
              <a:rPr sz="1300" b="1">
                <a:solidFill>
                  <a:srgbClr val="122A4A"/>
                </a:solidFill>
              </a:rPr>
              <a:t>AUROC 0.87</a:t>
            </a:r>
            <a:r>
              <a:rPr sz="1300" b="0">
                <a:solidFill>
                  <a:srgbClr val="122A4A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Abstain → safe default (figure).</a:t>
            </a:r>
            <a:r>
              <a:rPr sz="1300" b="0">
                <a:solidFill>
                  <a:srgbClr val="122A4A"/>
                </a:solidFill>
              </a:rPr>
              <a:t> When uncertain, fall back to back-away: the calibrated policy </a:t>
            </a:r>
            <a:r>
              <a:rPr sz="1300" b="1">
                <a:solidFill>
                  <a:srgbClr val="122A4A"/>
                </a:solidFill>
              </a:rPr>
              <a:t>strictly dominates</a:t>
            </a:r>
            <a:r>
              <a:rPr sz="1300" b="0">
                <a:solidFill>
                  <a:srgbClr val="122A4A"/>
                </a:solidFill>
              </a:rPr>
              <a:t> both *always-act-on-the-diagnosis* and *never-intervene*, on expected physical cost — turning the asymmetric mis-diagnosis cost into a </a:t>
            </a:r>
            <a:r>
              <a:rPr sz="1300" b="1">
                <a:solidFill>
                  <a:srgbClr val="122A4A"/>
                </a:solidFill>
              </a:rPr>
              <a:t>strict safety advantage</a:t>
            </a:r>
            <a:r>
              <a:rPr sz="1300" b="0">
                <a:solidFill>
                  <a:srgbClr val="122A4A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The system (real stack):</a:t>
            </a:r>
            <a:r>
              <a:rPr sz="1300" b="0">
                <a:solidFill>
                  <a:srgbClr val="122A4A"/>
                </a:solidFill>
              </a:rPr>
              <a:t> 1 kHz proprioception → </a:t>
            </a:r>
            <a:r>
              <a:rPr sz="1300" b="1">
                <a:solidFill>
                  <a:srgbClr val="122A4A"/>
                </a:solidFill>
              </a:rPr>
              <a:t>Kino-Tokens</a:t>
            </a:r>
            <a:r>
              <a:rPr sz="1300" b="0">
                <a:solidFill>
                  <a:srgbClr val="122A4A"/>
                </a:solidFill>
              </a:rPr>
              <a:t> (compressed body-signal tokens) → a </a:t>
            </a:r>
            <a:r>
              <a:rPr sz="1300" b="1">
                <a:solidFill>
                  <a:srgbClr val="122A4A"/>
                </a:solidFill>
              </a:rPr>
              <a:t>VLA recovery planner</a:t>
            </a:r>
            <a:r>
              <a:rPr sz="1300" b="0">
                <a:solidFill>
                  <a:srgbClr val="122A4A"/>
                </a:solidFill>
              </a:rPr>
              <a:t> (Qwen3-VL-4B + LoRA); evaluated on a physically-simulated Unitree Go2 + real RTX rendering + real CLIP; every number reproducible (deterministic reset).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2A4A"/>
                </a:solidFill>
              </a:rPr>
              <a:t>▪  One line:</a:t>
            </a:r>
            <a:r>
              <a:rPr sz="1300" b="0">
                <a:solidFill>
                  <a:srgbClr val="122A4A"/>
                </a:solidFill>
              </a:rPr>
              <a:t> </a:t>
            </a:r>
            <a:r>
              <a:rPr sz="1300" b="1">
                <a:solidFill>
                  <a:srgbClr val="122A4A"/>
                </a:solidFill>
              </a:rPr>
              <a:t>Feel It</a:t>
            </a:r>
            <a:r>
              <a:rPr sz="1300" b="0">
                <a:solidFill>
                  <a:srgbClr val="122A4A"/>
                </a:solidFill>
              </a:rPr>
              <a:t> (body-feel is necessary + appearance-invariant), </a:t>
            </a:r>
            <a:r>
              <a:rPr sz="1300" b="1">
                <a:solidFill>
                  <a:srgbClr val="122A4A"/>
                </a:solidFill>
              </a:rPr>
              <a:t>See It</a:t>
            </a:r>
            <a:r>
              <a:rPr sz="1300" b="0">
                <a:solidFill>
                  <a:srgbClr val="122A4A"/>
                </a:solidFill>
              </a:rPr>
              <a:t> (vision is necessary + appearance-decidable), </a:t>
            </a:r>
            <a:r>
              <a:rPr sz="1300" b="1">
                <a:solidFill>
                  <a:srgbClr val="122A4A"/>
                </a:solidFill>
              </a:rPr>
              <a:t>Recover</a:t>
            </a:r>
            <a:r>
              <a:rPr sz="1300" b="0">
                <a:solidFill>
                  <a:srgbClr val="122A4A"/>
                </a:solidFill>
              </a:rPr>
              <a:t> (the diagnosis causally determines safe recovery) — with a </a:t>
            </a:r>
            <a:r>
              <a:rPr sz="1300" b="1">
                <a:solidFill>
                  <a:srgbClr val="122A4A"/>
                </a:solidFill>
              </a:rPr>
              <a:t>calibrated escape hatch</a:t>
            </a:r>
            <a:r>
              <a:rPr sz="1300" b="0">
                <a:solidFill>
                  <a:srgbClr val="122A4A"/>
                </a:solidFill>
              </a:rPr>
              <a:t> when uncertain.</a:t>
            </a:r>
          </a:p>
        </p:txBody>
      </p:sp>
      <p:pic>
        <p:nvPicPr>
          <p:cNvPr id="4" name="Picture 3" descr="risk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63040"/>
            <a:ext cx="475488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44444"/>
                </a:solidFill>
              </a:rPr>
              <a:t>Feel It, See It, Recover  ·  Cross-Modal Failure Attribution for Safe Quadrupedal Recovery   | 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