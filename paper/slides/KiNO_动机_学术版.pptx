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561320" y="2103120"/>
            <a:ext cx="1097280" cy="0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561320" y="2103120"/>
            <a:ext cx="775894" cy="775894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61320" y="2103120"/>
            <a:ext cx="0" cy="1097280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785425" y="2103120"/>
            <a:ext cx="775895" cy="775894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464040" y="2103120"/>
            <a:ext cx="1097280" cy="0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785425" y="1327225"/>
            <a:ext cx="775895" cy="775895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561320" y="1005839"/>
            <a:ext cx="0" cy="1097281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561320" y="1327225"/>
            <a:ext cx="775894" cy="775895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61320" y="2103120"/>
            <a:ext cx="603504" cy="0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61320" y="2103120"/>
            <a:ext cx="426741" cy="426741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61320" y="2103120"/>
            <a:ext cx="0" cy="603504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134578" y="2103120"/>
            <a:ext cx="426742" cy="426741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957816" y="2103120"/>
            <a:ext cx="603504" cy="0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0134578" y="1676378"/>
            <a:ext cx="426742" cy="426742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561320" y="1499615"/>
            <a:ext cx="0" cy="603505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561320" y="1676378"/>
            <a:ext cx="426741" cy="426742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8992" y="1307592"/>
            <a:ext cx="118872" cy="0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" y="1307592"/>
            <a:ext cx="84055" cy="84055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8992" y="1307592"/>
            <a:ext cx="0" cy="118872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94936" y="1307592"/>
            <a:ext cx="84056" cy="84055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60119" y="1307592"/>
            <a:ext cx="118873" cy="0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994936" y="1223536"/>
            <a:ext cx="84056" cy="84056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78992" y="1188719"/>
            <a:ext cx="0" cy="118873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8992" y="1223536"/>
            <a:ext cx="84055" cy="84056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3271" y="3822191"/>
            <a:ext cx="2624329" cy="0"/>
          </a:xfrm>
          <a:prstGeom prst="line">
            <a:avLst/>
          </a:prstGeom>
          <a:ln w="3302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7552" y="4059936"/>
            <a:ext cx="10216591" cy="932688"/>
          </a:xfrm>
          <a:prstGeom prst="roundRect">
            <a:avLst>
              <a:gd name="adj" fmla="val 5882"/>
            </a:avLst>
          </a:prstGeom>
          <a:solidFill>
            <a:srgbClr val="F4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005840" y="5870448"/>
            <a:ext cx="101800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98448" y="1152144"/>
            <a:ext cx="96012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机器人学 · 具身智能 · 安全控制　|　投稿目标 RSS / CoRL / ICRA / IROS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1591056"/>
            <a:ext cx="10424160" cy="9144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KiNO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670048"/>
            <a:ext cx="10332720" cy="5486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面向安全四足恢复的跨模态失败归因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3218688"/>
            <a:ext cx="10241280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Feel It, See It, Recover: Cross-Modal Failure Attribution for Safe Quadrupedal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4187952"/>
            <a:ext cx="9722815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核心科学问题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4498848"/>
            <a:ext cx="9722815" cy="438912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哪些物理失败可由底层连续适应恢复，哪些必须依赖语义干预？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248656"/>
            <a:ext cx="10332720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宇树 Go2　·　Isaac Lab 高精度物理仿真　·　Qwen3-VL-4B + LoRA　·　CBF-QP 安全屏障　·　Kino-Fail 基准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998464"/>
            <a:ext cx="68580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五层在线恢复架构 · 一快一慢双速闭环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0815" y="5998464"/>
            <a:ext cx="603504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本汇报取自论文 Abstract / Introduction / Related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91056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8" y="3621024"/>
            <a:ext cx="1490472" cy="0"/>
          </a:xfrm>
          <a:prstGeom prst="line">
            <a:avLst/>
          </a:prstGeom>
          <a:ln w="2540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828800"/>
            <a:ext cx="5059375" cy="1517904"/>
          </a:xfrm>
          <a:prstGeom prst="roundRect">
            <a:avLst>
              <a:gd name="adj" fmla="val 3614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56248" y="2048256"/>
            <a:ext cx="109728" cy="109728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30791" y="1947672"/>
            <a:ext cx="1700784" cy="310896"/>
          </a:xfrm>
          <a:prstGeom prst="roundRect">
            <a:avLst>
              <a:gd name="adj" fmla="val 14705"/>
            </a:avLst>
          </a:prstGeom>
          <a:solidFill>
            <a:srgbClr val="EDE3D2"/>
          </a:solidFill>
          <a:ln w="1016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511296"/>
            <a:ext cx="5059375" cy="1664208"/>
          </a:xfrm>
          <a:prstGeom prst="roundRect">
            <a:avLst>
              <a:gd name="adj" fmla="val 3296"/>
            </a:avLst>
          </a:prstGeom>
          <a:solidFill>
            <a:srgbClr val="F4E2D6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56248" y="3730752"/>
            <a:ext cx="109728" cy="109728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30791" y="3630168"/>
            <a:ext cx="1700784" cy="310896"/>
          </a:xfrm>
          <a:prstGeom prst="roundRect">
            <a:avLst>
              <a:gd name="adj" fmla="val 14705"/>
            </a:avLst>
          </a:prstGeom>
          <a:solidFill>
            <a:srgbClr val="FCFAF5"/>
          </a:solidFill>
          <a:ln w="1016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541264"/>
            <a:ext cx="10637215" cy="749808"/>
          </a:xfrm>
          <a:prstGeom prst="roundRect">
            <a:avLst>
              <a:gd name="adj" fmla="val 7317"/>
            </a:avLst>
          </a:prstGeom>
          <a:solidFill>
            <a:srgbClr val="ED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57200"/>
            <a:ext cx="96012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研究动机 · 可恢复性二分法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强化学习已让四足运动足够鲁棒——但有一类失败，连续反应无法恢复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8686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KiNO · 面向语义失败恢复的闭环具身反思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2 /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1847088"/>
            <a:ext cx="5074920" cy="329184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A 类</a:t>
            </a: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　·　连续适应可恢复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212848"/>
            <a:ext cx="5074920" cy="11887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均匀低摩擦、静态负载偏移、轻度黏性地面：从本体感受历史隐式推断局部动力学，在连续参数空间内调步即可。自适应控制器即可处理——我们不试图改进它。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49039"/>
            <a:ext cx="5074920" cy="329184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B 类</a:t>
            </a: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　·　需离散 / 策略级决策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5074920" cy="12801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后撤松劲、宣告整片区域不可通行、放弃力矩饱和任务并求助：正确恢复是离散、反直觉的，在连续参数空间里“加力 / 调步”只会更糟；错误归因 → 相反的恢复。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1975104"/>
            <a:ext cx="2809951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范例一 · 弹性绳缚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0791" y="1947672"/>
            <a:ext cx="1700784" cy="310896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视觉看不见 → 靠本体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5704" y="2322576"/>
            <a:ext cx="4455871" cy="914399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控制器为维持指令速度而增大力矩 → 绳如被拉满的弓储能 → 最终把机器人甩失衡。安全动作是反直觉的后撤松劲，而非一味加力。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3657600"/>
            <a:ext cx="2809951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范例二 · 黏附陷阱 与 烂泥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30791" y="3630168"/>
            <a:ext cx="1700784" cy="310896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手感相同 → 靠视觉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5704" y="4005072"/>
            <a:ext cx="4455871" cy="1060704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足端突遇阻力：若为黏附陷阱 → 须后撤、标记不可通行、绕行；若为烂泥 → 须抬高步态、推进通过。两种恢复完全相反。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541264"/>
            <a:ext cx="10180015" cy="749808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承上启下：</a:t>
            </a:r>
            <a:r>
              <a:rPr sz="134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正确恢复是离散、反直觉的；而判断“究竟是哪一种失败”——归因——的依据并不固定在某一种传感器上（见下页）。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91056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58568" y="2414016"/>
            <a:ext cx="4449927" cy="1280160"/>
          </a:xfrm>
          <a:prstGeom prst="roundRect">
            <a:avLst>
              <a:gd name="adj" fmla="val 4285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64527" y="2414016"/>
            <a:ext cx="4449927" cy="1280160"/>
          </a:xfrm>
          <a:prstGeom prst="roundRect">
            <a:avLst>
              <a:gd name="adj" fmla="val 4285"/>
            </a:avLst>
          </a:prstGeom>
          <a:solidFill>
            <a:srgbClr val="F4E2D6"/>
          </a:solidFill>
          <a:ln w="19050">
            <a:solidFill>
              <a:srgbClr val="CF6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58568" y="3803904"/>
            <a:ext cx="4449927" cy="1280160"/>
          </a:xfrm>
          <a:prstGeom prst="roundRect">
            <a:avLst>
              <a:gd name="adj" fmla="val 4285"/>
            </a:avLst>
          </a:prstGeom>
          <a:solidFill>
            <a:srgbClr val="F4E2D6"/>
          </a:solidFill>
          <a:ln w="19050">
            <a:solidFill>
              <a:srgbClr val="CF6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64527" y="3803904"/>
            <a:ext cx="4449927" cy="1280160"/>
          </a:xfrm>
          <a:prstGeom prst="roundRect">
            <a:avLst>
              <a:gd name="adj" fmla="val 4285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5340096"/>
            <a:ext cx="10637215" cy="786384"/>
          </a:xfrm>
          <a:prstGeom prst="roundRect">
            <a:avLst>
              <a:gd name="adj" fmla="val 6976"/>
            </a:avLst>
          </a:prstGeom>
          <a:solidFill>
            <a:srgbClr val="F4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57200"/>
            <a:ext cx="96012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核心洞见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没有任何单一模态能独占归因：视觉与本体，缺一不可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8686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KiNO · 面向语义失败恢复的闭环具身反思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3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993392"/>
            <a:ext cx="1371600" cy="384048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归因可分性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1993392"/>
            <a:ext cx="4449927" cy="384048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视觉可分 · look-different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4527" y="1993392"/>
            <a:ext cx="4449927" cy="384048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视觉不可分 · look-same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414016"/>
            <a:ext cx="1371600" cy="128016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本体可分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feel-different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03904"/>
            <a:ext cx="1371600" cy="128016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本体不可分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feel-same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2551176"/>
            <a:ext cx="4084167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两者皆可分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1448" y="2898648"/>
            <a:ext cx="4084167" cy="713231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简单失效，任一模态均可判别——不有趣。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7407" y="2551176"/>
            <a:ext cx="4084167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本体是唯一依据 · 视觉被骗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7407" y="2898648"/>
            <a:ext cx="4084167" cy="713231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视觉均匀的薄冰、超载 vs 执行器衰减、相机看不见的缠绕：外观相同，只能靠手感。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3941064"/>
            <a:ext cx="4084167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视觉是唯一依据 · 本体被骗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41448" y="4288536"/>
            <a:ext cx="4084167" cy="713231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粘鼠板 vs 烂泥：本体签名构造为一致，只能靠看。→ 归因歧义对。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7407" y="3941064"/>
            <a:ext cx="4084167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两者皆不可分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7407" y="4288536"/>
            <a:ext cx="4084167" cy="713231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够不到，也不声称解决。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40096"/>
            <a:ext cx="10180015" cy="78638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双边论题：</a:t>
            </a:r>
            <a:r>
              <a:rPr sz="132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两个高亮格沿对角分布、永不重合；机器人无法预知失效落在哪一格 → 规划器必须同时握住视觉与本体两个通道，缺一不可。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91056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810512"/>
            <a:ext cx="10637215" cy="758952"/>
          </a:xfrm>
          <a:prstGeom prst="roundRect">
            <a:avLst>
              <a:gd name="adj" fmla="val 6024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1975104"/>
            <a:ext cx="100584" cy="100584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389120" y="1956816"/>
            <a:ext cx="0" cy="466344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2679191"/>
            <a:ext cx="10637215" cy="758952"/>
          </a:xfrm>
          <a:prstGeom prst="roundRect">
            <a:avLst>
              <a:gd name="adj" fmla="val 6024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2843784"/>
            <a:ext cx="100584" cy="100584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389120" y="2825496"/>
            <a:ext cx="0" cy="466343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3547872"/>
            <a:ext cx="10637215" cy="758952"/>
          </a:xfrm>
          <a:prstGeom prst="roundRect">
            <a:avLst>
              <a:gd name="adj" fmla="val 6024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712463"/>
            <a:ext cx="100584" cy="100584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389120" y="3694176"/>
            <a:ext cx="0" cy="466344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4416552"/>
            <a:ext cx="10637215" cy="758952"/>
          </a:xfrm>
          <a:prstGeom prst="roundRect">
            <a:avLst>
              <a:gd name="adj" fmla="val 6024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4581144"/>
            <a:ext cx="100584" cy="100584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389120" y="4562856"/>
            <a:ext cx="0" cy="466344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5358384"/>
            <a:ext cx="10637215" cy="768096"/>
          </a:xfrm>
          <a:prstGeom prst="roundRect">
            <a:avLst>
              <a:gd name="adj" fmla="val 7142"/>
            </a:avLst>
          </a:prstGeom>
          <a:solidFill>
            <a:srgbClr val="ED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57200"/>
            <a:ext cx="96012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相关工作的空白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现有学习系统为何留下 B 类空白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73952"/>
            <a:ext cx="8686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KiNO · 面向语义失败恢复的闭环具身反思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4 /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1911095"/>
            <a:ext cx="3063240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端到端 VLA 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2221992"/>
            <a:ext cx="3063240" cy="2743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RT-2 · OpenVLA · Octo · PaLM-E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810512"/>
            <a:ext cx="6659575" cy="758952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开环、低频地映射观测 → 动作，无力反馈通道；会在失败演进过程中固执执行既定动作。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2779775"/>
            <a:ext cx="3063240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视觉闭环规划器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3090672"/>
            <a:ext cx="3063240" cy="2743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CLOVER · COME-robot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679191"/>
            <a:ext cx="6659575" cy="758952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以相机帧率对 RGB 反应；在摩擦崩塌、执行器饱和产生显性视觉症状之前始终“盲”。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3648456"/>
            <a:ext cx="3063240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腿式语言导航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" y="3959352"/>
            <a:ext cx="3063240" cy="2743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NaViLA · QuadrupedGPT · DoggyBot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547872"/>
            <a:ext cx="6659575" cy="758952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把运动当作单向黑箱技能；身体打滑或被困时，向上无任何动力学回报。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" y="4517136"/>
            <a:ext cx="3063240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失败推理系统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" y="4828032"/>
            <a:ext cx="3063240" cy="2743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REFLECT · AHA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416552"/>
            <a:ext cx="6659575" cy="758952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事后从低频视觉归因，面向固定基座机械臂，以离散文本注入结论；腿式平台缺乏维持直立的毫秒级反射。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358384"/>
            <a:ext cx="10180015" cy="768096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共同盲点：</a:t>
            </a:r>
            <a:r>
              <a:rPr sz="132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都缺少“高频动力学 ↔ 语义推理”的双向耦合与安全保证 — 缺(1) 从 1 kHz 动力学上行到语义规划器的通道；(2) 规划器不能破坏稳定的下行保证。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63056"/>
            <a:ext cx="10637215" cy="2743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（旁支：安全屏障文献认证的是“已知”控制器；开放词表语义地图是 视觉 → 地图，本文反向：物理 → 地图。）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91056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20840" y="2176272"/>
            <a:ext cx="4693615" cy="1481328"/>
          </a:xfrm>
          <a:prstGeom prst="roundRect">
            <a:avLst>
              <a:gd name="adj" fmla="val 3703"/>
            </a:avLst>
          </a:prstGeom>
          <a:solidFill>
            <a:srgbClr val="F4E2D6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0840" y="3767328"/>
            <a:ext cx="4693615" cy="1371600"/>
          </a:xfrm>
          <a:prstGeom prst="roundRect">
            <a:avLst>
              <a:gd name="adj" fmla="val 4000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340096"/>
            <a:ext cx="10637215" cy="786384"/>
          </a:xfrm>
          <a:prstGeom prst="roundRect">
            <a:avLst>
              <a:gd name="adj" fmla="val 6976"/>
            </a:avLst>
          </a:prstGeom>
          <a:solidFill>
            <a:srgbClr val="ED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57200"/>
            <a:ext cx="96012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我们的定位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KiNO：补上缺失的上行通道与下行安全保证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8686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KiNO · 面向语义失败恢复的闭环具身反思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5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810512"/>
            <a:ext cx="5532120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五层在线恢复架构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194560"/>
            <a:ext cx="5532120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① 1 kHz Kino-Monitor + 反射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2496312"/>
            <a:ext cx="5367528" cy="6400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计算滑移 / 跟踪误差统计，毫秒级稳住身体（刹车、增刚、降重心），绕过大模型。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063239"/>
            <a:ext cx="5532120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② Kino-Tokens 提取器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364991"/>
            <a:ext cx="5367528" cy="6400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特权物理蒸馏把 500 ms 本体感受窗（1D-CNN + Perceiver）压成定长 token 注入嵌入空间；附校准 OOD 分数。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31920"/>
            <a:ext cx="5532120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③ ~1 Hz 视觉-语言规划器（Qwen3-VL-4B+LoRA）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233672"/>
            <a:ext cx="5367528" cy="6400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融合视觉 / 文本 / Kino-Tokens 做因果归因，从扩展恢复原语库选一，维护持久语义可通行性地图。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5532120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④ CBF 安全屏障 + 原语编译器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102352"/>
            <a:ext cx="5367528" cy="6400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执行前把每个提议原语投影到可证明安全集。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810512"/>
            <a:ext cx="4693615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两条设计主线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2286000"/>
            <a:ext cx="4291279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① 大模型提议，屏障函数裁决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7" y="2615184"/>
            <a:ext cx="4291279" cy="10058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CBF-QP 最小化编辑每个原语，使捕获点不离开收缩支撑多边形 → 降阶模型下的前向不变性：无论大模型输出什么，闭环都不离开安全集。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877056"/>
            <a:ext cx="4291279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② 特权物理锚定 latent 与数据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7" y="4206240"/>
            <a:ext cx="4291279" cy="9144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真值一致性过滤器剔除被仿真物理否定的标注；两阶段训练 —— 监督微调 + 按物理结果打分的具身偏好优化。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340096"/>
            <a:ext cx="10180015" cy="78638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仿真验证（Isaac Lab · 物理仿真 Go2）：</a:t>
            </a:r>
            <a:r>
              <a:rPr sz="132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语义干预失败的归因准确率 0.97，远超调优规则状态机的 0.24；CBF-QP 安全求解 &lt; 0.2 ms（p99）。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