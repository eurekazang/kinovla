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40690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0" cy="4069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481328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ECEEF1"/>
          </a:solidFill>
          <a:ln w="19050">
            <a:solidFill>
              <a:srgbClr val="6C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91740" y="1481328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EAF1FB"/>
          </a:solidFill>
          <a:ln w="19050">
            <a:solidFill>
              <a:srgbClr val="2F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09160" y="1481328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EAF1FB"/>
          </a:solidFill>
          <a:ln w="19050">
            <a:solidFill>
              <a:srgbClr val="2F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26580" y="1481328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EAF1FB"/>
          </a:solidFill>
          <a:ln w="19050">
            <a:solidFill>
              <a:srgbClr val="2F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0" y="1481328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EAF1FB"/>
          </a:solidFill>
          <a:ln w="19050">
            <a:solidFill>
              <a:srgbClr val="2F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384048"/>
            <a:ext cx="2286000" cy="603504"/>
          </a:xfrm>
          <a:prstGeom prst="roundRect">
            <a:avLst>
              <a:gd name="adj" fmla="val 9090"/>
            </a:avLst>
          </a:prstGeom>
          <a:solidFill>
            <a:srgbClr val="FBEFDA"/>
          </a:solidFill>
          <a:ln w="19050">
            <a:solidFill>
              <a:srgbClr val="BE7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08860" y="2724912"/>
            <a:ext cx="1920240" cy="676656"/>
          </a:xfrm>
          <a:prstGeom prst="roundRect">
            <a:avLst>
              <a:gd name="adj" fmla="val 8108"/>
            </a:avLst>
          </a:prstGeom>
          <a:solidFill>
            <a:srgbClr val="FBEFDA"/>
          </a:solidFill>
          <a:ln w="19050">
            <a:solidFill>
              <a:srgbClr val="BE7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7940" y="2724912"/>
            <a:ext cx="2651760" cy="676656"/>
          </a:xfrm>
          <a:prstGeom prst="roundRect">
            <a:avLst>
              <a:gd name="adj" fmla="val 8108"/>
            </a:avLst>
          </a:prstGeom>
          <a:solidFill>
            <a:srgbClr val="FBEFDA"/>
          </a:solidFill>
          <a:ln w="19050">
            <a:solidFill>
              <a:srgbClr val="BE7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35424" y="2788920"/>
            <a:ext cx="1170432" cy="548640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9050">
            <a:solidFill>
              <a:srgbClr val="6C7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329184"/>
            <a:ext cx="2121408" cy="841248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828800" y="1929384"/>
            <a:ext cx="662940" cy="0"/>
          </a:xfrm>
          <a:prstGeom prst="line">
            <a:avLst/>
          </a:prstGeom>
          <a:ln w="21590">
            <a:solidFill>
              <a:srgbClr val="2C3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46220" y="1929384"/>
            <a:ext cx="662940" cy="0"/>
          </a:xfrm>
          <a:prstGeom prst="line">
            <a:avLst/>
          </a:prstGeom>
          <a:ln w="21590">
            <a:solidFill>
              <a:srgbClr val="2C3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63640" y="1929384"/>
            <a:ext cx="662940" cy="0"/>
          </a:xfrm>
          <a:prstGeom prst="line">
            <a:avLst/>
          </a:prstGeom>
          <a:ln w="21590">
            <a:solidFill>
              <a:srgbClr val="2C3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81060" y="1929384"/>
            <a:ext cx="662940" cy="0"/>
          </a:xfrm>
          <a:prstGeom prst="line">
            <a:avLst/>
          </a:prstGeom>
          <a:ln w="21590">
            <a:solidFill>
              <a:srgbClr val="2C3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0" y="987552"/>
            <a:ext cx="0" cy="493776"/>
          </a:xfrm>
          <a:prstGeom prst="line">
            <a:avLst/>
          </a:prstGeom>
          <a:ln w="17780">
            <a:solidFill>
              <a:srgbClr val="8A909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89320" y="1207008"/>
            <a:ext cx="0" cy="274320"/>
          </a:xfrm>
          <a:prstGeom prst="line">
            <a:avLst/>
          </a:prstGeom>
          <a:ln w="19050">
            <a:solidFill>
              <a:srgbClr val="BE7E2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89320" y="1207008"/>
            <a:ext cx="3611880" cy="0"/>
          </a:xfrm>
          <a:prstGeom prst="line">
            <a:avLst/>
          </a:prstGeom>
          <a:ln w="19050">
            <a:solidFill>
              <a:srgbClr val="BE7E2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01200" y="1207008"/>
            <a:ext cx="0" cy="274320"/>
          </a:xfrm>
          <a:prstGeom prst="line">
            <a:avLst/>
          </a:prstGeom>
          <a:ln w="19050">
            <a:solidFill>
              <a:srgbClr val="BE7E2C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68980" y="2377440"/>
            <a:ext cx="0" cy="347472"/>
          </a:xfrm>
          <a:prstGeom prst="line">
            <a:avLst/>
          </a:prstGeom>
          <a:ln w="2413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554480" y="3063240"/>
            <a:ext cx="754380" cy="0"/>
          </a:xfrm>
          <a:prstGeom prst="line">
            <a:avLst/>
          </a:prstGeom>
          <a:ln w="2413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554480" y="2377440"/>
            <a:ext cx="0" cy="685800"/>
          </a:xfrm>
          <a:prstGeom prst="line">
            <a:avLst/>
          </a:prstGeom>
          <a:ln w="2413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03820" y="2377440"/>
            <a:ext cx="0" cy="347472"/>
          </a:xfrm>
          <a:prstGeom prst="line">
            <a:avLst/>
          </a:prstGeom>
          <a:ln w="20320">
            <a:solidFill>
              <a:srgbClr val="2C313A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05856" y="3063240"/>
            <a:ext cx="672084" cy="0"/>
          </a:xfrm>
          <a:prstGeom prst="line">
            <a:avLst/>
          </a:prstGeom>
          <a:ln w="19050">
            <a:solidFill>
              <a:srgbClr val="2C3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21240" y="2377440"/>
            <a:ext cx="0" cy="1389888"/>
          </a:xfrm>
          <a:prstGeom prst="line">
            <a:avLst/>
          </a:prstGeom>
          <a:ln w="21590">
            <a:solidFill>
              <a:srgbClr val="2C31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05840" y="3767328"/>
            <a:ext cx="8915400" cy="0"/>
          </a:xfrm>
          <a:prstGeom prst="line">
            <a:avLst/>
          </a:prstGeom>
          <a:ln w="21590">
            <a:solidFill>
              <a:srgbClr val="2C31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05840" y="2377440"/>
            <a:ext cx="0" cy="1389888"/>
          </a:xfrm>
          <a:prstGeom prst="line">
            <a:avLst/>
          </a:prstGeom>
          <a:ln w="21590">
            <a:solidFill>
              <a:srgbClr val="2C3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20623" y="672083"/>
            <a:ext cx="457201" cy="0"/>
          </a:xfrm>
          <a:prstGeom prst="line">
            <a:avLst/>
          </a:prstGeom>
          <a:ln w="21590">
            <a:solidFill>
              <a:srgbClr val="2C3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20623" y="809243"/>
            <a:ext cx="457201" cy="0"/>
          </a:xfrm>
          <a:prstGeom prst="line">
            <a:avLst/>
          </a:prstGeom>
          <a:ln w="2159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20623" y="946403"/>
            <a:ext cx="457201" cy="0"/>
          </a:xfrm>
          <a:prstGeom prst="line">
            <a:avLst/>
          </a:prstGeom>
          <a:ln w="21590">
            <a:solidFill>
              <a:srgbClr val="8A909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0623" y="1083563"/>
            <a:ext cx="457201" cy="0"/>
          </a:xfrm>
          <a:prstGeom prst="line">
            <a:avLst/>
          </a:prstGeom>
          <a:ln w="21590">
            <a:solidFill>
              <a:srgbClr val="BE7E2C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20" y="1481328"/>
            <a:ext cx="155448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3171C"/>
                </a:solidFill>
                <a:latin typeface="Noto Sans"/>
              </a:rPr>
              <a:t>Unitree Go2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616B"/>
                </a:solidFill>
                <a:latin typeface="Noto Sans"/>
              </a:rPr>
              <a:t>Isaac 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91740" y="1481328"/>
            <a:ext cx="155448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3171C"/>
                </a:solidFill>
                <a:latin typeface="Noto Sans"/>
              </a:rPr>
              <a:t>Kino-Monitor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1">
                <a:solidFill>
                  <a:srgbClr val="2F6CB0"/>
                </a:solidFill>
                <a:latin typeface="Noto Sans"/>
              </a:rPr>
              <a:t>1 kHz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616B"/>
                </a:solidFill>
                <a:latin typeface="Noto Sans"/>
              </a:rPr>
              <a:t>slip · tracking error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1481328"/>
            <a:ext cx="155448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3171C"/>
                </a:solidFill>
                <a:latin typeface="Noto Sans"/>
              </a:rPr>
              <a:t>Kino-Tokens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1">
                <a:solidFill>
                  <a:srgbClr val="2F6CB0"/>
                </a:solidFill>
                <a:latin typeface="Noto Sans"/>
              </a:rPr>
              <a:t>500 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616B"/>
                </a:solidFill>
                <a:latin typeface="Noto Sans"/>
              </a:rPr>
              <a:t>1D-CNN + Perceiver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6580" y="1481328"/>
            <a:ext cx="155448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3171C"/>
                </a:solidFill>
                <a:latin typeface="Noto Sans"/>
              </a:rPr>
              <a:t>VLA Planner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1">
                <a:solidFill>
                  <a:srgbClr val="2F6CB0"/>
                </a:solidFill>
                <a:latin typeface="Noto Sans"/>
              </a:rPr>
              <a:t>~1 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616B"/>
                </a:solidFill>
                <a:latin typeface="Noto Sans"/>
              </a:rPr>
              <a:t>Qwen3-VL-4B + LoRA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1481328"/>
            <a:ext cx="155448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3171C"/>
                </a:solidFill>
                <a:latin typeface="Noto Sans"/>
              </a:rPr>
              <a:t>CBF-QP Shield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1">
                <a:solidFill>
                  <a:srgbClr val="2F6CB0"/>
                </a:solidFill>
                <a:latin typeface="Noto Sans"/>
              </a:rPr>
              <a:t>&lt; 0.2 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616B"/>
                </a:solidFill>
                <a:latin typeface="Noto Sans"/>
              </a:rPr>
              <a:t>+ Primitive Compiler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8789" y="1645920"/>
            <a:ext cx="822960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13A"/>
                </a:solidFill>
                <a:latin typeface="Noto Sans"/>
              </a:rPr>
              <a:t>proprio.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6209" y="1645920"/>
            <a:ext cx="822960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13A"/>
                </a:solidFill>
                <a:latin typeface="Noto Sans"/>
              </a:rPr>
              <a:t>window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3630" y="1645920"/>
            <a:ext cx="822960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13A"/>
                </a:solidFill>
                <a:latin typeface="Noto Sans"/>
              </a:rPr>
              <a:t>tokens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1050" y="1645920"/>
            <a:ext cx="822960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13A"/>
                </a:solidFill>
                <a:latin typeface="Noto Sans"/>
              </a:rPr>
              <a:t>&lt;Action&gt;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384048"/>
            <a:ext cx="228600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171C"/>
                </a:solidFill>
                <a:latin typeface="Noto Sans"/>
              </a:rPr>
              <a:t>Privileged Physics  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616B"/>
                </a:solidFill>
                <a:latin typeface="Noto Sans"/>
              </a:rPr>
              <a:t>simulator truth · training-only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59552" y="107899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616B"/>
                </a:solidFill>
                <a:latin typeface="Noto Sans"/>
              </a:rPr>
              <a:t>distill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969264"/>
            <a:ext cx="25603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E7E2C"/>
                </a:solidFill>
                <a:latin typeface="Noto Sans"/>
              </a:rPr>
              <a:t>μ̂  friction bound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08860" y="2724912"/>
            <a:ext cx="192024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171C"/>
                </a:solidFill>
                <a:latin typeface="Noto Sans"/>
              </a:rPr>
              <a:t>Reflex Loop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616B"/>
                </a:solidFill>
                <a:latin typeface="Noto Sans"/>
              </a:rPr>
              <a:t>&lt; 20 ms · self-stabilize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0420" y="2432304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Noto Sans"/>
              </a:rPr>
              <a:t>anomaly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7940" y="2724912"/>
            <a:ext cx="265176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3171C"/>
                </a:solidFill>
                <a:latin typeface="Noto Sans"/>
              </a:rPr>
              <a:t>Semantic Traversability Map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616B"/>
                </a:solidFill>
                <a:latin typeface="Noto Sans"/>
              </a:rPr>
              <a:t>persistent across viewpoints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95260" y="2432304"/>
            <a:ext cx="10972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9616B"/>
                </a:solidFill>
                <a:latin typeface="Noto Sans"/>
              </a:rPr>
              <a:t>read · write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35424" y="2788920"/>
            <a:ext cx="117043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3171C"/>
                </a:solidFill>
                <a:latin typeface="Noto Sans"/>
              </a:rPr>
              <a:t>RGB-D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616B"/>
                </a:solidFill>
                <a:latin typeface="Noto Sans"/>
              </a:rPr>
              <a:t>30 Hz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3529584"/>
            <a:ext cx="6035040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13A"/>
                </a:solidFill>
                <a:latin typeface="Noto Sans"/>
              </a:rPr>
              <a:t>filtered velocity command   +   execution report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" y="384048"/>
            <a:ext cx="1938527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3171C"/>
                </a:solidFill>
                <a:latin typeface="Noto Sans"/>
              </a:rPr>
              <a:t>Edge types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" y="585215"/>
            <a:ext cx="1371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3171C"/>
                </a:solidFill>
                <a:latin typeface="Noto Sans"/>
              </a:rPr>
              <a:t>data 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" y="722375"/>
            <a:ext cx="1371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3171C"/>
                </a:solidFill>
                <a:latin typeface="Noto Sans"/>
              </a:rPr>
              <a:t>reflex   &lt; 20 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" y="859536"/>
            <a:ext cx="1371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3171C"/>
                </a:solidFill>
                <a:latin typeface="Noto Sans"/>
              </a:rPr>
              <a:t>privileged distill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" y="996695"/>
            <a:ext cx="1371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3171C"/>
                </a:solidFill>
                <a:latin typeface="Noto Sans"/>
              </a:rPr>
              <a:t>μ̂ coupling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