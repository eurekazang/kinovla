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12.png"/><Relationship Id="rId7" Type="http://schemas.openxmlformats.org/officeDocument/2006/relationships/image" Target="../media/image18.png"/><Relationship Id="rId8" Type="http://schemas.openxmlformats.org/officeDocument/2006/relationships/image" Target="../media/image5.png"/><Relationship Id="rId9" Type="http://schemas.openxmlformats.org/officeDocument/2006/relationships/image" Target="../media/image7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15.png"/><Relationship Id="rId13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5" Type="http://schemas.openxmlformats.org/officeDocument/2006/relationships/image" Target="../media/image24.png"/><Relationship Id="rId6" Type="http://schemas.openxmlformats.org/officeDocument/2006/relationships/image" Target="../media/image3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34.png"/><Relationship Id="rId4" Type="http://schemas.openxmlformats.org/officeDocument/2006/relationships/image" Target="../media/image4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43.png"/><Relationship Id="rId5" Type="http://schemas.openxmlformats.org/officeDocument/2006/relationships/image" Target="../media/image5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4.png"/><Relationship Id="rId5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15.png"/><Relationship Id="rId4" Type="http://schemas.openxmlformats.org/officeDocument/2006/relationships/image" Target="../media/image5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475488"/>
            <a:ext cx="2057400" cy="310896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80060"/>
            <a:ext cx="194767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KiNO · 中文工作汇报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78992"/>
            <a:ext cx="5230368" cy="13533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7212B"/>
                </a:solidFill>
                <a:latin typeface="Nimbus Sans"/>
              </a:rPr>
              <a:t>Feel It, See It,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7212B"/>
                </a:solidFill>
                <a:latin typeface="Nimbus Sans"/>
              </a:rPr>
              <a:t>Recover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697480"/>
            <a:ext cx="498348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212B"/>
                </a:solidFill>
                <a:latin typeface="Noto Sans CJK SC"/>
              </a:rPr>
              <a:t>让四足机器人看懂“为什么会失败”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17212B"/>
                </a:solidFill>
                <a:latin typeface="Noto Sans CJK SC"/>
              </a:rPr>
              <a:t>再决定如何恢复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023360"/>
            <a:ext cx="4901184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68727D"/>
                </a:solidFill>
                <a:latin typeface="Noto Sans CJK SC"/>
              </a:rPr>
              <a:t>跨视觉与身体感知的异常归因方法 + Kino-Fail 真实仿真基准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5074920"/>
            <a:ext cx="5010912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68727D"/>
                </a:solidFill>
                <a:latin typeface="Noto Sans CJK SC"/>
              </a:rPr>
              <a:t>同样是“走不动”  </a:t>
            </a:r>
            <a:r>
              <a:rPr sz="1500" b="1" i="0">
                <a:solidFill>
                  <a:srgbClr val="C81223"/>
                </a:solidFill>
                <a:latin typeface="Noto Sans CJK SC"/>
              </a:rPr>
              <a:t>原因不同  </a:t>
            </a:r>
            <a:r>
              <a:rPr sz="1500" b="1" i="0">
                <a:solidFill>
                  <a:srgbClr val="2C9CA0"/>
                </a:solidFill>
                <a:latin typeface="Noto Sans CJK SC"/>
              </a:rPr>
              <a:t>动作也必须不同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6126480"/>
            <a:ext cx="3200400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99999"/>
                </a:solidFill>
                <a:latin typeface="Noto Sans CJK SC"/>
              </a:rPr>
              <a:t>研究组汇报 · 2026.07</a:t>
            </a:r>
          </a:p>
        </p:txBody>
      </p:sp>
      <p:pic>
        <p:nvPicPr>
          <p:cNvPr id="9" name="Picture 8" descr="08_room_wide.png"/>
          <p:cNvPicPr>
            <a:picLocks noChangeAspect="1"/>
          </p:cNvPicPr>
          <p:nvPr/>
        </p:nvPicPr>
        <p:blipFill>
          <a:blip r:embed="rId2"/>
          <a:srcRect t="2860" b="2640"/>
          <a:stretch>
            <a:fillRect/>
          </a:stretch>
        </p:blipFill>
        <p:spPr>
          <a:xfrm>
            <a:off x="6080760" y="457200"/>
            <a:ext cx="5504688" cy="2926080"/>
          </a:xfrm>
          <a:prstGeom prst="rect">
            <a:avLst/>
          </a:prstGeom>
        </p:spPr>
      </p:pic>
      <p:pic>
        <p:nvPicPr>
          <p:cNvPr id="10" name="Picture 9" descr="04_overview.png"/>
          <p:cNvPicPr>
            <a:picLocks noChangeAspect="1"/>
          </p:cNvPicPr>
          <p:nvPr/>
        </p:nvPicPr>
        <p:blipFill>
          <a:blip r:embed="rId3"/>
          <a:srcRect l="19222" r="19222"/>
          <a:stretch>
            <a:fillRect/>
          </a:stretch>
        </p:blipFill>
        <p:spPr>
          <a:xfrm>
            <a:off x="6080760" y="3511296"/>
            <a:ext cx="2651760" cy="2423160"/>
          </a:xfrm>
          <a:prstGeom prst="rect">
            <a:avLst/>
          </a:prstGeom>
        </p:spPr>
      </p:pic>
      <p:pic>
        <p:nvPicPr>
          <p:cNvPr id="11" name="Picture 10" descr="04_overview.png"/>
          <p:cNvPicPr>
            <a:picLocks noChangeAspect="1"/>
          </p:cNvPicPr>
          <p:nvPr/>
        </p:nvPicPr>
        <p:blipFill>
          <a:blip r:embed="rId4"/>
          <a:srcRect l="18691" r="18691"/>
          <a:stretch>
            <a:fillRect/>
          </a:stretch>
        </p:blipFill>
        <p:spPr>
          <a:xfrm>
            <a:off x="8887968" y="3511296"/>
            <a:ext cx="2697480" cy="24231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272784" y="658368"/>
            <a:ext cx="109728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662940"/>
            <a:ext cx="98755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脚底粘附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3712463"/>
            <a:ext cx="109728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3717035"/>
            <a:ext cx="98755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透明障碍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79992" y="3712463"/>
            <a:ext cx="109728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3717035"/>
            <a:ext cx="98755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底盘托底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01 ·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机器人卡住了——真正重要的是：为什么？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Isaac Sim registered multiview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7" y="1325880"/>
            <a:ext cx="2633472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overview.png"/>
          <p:cNvPicPr>
            <a:picLocks noChangeAspect="1"/>
          </p:cNvPicPr>
          <p:nvPr/>
        </p:nvPicPr>
        <p:blipFill>
          <a:blip r:embed="rId2"/>
          <a:srcRect l="17628" r="17628"/>
          <a:stretch>
            <a:fillRect/>
          </a:stretch>
        </p:blipFill>
        <p:spPr>
          <a:xfrm>
            <a:off x="640080" y="1353312"/>
            <a:ext cx="2578608" cy="2240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19" y="1444752"/>
            <a:ext cx="98755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458468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软地面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794760"/>
            <a:ext cx="23591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C9CA0"/>
                </a:solidFill>
                <a:latin typeface="Noto Sans CJK SC"/>
              </a:rPr>
              <a:t>需要抬高脚步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4315968"/>
            <a:ext cx="221284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8727D"/>
                </a:solidFill>
                <a:latin typeface="Noto Sans CJK SC"/>
              </a:rPr>
              <a:t>表面症状都可能是：速度下降、姿态异常或停滞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01568" y="1325880"/>
            <a:ext cx="2633472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04_overview.png"/>
          <p:cNvPicPr>
            <a:picLocks noChangeAspect="1"/>
          </p:cNvPicPr>
          <p:nvPr/>
        </p:nvPicPr>
        <p:blipFill>
          <a:blip r:embed="rId3"/>
          <a:srcRect l="17628" r="17628"/>
          <a:stretch>
            <a:fillRect/>
          </a:stretch>
        </p:blipFill>
        <p:spPr>
          <a:xfrm>
            <a:off x="3429000" y="1353312"/>
            <a:ext cx="2578608" cy="22402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520440" y="1444752"/>
            <a:ext cx="1152144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5304" y="1458468"/>
            <a:ext cx="1042416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脚被粘住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794760"/>
            <a:ext cx="23591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C9CA0"/>
                </a:solidFill>
                <a:latin typeface="Noto Sans CJK SC"/>
              </a:rPr>
              <a:t>需要后退脱离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4315968"/>
            <a:ext cx="221284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8727D"/>
                </a:solidFill>
                <a:latin typeface="Noto Sans CJK SC"/>
              </a:rPr>
              <a:t>表面症状都可能是：速度下降、姿态异常或停滞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325880"/>
            <a:ext cx="2633472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4_overview.png"/>
          <p:cNvPicPr>
            <a:picLocks noChangeAspect="1"/>
          </p:cNvPicPr>
          <p:nvPr/>
        </p:nvPicPr>
        <p:blipFill>
          <a:blip r:embed="rId4"/>
          <a:srcRect l="17628" r="17628"/>
          <a:stretch>
            <a:fillRect/>
          </a:stretch>
        </p:blipFill>
        <p:spPr>
          <a:xfrm>
            <a:off x="6217920" y="1353312"/>
            <a:ext cx="2578608" cy="224028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309359" y="1444752"/>
            <a:ext cx="1572768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64224" y="1458468"/>
            <a:ext cx="14630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碰到透明障碍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794760"/>
            <a:ext cx="23591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C9CA0"/>
                </a:solidFill>
                <a:latin typeface="Noto Sans CJK SC"/>
              </a:rPr>
              <a:t>需要停住重规划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315968"/>
            <a:ext cx="221284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8727D"/>
                </a:solidFill>
                <a:latin typeface="Noto Sans CJK SC"/>
              </a:rPr>
              <a:t>表面症状都可能是：速度下降、姿态异常或停滞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9407" y="1325880"/>
            <a:ext cx="2633472" cy="22951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4_overview.png"/>
          <p:cNvPicPr>
            <a:picLocks noChangeAspect="1"/>
          </p:cNvPicPr>
          <p:nvPr/>
        </p:nvPicPr>
        <p:blipFill>
          <a:blip r:embed="rId5"/>
          <a:srcRect l="17628" r="17628"/>
          <a:stretch>
            <a:fillRect/>
          </a:stretch>
        </p:blipFill>
        <p:spPr>
          <a:xfrm>
            <a:off x="9006839" y="1353312"/>
            <a:ext cx="2578608" cy="224028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098279" y="1444752"/>
            <a:ext cx="1783080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53143" y="1458468"/>
            <a:ext cx="167335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底盘被横梁托住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16567" y="3794760"/>
            <a:ext cx="23591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2C9CA0"/>
                </a:solidFill>
                <a:latin typeface="Noto Sans CJK SC"/>
              </a:rPr>
              <a:t>需要抬身并减速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19" y="4315968"/>
            <a:ext cx="221284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8727D"/>
                </a:solidFill>
                <a:latin typeface="Noto Sans CJK SC"/>
              </a:rPr>
              <a:t>表面症状都可能是：速度下降、姿态异常或停滞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" y="5641848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5678424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检测到“出问题”只是开始；恢复动作取决于对物理原因的判断。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01 · 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错误归因不只是答错标签，而是会执行错误动作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Paper Fig. 5b; A4 forced-label intervention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1325880"/>
            <a:ext cx="2569464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contact_left.png"/>
          <p:cNvPicPr>
            <a:picLocks noChangeAspect="1"/>
          </p:cNvPicPr>
          <p:nvPr/>
        </p:nvPicPr>
        <p:blipFill>
          <a:blip r:embed="rId2"/>
          <a:srcRect l="13170" r="13170"/>
          <a:stretch>
            <a:fillRect/>
          </a:stretch>
        </p:blipFill>
        <p:spPr>
          <a:xfrm>
            <a:off x="658368" y="1353312"/>
            <a:ext cx="2514600" cy="1920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1444752"/>
            <a:ext cx="987552" cy="365760"/>
          </a:xfrm>
          <a:prstGeom prst="roundRect">
            <a:avLst/>
          </a:prstGeom>
          <a:solidFill>
            <a:srgbClr val="2665EA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58468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软地面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2569464" cy="19751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_contact_left.png"/>
          <p:cNvPicPr>
            <a:picLocks noChangeAspect="1"/>
          </p:cNvPicPr>
          <p:nvPr/>
        </p:nvPicPr>
        <p:blipFill>
          <a:blip r:embed="rId3"/>
          <a:srcRect l="13170" r="13170"/>
          <a:stretch>
            <a:fillRect/>
          </a:stretch>
        </p:blipFill>
        <p:spPr>
          <a:xfrm>
            <a:off x="3364992" y="1353312"/>
            <a:ext cx="2514600" cy="19202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56432" y="1444752"/>
            <a:ext cx="1152144" cy="365760"/>
          </a:xfrm>
          <a:prstGeom prst="roundRect">
            <a:avLst/>
          </a:prstGeom>
          <a:solidFill>
            <a:srgbClr val="C81223"/>
          </a:solidFill>
          <a:ln w="12700">
            <a:solidFill>
              <a:srgbClr val="C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11296" y="1458468"/>
            <a:ext cx="1042416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脚底粘附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511296"/>
            <a:ext cx="213969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65EA"/>
                </a:solidFill>
                <a:latin typeface="Noto Sans CJK SC"/>
              </a:rPr>
              <a:t>正确动作：抬高脚步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511296"/>
            <a:ext cx="2139696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1223"/>
                </a:solidFill>
                <a:latin typeface="Noto Sans CJK SC"/>
              </a:rPr>
              <a:t>正确动作：后退脱离</a:t>
            </a:r>
          </a:p>
        </p:txBody>
      </p:sp>
      <p:pic>
        <p:nvPicPr>
          <p:cNvPr id="17" name="Picture 16" descr="cost_asymmetry_cn.png"/>
          <p:cNvPicPr>
            <a:picLocks noChangeAspect="1"/>
          </p:cNvPicPr>
          <p:nvPr/>
        </p:nvPicPr>
        <p:blipFill>
          <a:blip r:embed="rId4"/>
          <a:srcRect t="10104" b="10104"/>
          <a:stretch>
            <a:fillRect/>
          </a:stretch>
        </p:blipFill>
        <p:spPr>
          <a:xfrm>
            <a:off x="6199632" y="1188720"/>
            <a:ext cx="5230368" cy="3977639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86384" y="4151376"/>
            <a:ext cx="2267712" cy="1161288"/>
          </a:xfrm>
          <a:prstGeom prst="roundRect">
            <a:avLst/>
          </a:prstGeom>
          <a:solidFill>
            <a:srgbClr val="FBE9EB"/>
          </a:solidFill>
          <a:ln w="13970">
            <a:solidFill>
              <a:srgbClr val="F1C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" y="4151376"/>
            <a:ext cx="73152" cy="1161288"/>
          </a:xfrm>
          <a:prstGeom prst="rect">
            <a:avLst/>
          </a:prstGeom>
          <a:solidFill>
            <a:srgbClr val="C81223"/>
          </a:solidFill>
          <a:ln w="12700">
            <a:solidFill>
              <a:srgbClr val="C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3" y="4261104"/>
            <a:ext cx="1901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81223"/>
                </a:solidFill>
                <a:latin typeface="Noto Sans CJK S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4983" y="4727448"/>
            <a:ext cx="19019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粘附时误用抬脚的代价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02152" y="4151376"/>
            <a:ext cx="2267712" cy="1161288"/>
          </a:xfrm>
          <a:prstGeom prst="roundRect">
            <a:avLst/>
          </a:prstGeom>
          <a:solidFill>
            <a:srgbClr val="FAEFF0"/>
          </a:solidFill>
          <a:ln w="13970">
            <a:solidFill>
              <a:srgbClr val="F5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02152" y="4151376"/>
            <a:ext cx="73152" cy="1161288"/>
          </a:xfrm>
          <a:prstGeom prst="rect">
            <a:avLst/>
          </a:prstGeom>
          <a:solidFill>
            <a:srgbClr val="D77A7E"/>
          </a:solidFill>
          <a:ln w="12700">
            <a:solidFill>
              <a:srgbClr val="D7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30752" y="4261104"/>
            <a:ext cx="190195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D77A7E"/>
                </a:solidFill>
                <a:latin typeface="Noto Sans CJK S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0752" y="4727448"/>
            <a:ext cx="19019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软地面时保守后退的代价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" y="5669280"/>
            <a:ext cx="10963656" cy="411480"/>
          </a:xfrm>
          <a:prstGeom prst="roundRect">
            <a:avLst/>
          </a:prstGeom>
          <a:solidFill>
            <a:srgbClr val="FBE9EB"/>
          </a:solidFill>
          <a:ln w="12700">
            <a:solidFill>
              <a:srgbClr val="FB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705856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C81223"/>
                </a:solidFill>
                <a:latin typeface="Noto Sans CJK SC"/>
              </a:rPr>
              <a:t>在这组已登记的代价模型中，危险方向比保守方向重 4 倍。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02 · 核心发现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眼睛和身体谁更可信？答案会随异常类型反转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Current paper Fig.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04</a:t>
            </a:r>
          </a:p>
        </p:txBody>
      </p:sp>
      <p:pic>
        <p:nvPicPr>
          <p:cNvPr id="7" name="Picture 6" descr="fig1_bidirectional_confli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1464674"/>
            <a:ext cx="10972800" cy="380063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" y="5431536"/>
            <a:ext cx="5230368" cy="384048"/>
          </a:xfrm>
          <a:prstGeom prst="roundRect">
            <a:avLst/>
          </a:prstGeom>
          <a:solidFill>
            <a:srgbClr val="EAF0FE"/>
          </a:solidFill>
          <a:ln w="12700">
            <a:solidFill>
              <a:srgbClr val="EA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5468112"/>
            <a:ext cx="4892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665EA"/>
                </a:solidFill>
                <a:latin typeface="Noto Sans CJK SC"/>
              </a:rPr>
              <a:t>T2：身体感觉完全相同 → 看场景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4496" y="5431536"/>
            <a:ext cx="5230368" cy="384048"/>
          </a:xfrm>
          <a:prstGeom prst="roundRect">
            <a:avLst/>
          </a:prstGeom>
          <a:solidFill>
            <a:srgbClr val="FBE9EB"/>
          </a:solidFill>
          <a:ln w="12700">
            <a:solidFill>
              <a:srgbClr val="FB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5468112"/>
            <a:ext cx="4892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81223"/>
                </a:solidFill>
                <a:latin typeface="Noto Sans CJK SC"/>
              </a:rPr>
              <a:t>T3：画面完全相同 → 听身体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02 · 核心发现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T2：在接触之前，场景外观提供决定性线索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Exact byte-identical pre-contact body packet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05</a:t>
            </a:r>
          </a:p>
        </p:txBody>
      </p:sp>
      <p:pic>
        <p:nvPicPr>
          <p:cNvPr id="7" name="Picture 6" descr="fig1_t2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308" y="1234440"/>
            <a:ext cx="6401799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1389888"/>
            <a:ext cx="1325880" cy="310896"/>
          </a:xfrm>
          <a:prstGeom prst="roundRect">
            <a:avLst/>
          </a:prstGeom>
          <a:solidFill>
            <a:srgbClr val="EAF0FE"/>
          </a:solidFill>
          <a:ln w="12700">
            <a:solidFill>
              <a:srgbClr val="EA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90104" y="1394460"/>
            <a:ext cx="121615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65EA"/>
                </a:solidFill>
                <a:latin typeface="Noto Sans CJK SC"/>
              </a:rPr>
              <a:t>接触前判断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6096" y="1938528"/>
            <a:ext cx="352044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665EA"/>
                </a:solidFill>
                <a:latin typeface="Noto Sans CJK SC"/>
              </a:rPr>
              <a:t>软地面与粘附地面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665EA"/>
                </a:solidFill>
                <a:latin typeface="Noto Sans CJK SC"/>
              </a:rPr>
              <a:t>看起来不同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6096" y="2971800"/>
            <a:ext cx="3749039" cy="22677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8"/>
              </a:spcAft>
            </a:pPr>
            <a:r>
              <a:rPr sz="1330">
                <a:solidFill>
                  <a:srgbClr val="2665EA"/>
                </a:solidFill>
                <a:latin typeface="Noto Sans CJK SC"/>
              </a:rPr>
              <a:t>●  </a:t>
            </a:r>
            <a:r>
              <a:rPr sz="1530" b="1">
                <a:solidFill>
                  <a:srgbClr val="17212B"/>
                </a:solidFill>
                <a:latin typeface="Noto Sans CJK SC"/>
              </a:rPr>
              <a:t>身体输入完全相同</a:t>
            </a:r>
            <a:r>
              <a:rPr sz="1530">
                <a:solidFill>
                  <a:srgbClr val="17212B"/>
                </a:solidFill>
                <a:latin typeface="Noto Sans CJK SC"/>
              </a:rPr>
              <a:t>：21×19 个数逐字节一致</a:t>
            </a:r>
          </a:p>
          <a:p>
            <a:pPr>
              <a:lnSpc>
                <a:spcPct val="106000"/>
              </a:lnSpc>
              <a:spcAft>
                <a:spcPts val="1008"/>
              </a:spcAft>
            </a:pPr>
            <a:r>
              <a:rPr sz="1330">
                <a:solidFill>
                  <a:srgbClr val="2665EA"/>
                </a:solidFill>
                <a:latin typeface="Noto Sans CJK SC"/>
              </a:rPr>
              <a:t>●  </a:t>
            </a:r>
            <a:r>
              <a:rPr sz="1530" b="1">
                <a:solidFill>
                  <a:srgbClr val="17212B"/>
                </a:solidFill>
                <a:latin typeface="Noto Sans CJK SC"/>
              </a:rPr>
              <a:t>视觉能区分原因</a:t>
            </a:r>
            <a:r>
              <a:rPr sz="1530">
                <a:solidFill>
                  <a:srgbClr val="17212B"/>
                </a:solidFill>
                <a:latin typeface="Noto Sans CJK SC"/>
              </a:rPr>
              <a:t>：一个需要抬脚，一个需要后退</a:t>
            </a:r>
          </a:p>
          <a:p>
            <a:pPr>
              <a:lnSpc>
                <a:spcPct val="106000"/>
              </a:lnSpc>
              <a:spcAft>
                <a:spcPts val="1008"/>
              </a:spcAft>
            </a:pPr>
            <a:r>
              <a:rPr sz="1330">
                <a:solidFill>
                  <a:srgbClr val="2665EA"/>
                </a:solidFill>
                <a:latin typeface="Noto Sans CJK SC"/>
              </a:rPr>
              <a:t>●  </a:t>
            </a:r>
            <a:r>
              <a:rPr sz="1530" b="1">
                <a:solidFill>
                  <a:srgbClr val="17212B"/>
                </a:solidFill>
                <a:latin typeface="Noto Sans CJK SC"/>
              </a:rPr>
              <a:t>因此只听身体一定会猜</a:t>
            </a:r>
            <a:r>
              <a:rPr sz="1530">
                <a:solidFill>
                  <a:srgbClr val="17212B"/>
                </a:solidFill>
                <a:latin typeface="Noto Sans CJK SC"/>
              </a:rPr>
              <a:t>：不是模型容量问题，而是输入没有信息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5806440"/>
            <a:ext cx="10963656" cy="411480"/>
          </a:xfrm>
          <a:prstGeom prst="roundRect">
            <a:avLst/>
          </a:prstGeom>
          <a:solidFill>
            <a:srgbClr val="EAF0FE"/>
          </a:solidFill>
          <a:ln w="12700">
            <a:solidFill>
              <a:srgbClr val="EA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43016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665EA"/>
                </a:solidFill>
                <a:latin typeface="Noto Sans CJK SC"/>
              </a:rPr>
              <a:t>这组实验不是“视觉更强”，而是证明这里必须使用视觉。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02 · 核心发现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T3：接触之后，身体反应揭示画面看不到的物理差异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Pixel-identical five-frame sequence through the encounter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06</a:t>
            </a:r>
          </a:p>
        </p:txBody>
      </p:sp>
      <p:pic>
        <p:nvPicPr>
          <p:cNvPr id="7" name="Picture 6" descr="fig1_t3_hal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844" y="1234440"/>
            <a:ext cx="6401799" cy="4407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1389888"/>
            <a:ext cx="1325880" cy="310896"/>
          </a:xfrm>
          <a:prstGeom prst="roundRect">
            <a:avLst/>
          </a:prstGeom>
          <a:solidFill>
            <a:srgbClr val="FBE9EB"/>
          </a:solidFill>
          <a:ln w="12700">
            <a:solidFill>
              <a:srgbClr val="FB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394460"/>
            <a:ext cx="121615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81223"/>
                </a:solidFill>
                <a:latin typeface="Noto Sans CJK SC"/>
              </a:rPr>
              <a:t>接触后判断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938528"/>
            <a:ext cx="3822191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C81223"/>
                </a:solidFill>
                <a:latin typeface="Noto Sans CJK SC"/>
              </a:rPr>
              <a:t>低摩擦与透明障碍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C81223"/>
                </a:solidFill>
                <a:latin typeface="Noto Sans CJK SC"/>
              </a:rPr>
              <a:t>可以给出完全相同的画面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3749039" cy="21488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8"/>
              </a:spcAft>
            </a:pPr>
            <a:r>
              <a:rPr sz="1330">
                <a:solidFill>
                  <a:srgbClr val="C81223"/>
                </a:solidFill>
                <a:latin typeface="Noto Sans CJK SC"/>
              </a:rPr>
              <a:t>●  </a:t>
            </a:r>
            <a:r>
              <a:rPr sz="1530" b="1">
                <a:solidFill>
                  <a:srgbClr val="17212B"/>
                </a:solidFill>
                <a:latin typeface="Noto Sans CJK SC"/>
              </a:rPr>
              <a:t>五帧画面像素一致</a:t>
            </a:r>
            <a:r>
              <a:rPr sz="1530">
                <a:solidFill>
                  <a:srgbClr val="17212B"/>
                </a:solidFill>
                <a:latin typeface="Noto Sans CJK SC"/>
              </a:rPr>
              <a:t>：相机无法判断哪一种物理原因</a:t>
            </a:r>
          </a:p>
          <a:p>
            <a:pPr>
              <a:lnSpc>
                <a:spcPct val="106000"/>
              </a:lnSpc>
              <a:spcAft>
                <a:spcPts val="1008"/>
              </a:spcAft>
            </a:pPr>
            <a:r>
              <a:rPr sz="1330">
                <a:solidFill>
                  <a:srgbClr val="C81223"/>
                </a:solidFill>
                <a:latin typeface="Noto Sans CJK SC"/>
              </a:rPr>
              <a:t>●  </a:t>
            </a:r>
            <a:r>
              <a:rPr sz="1530" b="1">
                <a:solidFill>
                  <a:srgbClr val="17212B"/>
                </a:solidFill>
                <a:latin typeface="Noto Sans CJK SC"/>
              </a:rPr>
              <a:t>身体反应明显不同</a:t>
            </a:r>
            <a:r>
              <a:rPr sz="1530">
                <a:solidFill>
                  <a:srgbClr val="17212B"/>
                </a:solidFill>
                <a:latin typeface="Noto Sans CJK SC"/>
              </a:rPr>
              <a:t>：一个持续滑动，一个产生碰撞冲击</a:t>
            </a:r>
          </a:p>
          <a:p>
            <a:pPr>
              <a:lnSpc>
                <a:spcPct val="106000"/>
              </a:lnSpc>
              <a:spcAft>
                <a:spcPts val="1008"/>
              </a:spcAft>
            </a:pPr>
            <a:r>
              <a:rPr sz="1330">
                <a:solidFill>
                  <a:srgbClr val="C81223"/>
                </a:solidFill>
                <a:latin typeface="Noto Sans CJK SC"/>
              </a:rPr>
              <a:t>●  </a:t>
            </a:r>
            <a:r>
              <a:rPr sz="1530" b="1">
                <a:solidFill>
                  <a:srgbClr val="17212B"/>
                </a:solidFill>
                <a:latin typeface="Noto Sans CJK SC"/>
              </a:rPr>
              <a:t>因此只看画面一定会漏</a:t>
            </a:r>
            <a:r>
              <a:rPr sz="1530">
                <a:solidFill>
                  <a:srgbClr val="17212B"/>
                </a:solidFill>
                <a:latin typeface="Noto Sans CJK SC"/>
              </a:rPr>
              <a:t>：需要接触后的加速度和速度历史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5806440"/>
            <a:ext cx="10963656" cy="411480"/>
          </a:xfrm>
          <a:prstGeom prst="roundRect">
            <a:avLst/>
          </a:prstGeom>
          <a:solidFill>
            <a:srgbClr val="FBE9EB"/>
          </a:solidFill>
          <a:ln w="12700">
            <a:solidFill>
              <a:srgbClr val="FB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843016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C81223"/>
                </a:solidFill>
                <a:latin typeface="Noto Sans CJK SC"/>
              </a:rPr>
              <a:t>这组实验反向证明：有些异常必须依靠身体感知。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03 · 整体工作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整个工作围绕四个简单问题展开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81328"/>
            <a:ext cx="2596896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overview.png"/>
          <p:cNvPicPr>
            <a:picLocks noChangeAspect="1"/>
          </p:cNvPicPr>
          <p:nvPr/>
        </p:nvPicPr>
        <p:blipFill>
          <a:blip r:embed="rId2"/>
          <a:srcRect l="7493" r="7493"/>
          <a:stretch>
            <a:fillRect/>
          </a:stretch>
        </p:blipFill>
        <p:spPr>
          <a:xfrm>
            <a:off x="722375" y="1563624"/>
            <a:ext cx="2432304" cy="160934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1" y="1655064"/>
            <a:ext cx="438912" cy="310896"/>
          </a:xfrm>
          <a:prstGeom prst="roundRect">
            <a:avLst/>
          </a:prstGeom>
          <a:solidFill>
            <a:srgbClr val="2665EA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659636"/>
            <a:ext cx="329184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01568"/>
            <a:ext cx="22311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665EA"/>
                </a:solidFill>
                <a:latin typeface="Noto Sans CJK SC"/>
              </a:rPr>
              <a:t>问题是什么？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931920"/>
            <a:ext cx="217627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12B"/>
                </a:solidFill>
                <a:latin typeface="Noto Sans CJK SC"/>
              </a:rPr>
              <a:t>把导航失败从“是否异常”推进到“是什么物理原因”。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19856" y="1481328"/>
            <a:ext cx="2596896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_overview.png"/>
          <p:cNvPicPr>
            <a:picLocks noChangeAspect="1"/>
          </p:cNvPicPr>
          <p:nvPr/>
        </p:nvPicPr>
        <p:blipFill>
          <a:blip r:embed="rId3"/>
          <a:srcRect l="7493" r="7493"/>
          <a:stretch>
            <a:fillRect/>
          </a:stretch>
        </p:blipFill>
        <p:spPr>
          <a:xfrm>
            <a:off x="3502152" y="1563624"/>
            <a:ext cx="2432304" cy="160934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584448" y="1655064"/>
            <a:ext cx="438912" cy="310896"/>
          </a:xfrm>
          <a:prstGeom prst="roundRect">
            <a:avLst/>
          </a:prstGeom>
          <a:solidFill>
            <a:srgbClr val="D77A7E"/>
          </a:solidFill>
          <a:ln w="12700">
            <a:solidFill>
              <a:srgbClr val="D7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9312" y="1659636"/>
            <a:ext cx="329184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3401568"/>
            <a:ext cx="22311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D77A7E"/>
                </a:solidFill>
                <a:latin typeface="Noto Sans CJK SC"/>
              </a:rPr>
              <a:t>如何可控地测？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3931920"/>
            <a:ext cx="217627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12B"/>
                </a:solidFill>
                <a:latin typeface="Noto Sans CJK SC"/>
              </a:rPr>
              <a:t>用 11 个仿真算子，构造可重复的反事实异常。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481328"/>
            <a:ext cx="2596896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4_overview.png"/>
          <p:cNvPicPr>
            <a:picLocks noChangeAspect="1"/>
          </p:cNvPicPr>
          <p:nvPr/>
        </p:nvPicPr>
        <p:blipFill>
          <a:blip r:embed="rId4"/>
          <a:srcRect l="7493" r="7493"/>
          <a:stretch>
            <a:fillRect/>
          </a:stretch>
        </p:blipFill>
        <p:spPr>
          <a:xfrm>
            <a:off x="6281928" y="1563624"/>
            <a:ext cx="2432304" cy="1609344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364224" y="1655064"/>
            <a:ext cx="438912" cy="310896"/>
          </a:xfrm>
          <a:prstGeom prst="roundRect">
            <a:avLst/>
          </a:prstGeom>
          <a:solidFill>
            <a:srgbClr val="2C9CA0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1659636"/>
            <a:ext cx="329184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3401568"/>
            <a:ext cx="22311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2C9CA0"/>
                </a:solidFill>
                <a:latin typeface="Noto Sans CJK SC"/>
              </a:rPr>
              <a:t>如何判断？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931920"/>
            <a:ext cx="217627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12B"/>
                </a:solidFill>
                <a:latin typeface="Noto Sans CJK SC"/>
              </a:rPr>
              <a:t>让视觉、身体和联合专家竞争，再学习该信谁。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9408" y="1481328"/>
            <a:ext cx="2596896" cy="42245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eview_t07.5s.png"/>
          <p:cNvPicPr>
            <a:picLocks noChangeAspect="1"/>
          </p:cNvPicPr>
          <p:nvPr/>
        </p:nvPicPr>
        <p:blipFill>
          <a:blip r:embed="rId5"/>
          <a:srcRect l="7493" r="7493"/>
          <a:stretch>
            <a:fillRect/>
          </a:stretch>
        </p:blipFill>
        <p:spPr>
          <a:xfrm>
            <a:off x="9061704" y="1563624"/>
            <a:ext cx="2432304" cy="1609344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144000" y="1655064"/>
            <a:ext cx="438912" cy="310896"/>
          </a:xfrm>
          <a:prstGeom prst="roundRect">
            <a:avLst/>
          </a:prstGeom>
          <a:solidFill>
            <a:srgbClr val="C81223"/>
          </a:solidFill>
          <a:ln w="12700">
            <a:solidFill>
              <a:srgbClr val="C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98864" y="1659636"/>
            <a:ext cx="329184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8" y="3401568"/>
            <a:ext cx="2231136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50" b="1" i="0">
                <a:solidFill>
                  <a:srgbClr val="C81223"/>
                </a:solidFill>
                <a:latin typeface="Noto Sans CJK SC"/>
              </a:rPr>
              <a:t>判断有用吗？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931920"/>
            <a:ext cx="217627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7212B"/>
                </a:solidFill>
                <a:latin typeface="Noto Sans CJK SC"/>
              </a:rPr>
              <a:t>把原因连接到恢复动作，并测量真实物理后果。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5879592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916168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问题定义、基准、方法和动作后果组成一条完整证据链。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04 · Kino-Fail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一个专门测“异常原因能否被看懂”的真实仿真基准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Registered design and frozen scale snapshot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08</a:t>
            </a:r>
          </a:p>
        </p:txBody>
      </p:sp>
      <p:pic>
        <p:nvPicPr>
          <p:cNvPr id="7" name="Picture 6" descr="01_room_overview_left.png"/>
          <p:cNvPicPr>
            <a:picLocks noChangeAspect="1"/>
          </p:cNvPicPr>
          <p:nvPr/>
        </p:nvPicPr>
        <p:blipFill>
          <a:blip r:embed="rId2"/>
          <a:srcRect l="8088" r="8088"/>
          <a:stretch>
            <a:fillRect/>
          </a:stretch>
        </p:blipFill>
        <p:spPr>
          <a:xfrm>
            <a:off x="640080" y="1280160"/>
            <a:ext cx="3474720" cy="2331720"/>
          </a:xfrm>
          <a:prstGeom prst="rect">
            <a:avLst/>
          </a:prstGeom>
        </p:spPr>
      </p:pic>
      <p:pic>
        <p:nvPicPr>
          <p:cNvPr id="8" name="Picture 7" descr="04_overview.png"/>
          <p:cNvPicPr>
            <a:picLocks noChangeAspect="1"/>
          </p:cNvPicPr>
          <p:nvPr/>
        </p:nvPicPr>
        <p:blipFill>
          <a:blip r:embed="rId3"/>
          <a:srcRect l="8088" r="8088"/>
          <a:stretch>
            <a:fillRect/>
          </a:stretch>
        </p:blipFill>
        <p:spPr>
          <a:xfrm>
            <a:off x="4343400" y="1280160"/>
            <a:ext cx="3474720" cy="2331720"/>
          </a:xfrm>
          <a:prstGeom prst="rect">
            <a:avLst/>
          </a:prstGeom>
        </p:spPr>
      </p:pic>
      <p:pic>
        <p:nvPicPr>
          <p:cNvPr id="9" name="Picture 8" descr="04_overview.png"/>
          <p:cNvPicPr>
            <a:picLocks noChangeAspect="1"/>
          </p:cNvPicPr>
          <p:nvPr/>
        </p:nvPicPr>
        <p:blipFill>
          <a:blip r:embed="rId4"/>
          <a:srcRect l="8088" r="8088"/>
          <a:stretch>
            <a:fillRect/>
          </a:stretch>
        </p:blipFill>
        <p:spPr>
          <a:xfrm>
            <a:off x="8046720" y="1280160"/>
            <a:ext cx="3474720" cy="2331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" y="1463040"/>
            <a:ext cx="118872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467612"/>
            <a:ext cx="10789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生活 / 室内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463040"/>
            <a:ext cx="1188720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467612"/>
            <a:ext cx="107899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生产 / 设施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463040"/>
            <a:ext cx="74980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467612"/>
            <a:ext cx="6400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野外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3977639"/>
            <a:ext cx="2084831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A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4944" y="3977639"/>
            <a:ext cx="73152" cy="1298448"/>
          </a:xfrm>
          <a:prstGeom prst="rect">
            <a:avLst/>
          </a:prstGeom>
          <a:solidFill>
            <a:srgbClr val="2C9CA0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" y="4087368"/>
            <a:ext cx="1719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C9CA0"/>
                </a:solidFill>
                <a:latin typeface="Noto Sans CJK SC"/>
              </a:rPr>
              <a:t>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" y="4553712"/>
            <a:ext cx="171907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仿真异常算子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" y="4873752"/>
            <a:ext cx="1719072" cy="3566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27D"/>
                </a:solidFill>
                <a:latin typeface="Noto Sans CJK SC"/>
              </a:rPr>
              <a:t>覆盖地面、接触、外力、机器人和传感器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80944" y="3977639"/>
            <a:ext cx="2084831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80944" y="3977639"/>
            <a:ext cx="73152" cy="1298448"/>
          </a:xfrm>
          <a:prstGeom prst="rect">
            <a:avLst/>
          </a:prstGeom>
          <a:solidFill>
            <a:srgbClr val="2665EA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9544" y="4087368"/>
            <a:ext cx="1719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65EA"/>
                </a:solidFill>
                <a:latin typeface="Noto Sans CJK SC"/>
              </a:rPr>
              <a:t>988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9544" y="4553712"/>
            <a:ext cx="171907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冻结反事实对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9544" y="4873752"/>
            <a:ext cx="1719072" cy="3566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27D"/>
                </a:solidFill>
                <a:latin typeface="Noto Sans CJK SC"/>
              </a:rPr>
              <a:t>每对从干净重置开始，只改一个物理因素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66944" y="3977639"/>
            <a:ext cx="2084831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5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266944" y="3977639"/>
            <a:ext cx="73152" cy="1298448"/>
          </a:xfrm>
          <a:prstGeom prst="rect">
            <a:avLst/>
          </a:prstGeom>
          <a:solidFill>
            <a:srgbClr val="D77A7E"/>
          </a:solidFill>
          <a:ln w="12700">
            <a:solidFill>
              <a:srgbClr val="D7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95544" y="4087368"/>
            <a:ext cx="1719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D77A7E"/>
                </a:solidFill>
                <a:latin typeface="Noto Sans CJK SC"/>
              </a:rPr>
              <a:t>1,976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95544" y="4553712"/>
            <a:ext cx="171907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物理仿真 episode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95544" y="4873752"/>
            <a:ext cx="1719072" cy="3566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27D"/>
                </a:solidFill>
                <a:latin typeface="Noto Sans CJK SC"/>
              </a:rPr>
              <a:t>每对包含正常与异常两侧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52944" y="3977639"/>
            <a:ext cx="2084831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1C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552944" y="3977639"/>
            <a:ext cx="73152" cy="1298448"/>
          </a:xfrm>
          <a:prstGeom prst="rect">
            <a:avLst/>
          </a:prstGeom>
          <a:solidFill>
            <a:srgbClr val="C81223"/>
          </a:solidFill>
          <a:ln w="12700">
            <a:solidFill>
              <a:srgbClr val="C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81544" y="4087368"/>
            <a:ext cx="171907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81223"/>
                </a:solidFill>
                <a:latin typeface="Noto Sans CJK SC"/>
              </a:rPr>
              <a:t>5,928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81544" y="4553712"/>
            <a:ext cx="171907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同步视觉记录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81544" y="4873752"/>
            <a:ext cx="1719072" cy="3566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27D"/>
                </a:solidFill>
                <a:latin typeface="Noto Sans CJK SC"/>
              </a:rPr>
              <a:t>每个 episode 含 3 种独立外观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38944" y="3977639"/>
            <a:ext cx="1682496" cy="12984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38944" y="3977639"/>
            <a:ext cx="73152" cy="1298448"/>
          </a:xfrm>
          <a:prstGeom prst="rect">
            <a:avLst/>
          </a:prstGeom>
          <a:solidFill>
            <a:srgbClr val="999999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67544" y="4087368"/>
            <a:ext cx="1316736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999999"/>
                </a:solidFill>
                <a:latin typeface="Noto Sans CJK SC"/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67544" y="4553712"/>
            <a:ext cx="131673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材质家族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67544" y="4873752"/>
            <a:ext cx="1316736" cy="35661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8727D"/>
                </a:solidFill>
                <a:latin typeface="Noto Sans CJK SC"/>
              </a:rPr>
              <a:t>外观与物理分开变化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2648" y="5687568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5724144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RGB 来自 Go2 机身前视 RTX 相机；解释性低视角只用于展示，不喂给模型。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04 · Kino-Fail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11 种异常算子（1/2）：地面、接触与外力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Registered same-state Go2-front + low-contact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090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overview.png"/>
          <p:cNvPicPr>
            <a:picLocks noChangeAspect="1"/>
          </p:cNvPicPr>
          <p:nvPr/>
        </p:nvPicPr>
        <p:blipFill>
          <a:blip r:embed="rId2"/>
          <a:srcRect t="8230" b="7597"/>
          <a:stretch>
            <a:fillRect/>
          </a:stretch>
        </p:blipFill>
        <p:spPr>
          <a:xfrm>
            <a:off x="713231" y="1307592"/>
            <a:ext cx="2944368" cy="1394094"/>
          </a:xfrm>
          <a:prstGeom prst="rect">
            <a:avLst/>
          </a:prstGeom>
        </p:spPr>
      </p:pic>
      <p:pic>
        <p:nvPicPr>
          <p:cNvPr id="9" name="Picture 8" descr="02_contact_left.png"/>
          <p:cNvPicPr>
            <a:picLocks noChangeAspect="1"/>
          </p:cNvPicPr>
          <p:nvPr/>
        </p:nvPicPr>
        <p:blipFill>
          <a:blip r:embed="rId3"/>
          <a:srcRect l="658" r="658"/>
          <a:stretch>
            <a:fillRect/>
          </a:stretch>
        </p:blipFill>
        <p:spPr>
          <a:xfrm>
            <a:off x="2414016" y="1950963"/>
            <a:ext cx="1188720" cy="677570"/>
          </a:xfrm>
          <a:prstGeom prst="rect">
            <a:avLst/>
          </a:prstGeom>
          <a:ln w="25400">
            <a:solidFill>
              <a:srgbClr val="2C9CA0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786384" y="1380744"/>
            <a:ext cx="47548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385316"/>
            <a:ext cx="3657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O1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2802270"/>
            <a:ext cx="283463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12B"/>
                </a:solidFill>
                <a:latin typeface="Noto Sans CJK SC"/>
              </a:rPr>
              <a:t>低摩擦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3140598"/>
            <a:ext cx="2834639" cy="25182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脚底更容易打滑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1234440"/>
            <a:ext cx="3090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4_overview.png"/>
          <p:cNvPicPr>
            <a:picLocks noChangeAspect="1"/>
          </p:cNvPicPr>
          <p:nvPr/>
        </p:nvPicPr>
        <p:blipFill>
          <a:blip r:embed="rId4"/>
          <a:srcRect t="8230" b="7597"/>
          <a:stretch>
            <a:fillRect/>
          </a:stretch>
        </p:blipFill>
        <p:spPr>
          <a:xfrm>
            <a:off x="4005072" y="1307592"/>
            <a:ext cx="2944368" cy="1394094"/>
          </a:xfrm>
          <a:prstGeom prst="rect">
            <a:avLst/>
          </a:prstGeom>
        </p:spPr>
      </p:pic>
      <p:pic>
        <p:nvPicPr>
          <p:cNvPr id="16" name="Picture 15" descr="02_contact_left.png"/>
          <p:cNvPicPr>
            <a:picLocks noChangeAspect="1"/>
          </p:cNvPicPr>
          <p:nvPr/>
        </p:nvPicPr>
        <p:blipFill>
          <a:blip r:embed="rId5"/>
          <a:srcRect l="658" r="658"/>
          <a:stretch>
            <a:fillRect/>
          </a:stretch>
        </p:blipFill>
        <p:spPr>
          <a:xfrm>
            <a:off x="5705856" y="1950963"/>
            <a:ext cx="1188720" cy="677570"/>
          </a:xfrm>
          <a:prstGeom prst="rect">
            <a:avLst/>
          </a:prstGeom>
          <a:ln w="25400">
            <a:solidFill>
              <a:srgbClr val="2C9CA0"/>
            </a:solidFill>
          </a:ln>
        </p:spPr>
      </p:pic>
      <p:sp>
        <p:nvSpPr>
          <p:cNvPr id="17" name="Rounded Rectangle 16"/>
          <p:cNvSpPr/>
          <p:nvPr/>
        </p:nvSpPr>
        <p:spPr>
          <a:xfrm>
            <a:off x="4078224" y="1380744"/>
            <a:ext cx="47548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3087" y="1385316"/>
            <a:ext cx="3657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O2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59935" y="2802270"/>
            <a:ext cx="283463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12B"/>
                </a:solidFill>
                <a:latin typeface="Noto Sans CJK SC"/>
              </a:rPr>
              <a:t>软地面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9935" y="3140598"/>
            <a:ext cx="2834639" cy="25182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脚会下陷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234440"/>
            <a:ext cx="3090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4_overview.png"/>
          <p:cNvPicPr>
            <a:picLocks noChangeAspect="1"/>
          </p:cNvPicPr>
          <p:nvPr/>
        </p:nvPicPr>
        <p:blipFill>
          <a:blip r:embed="rId6"/>
          <a:srcRect t="8230" b="7597"/>
          <a:stretch>
            <a:fillRect/>
          </a:stretch>
        </p:blipFill>
        <p:spPr>
          <a:xfrm>
            <a:off x="7296912" y="1307592"/>
            <a:ext cx="2944368" cy="1394094"/>
          </a:xfrm>
          <a:prstGeom prst="rect">
            <a:avLst/>
          </a:prstGeom>
        </p:spPr>
      </p:pic>
      <p:pic>
        <p:nvPicPr>
          <p:cNvPr id="23" name="Picture 22" descr="02_contact_left.png"/>
          <p:cNvPicPr>
            <a:picLocks noChangeAspect="1"/>
          </p:cNvPicPr>
          <p:nvPr/>
        </p:nvPicPr>
        <p:blipFill>
          <a:blip r:embed="rId7"/>
          <a:srcRect l="658" r="658"/>
          <a:stretch>
            <a:fillRect/>
          </a:stretch>
        </p:blipFill>
        <p:spPr>
          <a:xfrm>
            <a:off x="8997696" y="1950963"/>
            <a:ext cx="1188720" cy="677570"/>
          </a:xfrm>
          <a:prstGeom prst="rect">
            <a:avLst/>
          </a:prstGeom>
          <a:ln w="25400">
            <a:solidFill>
              <a:srgbClr val="2C9CA0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7370064" y="1380744"/>
            <a:ext cx="47548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4928" y="1385316"/>
            <a:ext cx="3657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O3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51776" y="2802270"/>
            <a:ext cx="283463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12B"/>
                </a:solidFill>
                <a:latin typeface="Noto Sans CJK SC"/>
              </a:rPr>
              <a:t>地面塌陷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1776" y="3140598"/>
            <a:ext cx="2834639" cy="25182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支撑突然消失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703320"/>
            <a:ext cx="3090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4_overview.png"/>
          <p:cNvPicPr>
            <a:picLocks noChangeAspect="1"/>
          </p:cNvPicPr>
          <p:nvPr/>
        </p:nvPicPr>
        <p:blipFill>
          <a:blip r:embed="rId8"/>
          <a:srcRect t="8230" b="7597"/>
          <a:stretch>
            <a:fillRect/>
          </a:stretch>
        </p:blipFill>
        <p:spPr>
          <a:xfrm>
            <a:off x="713231" y="3776472"/>
            <a:ext cx="2944368" cy="1394094"/>
          </a:xfrm>
          <a:prstGeom prst="rect">
            <a:avLst/>
          </a:prstGeom>
        </p:spPr>
      </p:pic>
      <p:pic>
        <p:nvPicPr>
          <p:cNvPr id="30" name="Picture 29" descr="02_contact_left.png"/>
          <p:cNvPicPr>
            <a:picLocks noChangeAspect="1"/>
          </p:cNvPicPr>
          <p:nvPr/>
        </p:nvPicPr>
        <p:blipFill>
          <a:blip r:embed="rId9"/>
          <a:srcRect l="658" r="658"/>
          <a:stretch>
            <a:fillRect/>
          </a:stretch>
        </p:blipFill>
        <p:spPr>
          <a:xfrm>
            <a:off x="2414016" y="4419843"/>
            <a:ext cx="1188720" cy="677570"/>
          </a:xfrm>
          <a:prstGeom prst="rect">
            <a:avLst/>
          </a:prstGeom>
          <a:ln w="25400">
            <a:solidFill>
              <a:srgbClr val="2C9CA0"/>
            </a:solidFill>
          </a:ln>
        </p:spPr>
      </p:pic>
      <p:sp>
        <p:nvSpPr>
          <p:cNvPr id="31" name="Rounded Rectangle 30"/>
          <p:cNvSpPr/>
          <p:nvPr/>
        </p:nvSpPr>
        <p:spPr>
          <a:xfrm>
            <a:off x="786384" y="3849624"/>
            <a:ext cx="47548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3854196"/>
            <a:ext cx="3657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5271150"/>
            <a:ext cx="283463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12B"/>
                </a:solidFill>
                <a:latin typeface="Noto Sans CJK SC"/>
              </a:rPr>
              <a:t>脚底粘附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5609478"/>
            <a:ext cx="2834639" cy="25182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脚被地面粘住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31920" y="3703320"/>
            <a:ext cx="3090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04_overview.png"/>
          <p:cNvPicPr>
            <a:picLocks noChangeAspect="1"/>
          </p:cNvPicPr>
          <p:nvPr/>
        </p:nvPicPr>
        <p:blipFill>
          <a:blip r:embed="rId10"/>
          <a:srcRect t="8230" b="7597"/>
          <a:stretch>
            <a:fillRect/>
          </a:stretch>
        </p:blipFill>
        <p:spPr>
          <a:xfrm>
            <a:off x="4005072" y="3776472"/>
            <a:ext cx="2944368" cy="1394094"/>
          </a:xfrm>
          <a:prstGeom prst="rect">
            <a:avLst/>
          </a:prstGeom>
        </p:spPr>
      </p:pic>
      <p:pic>
        <p:nvPicPr>
          <p:cNvPr id="37" name="Picture 36" descr="02_contact_left.png"/>
          <p:cNvPicPr>
            <a:picLocks noChangeAspect="1"/>
          </p:cNvPicPr>
          <p:nvPr/>
        </p:nvPicPr>
        <p:blipFill>
          <a:blip r:embed="rId11"/>
          <a:srcRect l="658" r="658"/>
          <a:stretch>
            <a:fillRect/>
          </a:stretch>
        </p:blipFill>
        <p:spPr>
          <a:xfrm>
            <a:off x="5705856" y="4419843"/>
            <a:ext cx="1188720" cy="677570"/>
          </a:xfrm>
          <a:prstGeom prst="rect">
            <a:avLst/>
          </a:prstGeom>
          <a:ln w="25400">
            <a:solidFill>
              <a:srgbClr val="2C9CA0"/>
            </a:solidFill>
          </a:ln>
        </p:spPr>
      </p:pic>
      <p:sp>
        <p:nvSpPr>
          <p:cNvPr id="38" name="Rounded Rectangle 37"/>
          <p:cNvSpPr/>
          <p:nvPr/>
        </p:nvSpPr>
        <p:spPr>
          <a:xfrm>
            <a:off x="4078224" y="3849624"/>
            <a:ext cx="47548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33087" y="3854196"/>
            <a:ext cx="3657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O5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59935" y="5271150"/>
            <a:ext cx="283463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12B"/>
                </a:solidFill>
                <a:latin typeface="Noto Sans CJK SC"/>
              </a:rPr>
              <a:t>负载变化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59935" y="5609478"/>
            <a:ext cx="2834639" cy="25182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重量和重心改变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23760" y="3703320"/>
            <a:ext cx="3090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04_overview.png"/>
          <p:cNvPicPr>
            <a:picLocks noChangeAspect="1"/>
          </p:cNvPicPr>
          <p:nvPr/>
        </p:nvPicPr>
        <p:blipFill>
          <a:blip r:embed="rId12"/>
          <a:srcRect t="8230" b="7597"/>
          <a:stretch>
            <a:fillRect/>
          </a:stretch>
        </p:blipFill>
        <p:spPr>
          <a:xfrm>
            <a:off x="7296912" y="3776472"/>
            <a:ext cx="2944368" cy="1394094"/>
          </a:xfrm>
          <a:prstGeom prst="rect">
            <a:avLst/>
          </a:prstGeom>
        </p:spPr>
      </p:pic>
      <p:pic>
        <p:nvPicPr>
          <p:cNvPr id="44" name="Picture 43" descr="02_contact_left.png"/>
          <p:cNvPicPr>
            <a:picLocks noChangeAspect="1"/>
          </p:cNvPicPr>
          <p:nvPr/>
        </p:nvPicPr>
        <p:blipFill>
          <a:blip r:embed="rId13"/>
          <a:srcRect l="658" r="658"/>
          <a:stretch>
            <a:fillRect/>
          </a:stretch>
        </p:blipFill>
        <p:spPr>
          <a:xfrm>
            <a:off x="8997696" y="4419843"/>
            <a:ext cx="1188720" cy="677570"/>
          </a:xfrm>
          <a:prstGeom prst="rect">
            <a:avLst/>
          </a:prstGeom>
          <a:ln w="25400">
            <a:solidFill>
              <a:srgbClr val="2C9CA0"/>
            </a:solidFill>
          </a:ln>
        </p:spPr>
      </p:pic>
      <p:sp>
        <p:nvSpPr>
          <p:cNvPr id="45" name="Rounded Rectangle 44"/>
          <p:cNvSpPr/>
          <p:nvPr/>
        </p:nvSpPr>
        <p:spPr>
          <a:xfrm>
            <a:off x="7370064" y="3849624"/>
            <a:ext cx="47548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24928" y="3854196"/>
            <a:ext cx="3657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O6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51776" y="5271150"/>
            <a:ext cx="283463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12B"/>
                </a:solidFill>
                <a:latin typeface="Noto Sans CJK SC"/>
              </a:rPr>
              <a:t>侧向推力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51776" y="5609478"/>
            <a:ext cx="2834639" cy="25182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突然受到外力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515600" y="1234440"/>
            <a:ext cx="1005840" cy="4681728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661904" y="1645920"/>
            <a:ext cx="713232" cy="3794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C9CA0"/>
                </a:solidFill>
                <a:latin typeface="Noto Sans CJK SC"/>
              </a:rPr>
              <a:t>每个卡片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C9CA0"/>
                </a:solidFill>
                <a:latin typeface="Noto Sans CJK SC"/>
              </a:rPr>
              <a:t>大图：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C9CA0"/>
                </a:solidFill>
                <a:latin typeface="Noto Sans CJK SC"/>
              </a:rPr>
              <a:t>机器人所处场景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C9CA0"/>
                </a:solidFill>
                <a:latin typeface="Noto Sans CJK SC"/>
              </a:rPr>
              <a:t>小图：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2C9CA0"/>
                </a:solidFill>
                <a:latin typeface="Noto Sans CJK SC"/>
              </a:rPr>
              <a:t>脚边/接触证据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04 · Kino-Fail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11 种异常算子（2/2）：错配、几何、机器人与传感器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Registered same-state Go2-front + low-contact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61872"/>
            <a:ext cx="3090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overview.png"/>
          <p:cNvPicPr>
            <a:picLocks noChangeAspect="1"/>
          </p:cNvPicPr>
          <p:nvPr/>
        </p:nvPicPr>
        <p:blipFill>
          <a:blip r:embed="rId2"/>
          <a:srcRect t="8230" b="7597"/>
          <a:stretch>
            <a:fillRect/>
          </a:stretch>
        </p:blipFill>
        <p:spPr>
          <a:xfrm>
            <a:off x="758952" y="1335024"/>
            <a:ext cx="2944368" cy="1394094"/>
          </a:xfrm>
          <a:prstGeom prst="rect">
            <a:avLst/>
          </a:prstGeom>
        </p:spPr>
      </p:pic>
      <p:pic>
        <p:nvPicPr>
          <p:cNvPr id="9" name="Picture 8" descr="02_contact_left.png"/>
          <p:cNvPicPr>
            <a:picLocks noChangeAspect="1"/>
          </p:cNvPicPr>
          <p:nvPr/>
        </p:nvPicPr>
        <p:blipFill>
          <a:blip r:embed="rId3"/>
          <a:srcRect l="658" r="658"/>
          <a:stretch>
            <a:fillRect/>
          </a:stretch>
        </p:blipFill>
        <p:spPr>
          <a:xfrm>
            <a:off x="2459736" y="1978395"/>
            <a:ext cx="1188720" cy="677570"/>
          </a:xfrm>
          <a:prstGeom prst="rect">
            <a:avLst/>
          </a:prstGeom>
          <a:ln w="25400">
            <a:solidFill>
              <a:srgbClr val="2C9CA0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32104" y="1408175"/>
            <a:ext cx="47548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12747"/>
            <a:ext cx="3657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O7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829702"/>
            <a:ext cx="283463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12B"/>
                </a:solidFill>
                <a:latin typeface="Noto Sans CJK SC"/>
              </a:rPr>
              <a:t>外观与物理错配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168030"/>
            <a:ext cx="2834639" cy="25182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看起来一样，实际更滑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77639" y="1261872"/>
            <a:ext cx="3090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04_overview.png"/>
          <p:cNvPicPr>
            <a:picLocks noChangeAspect="1"/>
          </p:cNvPicPr>
          <p:nvPr/>
        </p:nvPicPr>
        <p:blipFill>
          <a:blip r:embed="rId4"/>
          <a:srcRect t="8230" b="7597"/>
          <a:stretch>
            <a:fillRect/>
          </a:stretch>
        </p:blipFill>
        <p:spPr>
          <a:xfrm>
            <a:off x="4050791" y="1335024"/>
            <a:ext cx="2944368" cy="1394094"/>
          </a:xfrm>
          <a:prstGeom prst="rect">
            <a:avLst/>
          </a:prstGeom>
        </p:spPr>
      </p:pic>
      <p:pic>
        <p:nvPicPr>
          <p:cNvPr id="16" name="Picture 15" descr="02_contact_left.png"/>
          <p:cNvPicPr>
            <a:picLocks noChangeAspect="1"/>
          </p:cNvPicPr>
          <p:nvPr/>
        </p:nvPicPr>
        <p:blipFill>
          <a:blip r:embed="rId5"/>
          <a:srcRect l="658" r="658"/>
          <a:stretch>
            <a:fillRect/>
          </a:stretch>
        </p:blipFill>
        <p:spPr>
          <a:xfrm>
            <a:off x="5751576" y="1978395"/>
            <a:ext cx="1188720" cy="677570"/>
          </a:xfrm>
          <a:prstGeom prst="rect">
            <a:avLst/>
          </a:prstGeom>
          <a:ln w="25400">
            <a:solidFill>
              <a:srgbClr val="2C9CA0"/>
            </a:solidFill>
          </a:ln>
        </p:spPr>
      </p:pic>
      <p:sp>
        <p:nvSpPr>
          <p:cNvPr id="17" name="Rounded Rectangle 16"/>
          <p:cNvSpPr/>
          <p:nvPr/>
        </p:nvSpPr>
        <p:spPr>
          <a:xfrm>
            <a:off x="4123944" y="1408175"/>
            <a:ext cx="47548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78807" y="1412747"/>
            <a:ext cx="3657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O8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5655" y="2829702"/>
            <a:ext cx="283463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12B"/>
                </a:solidFill>
                <a:latin typeface="Noto Sans CJK SC"/>
              </a:rPr>
              <a:t>透明障碍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05655" y="3168030"/>
            <a:ext cx="2834639" cy="25182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相机难看见但会碰撞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69480" y="1261872"/>
            <a:ext cx="3090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4_overview.png"/>
          <p:cNvPicPr>
            <a:picLocks noChangeAspect="1"/>
          </p:cNvPicPr>
          <p:nvPr/>
        </p:nvPicPr>
        <p:blipFill>
          <a:blip r:embed="rId6"/>
          <a:srcRect t="8230" b="7597"/>
          <a:stretch>
            <a:fillRect/>
          </a:stretch>
        </p:blipFill>
        <p:spPr>
          <a:xfrm>
            <a:off x="7342631" y="1335024"/>
            <a:ext cx="2944368" cy="1394094"/>
          </a:xfrm>
          <a:prstGeom prst="rect">
            <a:avLst/>
          </a:prstGeom>
        </p:spPr>
      </p:pic>
      <p:pic>
        <p:nvPicPr>
          <p:cNvPr id="23" name="Picture 22" descr="02_contact_left.png"/>
          <p:cNvPicPr>
            <a:picLocks noChangeAspect="1"/>
          </p:cNvPicPr>
          <p:nvPr/>
        </p:nvPicPr>
        <p:blipFill>
          <a:blip r:embed="rId7"/>
          <a:srcRect l="658" r="658"/>
          <a:stretch>
            <a:fillRect/>
          </a:stretch>
        </p:blipFill>
        <p:spPr>
          <a:xfrm>
            <a:off x="9043415" y="1978395"/>
            <a:ext cx="1188720" cy="677570"/>
          </a:xfrm>
          <a:prstGeom prst="rect">
            <a:avLst/>
          </a:prstGeom>
          <a:ln w="25400">
            <a:solidFill>
              <a:srgbClr val="2C9CA0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7415783" y="1408175"/>
            <a:ext cx="47548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1412747"/>
            <a:ext cx="3657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O9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97496" y="2829702"/>
            <a:ext cx="283463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12B"/>
                </a:solidFill>
                <a:latin typeface="Noto Sans CJK SC"/>
              </a:rPr>
              <a:t>底盘托底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97496" y="3168030"/>
            <a:ext cx="2834639" cy="25182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横梁卡住机腹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31720" y="3721608"/>
            <a:ext cx="3090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4_overview.png"/>
          <p:cNvPicPr>
            <a:picLocks noChangeAspect="1"/>
          </p:cNvPicPr>
          <p:nvPr/>
        </p:nvPicPr>
        <p:blipFill>
          <a:blip r:embed="rId8"/>
          <a:srcRect t="8230" b="7597"/>
          <a:stretch>
            <a:fillRect/>
          </a:stretch>
        </p:blipFill>
        <p:spPr>
          <a:xfrm>
            <a:off x="2404872" y="3794760"/>
            <a:ext cx="2944368" cy="1394094"/>
          </a:xfrm>
          <a:prstGeom prst="rect">
            <a:avLst/>
          </a:prstGeom>
        </p:spPr>
      </p:pic>
      <p:pic>
        <p:nvPicPr>
          <p:cNvPr id="30" name="Picture 29" descr="02_contact_left.png"/>
          <p:cNvPicPr>
            <a:picLocks noChangeAspect="1"/>
          </p:cNvPicPr>
          <p:nvPr/>
        </p:nvPicPr>
        <p:blipFill>
          <a:blip r:embed="rId9"/>
          <a:srcRect l="658" r="658"/>
          <a:stretch>
            <a:fillRect/>
          </a:stretch>
        </p:blipFill>
        <p:spPr>
          <a:xfrm>
            <a:off x="4105656" y="4438131"/>
            <a:ext cx="1188720" cy="677570"/>
          </a:xfrm>
          <a:prstGeom prst="rect">
            <a:avLst/>
          </a:prstGeom>
          <a:ln w="25400">
            <a:solidFill>
              <a:srgbClr val="2C9CA0"/>
            </a:solidFill>
          </a:ln>
        </p:spPr>
      </p:pic>
      <p:sp>
        <p:nvSpPr>
          <p:cNvPr id="31" name="Rounded Rectangle 30"/>
          <p:cNvSpPr/>
          <p:nvPr/>
        </p:nvSpPr>
        <p:spPr>
          <a:xfrm>
            <a:off x="2478024" y="3867912"/>
            <a:ext cx="47548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32888" y="3872484"/>
            <a:ext cx="3657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O10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59736" y="5289438"/>
            <a:ext cx="283463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12B"/>
                </a:solidFill>
                <a:latin typeface="Noto Sans CJK SC"/>
              </a:rPr>
              <a:t>驱动力衰减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59736" y="5627766"/>
            <a:ext cx="2834639" cy="25182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电机出力受限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3721608"/>
            <a:ext cx="309067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04_overview.png"/>
          <p:cNvPicPr>
            <a:picLocks noChangeAspect="1"/>
          </p:cNvPicPr>
          <p:nvPr/>
        </p:nvPicPr>
        <p:blipFill>
          <a:blip r:embed="rId10"/>
          <a:srcRect t="8230" b="7597"/>
          <a:stretch>
            <a:fillRect/>
          </a:stretch>
        </p:blipFill>
        <p:spPr>
          <a:xfrm>
            <a:off x="5696712" y="3794760"/>
            <a:ext cx="2944368" cy="1394094"/>
          </a:xfrm>
          <a:prstGeom prst="rect">
            <a:avLst/>
          </a:prstGeom>
        </p:spPr>
      </p:pic>
      <p:pic>
        <p:nvPicPr>
          <p:cNvPr id="37" name="Picture 36" descr="02_contact_left.png"/>
          <p:cNvPicPr>
            <a:picLocks noChangeAspect="1"/>
          </p:cNvPicPr>
          <p:nvPr/>
        </p:nvPicPr>
        <p:blipFill>
          <a:blip r:embed="rId11"/>
          <a:srcRect l="658" r="658"/>
          <a:stretch>
            <a:fillRect/>
          </a:stretch>
        </p:blipFill>
        <p:spPr>
          <a:xfrm>
            <a:off x="7397496" y="4438131"/>
            <a:ext cx="1188720" cy="677570"/>
          </a:xfrm>
          <a:prstGeom prst="rect">
            <a:avLst/>
          </a:prstGeom>
          <a:ln w="25400">
            <a:solidFill>
              <a:srgbClr val="2C9CA0"/>
            </a:solidFill>
          </a:ln>
        </p:spPr>
      </p:pic>
      <p:sp>
        <p:nvSpPr>
          <p:cNvPr id="38" name="Rounded Rectangle 37"/>
          <p:cNvSpPr/>
          <p:nvPr/>
        </p:nvSpPr>
        <p:spPr>
          <a:xfrm>
            <a:off x="5769864" y="3867912"/>
            <a:ext cx="475488" cy="310896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24728" y="3872484"/>
            <a:ext cx="3657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Noto Sans CJK SC"/>
              </a:rPr>
              <a:t>O11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51576" y="5289438"/>
            <a:ext cx="283463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7212B"/>
                </a:solidFill>
                <a:latin typeface="Noto Sans CJK SC"/>
              </a:rPr>
              <a:t>身体感知偏差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751576" y="5627766"/>
            <a:ext cx="2834639" cy="251825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IMU 偏置与延迟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7696" y="3721608"/>
            <a:ext cx="2487168" cy="2212848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4005072"/>
            <a:ext cx="19933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C9CA0"/>
                </a:solidFill>
                <a:latin typeface="Noto Sans CJK SC"/>
              </a:rPr>
              <a:t>为什么需要这些算子？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440" y="4553712"/>
            <a:ext cx="1993392" cy="1033271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7212B"/>
                </a:solidFill>
                <a:latin typeface="Noto Sans CJK SC"/>
              </a:rPr>
              <a:t>真实失败并不都能从一张图直接看见。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7212B"/>
                </a:solidFill>
                <a:latin typeface="Noto Sans CJK SC"/>
              </a:rPr>
              <a:t>我们既测“外观会骗人”，也测“身体传感会骗人”。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04 · Kino-Fail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关键设计：外观与物理分开随机化，避免模型记住贴图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Frozen RGB view variants; same-state registered operator views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1234440"/>
            <a:ext cx="4983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C9CA0"/>
                </a:solidFill>
                <a:latin typeface="Noto Sans CJK SC"/>
              </a:rPr>
              <a:t>同一种物理，可以长得不一样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636776"/>
            <a:ext cx="175564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00027.png"/>
          <p:cNvPicPr>
            <a:picLocks noChangeAspect="1"/>
          </p:cNvPicPr>
          <p:nvPr/>
        </p:nvPicPr>
        <p:blipFill>
          <a:blip r:embed="rId2"/>
          <a:srcRect l="15125" r="15125"/>
          <a:stretch>
            <a:fillRect/>
          </a:stretch>
        </p:blipFill>
        <p:spPr>
          <a:xfrm>
            <a:off x="685800" y="1664208"/>
            <a:ext cx="1700784" cy="1371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77240" y="1755648"/>
            <a:ext cx="1152144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1769364"/>
            <a:ext cx="1042416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材质 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636776"/>
            <a:ext cx="175564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00027.png"/>
          <p:cNvPicPr>
            <a:picLocks noChangeAspect="1"/>
          </p:cNvPicPr>
          <p:nvPr/>
        </p:nvPicPr>
        <p:blipFill>
          <a:blip r:embed="rId3"/>
          <a:srcRect l="15125" r="15125"/>
          <a:stretch>
            <a:fillRect/>
          </a:stretch>
        </p:blipFill>
        <p:spPr>
          <a:xfrm>
            <a:off x="2542032" y="1664208"/>
            <a:ext cx="1700784" cy="1371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633472" y="1755648"/>
            <a:ext cx="1152144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1769364"/>
            <a:ext cx="1042416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材质 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1" y="1636776"/>
            <a:ext cx="1755648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00027.png"/>
          <p:cNvPicPr>
            <a:picLocks noChangeAspect="1"/>
          </p:cNvPicPr>
          <p:nvPr/>
        </p:nvPicPr>
        <p:blipFill>
          <a:blip r:embed="rId4"/>
          <a:srcRect l="15125" r="15125"/>
          <a:stretch>
            <a:fillRect/>
          </a:stretch>
        </p:blipFill>
        <p:spPr>
          <a:xfrm>
            <a:off x="4398264" y="1664208"/>
            <a:ext cx="1700784" cy="13716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489703" y="1755648"/>
            <a:ext cx="1152144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1769364"/>
            <a:ext cx="1042416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材质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234440"/>
            <a:ext cx="4983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1223"/>
                </a:solidFill>
                <a:latin typeface="Noto Sans CJK SC"/>
              </a:rPr>
              <a:t>同一种外观，也可以承载不同物理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0216" y="1636776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1_go2_front.png"/>
          <p:cNvPicPr>
            <a:picLocks noChangeAspect="1"/>
          </p:cNvPicPr>
          <p:nvPr/>
        </p:nvPicPr>
        <p:blipFill>
          <a:blip r:embed="rId5"/>
          <a:srcRect l="17750" r="17750"/>
          <a:stretch>
            <a:fillRect/>
          </a:stretch>
        </p:blipFill>
        <p:spPr>
          <a:xfrm>
            <a:off x="6327648" y="1664208"/>
            <a:ext cx="1572768" cy="13716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419088" y="1755648"/>
            <a:ext cx="98755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1769364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低摩擦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9288" y="1636776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1_go2_front.png"/>
          <p:cNvPicPr>
            <a:picLocks noChangeAspect="1"/>
          </p:cNvPicPr>
          <p:nvPr/>
        </p:nvPicPr>
        <p:blipFill>
          <a:blip r:embed="rId6"/>
          <a:srcRect l="17750" r="17750"/>
          <a:stretch>
            <a:fillRect/>
          </a:stretch>
        </p:blipFill>
        <p:spPr>
          <a:xfrm>
            <a:off x="8046720" y="1664208"/>
            <a:ext cx="1572768" cy="13716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8138160" y="1755648"/>
            <a:ext cx="98755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4" y="1769364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软地面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38360" y="1636776"/>
            <a:ext cx="1627632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01_go2_front.png"/>
          <p:cNvPicPr>
            <a:picLocks noChangeAspect="1"/>
          </p:cNvPicPr>
          <p:nvPr/>
        </p:nvPicPr>
        <p:blipFill>
          <a:blip r:embed="rId7"/>
          <a:srcRect l="17750" r="17750"/>
          <a:stretch>
            <a:fillRect/>
          </a:stretch>
        </p:blipFill>
        <p:spPr>
          <a:xfrm>
            <a:off x="9765792" y="1664208"/>
            <a:ext cx="1572768" cy="137160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9857232" y="1755648"/>
            <a:ext cx="98755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12096" y="1769364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会塌陷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3401568"/>
            <a:ext cx="5349240" cy="192024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7552" y="3712463"/>
            <a:ext cx="4736592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C9CA0"/>
                </a:solidFill>
                <a:latin typeface="Noto Sans CJK SC"/>
              </a:rPr>
              <a:t>模型不能靠“看见某种纹理”就猜物理标签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4334256"/>
            <a:ext cx="4681728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12B"/>
                </a:solidFill>
                <a:latin typeface="Noto Sans CJK SC"/>
              </a:rPr>
              <a:t>每个物理 episode 额外渲染多个外观；训练时这些外观的总权重仍为 1，不虚增样本量。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08776" y="3401568"/>
            <a:ext cx="5312664" cy="1920240"/>
          </a:xfrm>
          <a:prstGeom prst="roundRect">
            <a:avLst/>
          </a:prstGeom>
          <a:solidFill>
            <a:srgbClr val="FBE9EB"/>
          </a:solidFill>
          <a:ln w="12700">
            <a:solidFill>
              <a:srgbClr val="FB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712463"/>
            <a:ext cx="4736592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81223"/>
                </a:solidFill>
                <a:latin typeface="Noto Sans CJK SC"/>
              </a:rPr>
              <a:t>物理标签来自仿真算子，不来自贴图名字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8816" y="4334256"/>
            <a:ext cx="4645152" cy="6766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17212B"/>
                </a:solidFill>
                <a:latin typeface="Noto Sans CJK SC"/>
              </a:rPr>
              <a:t>摩擦、柔顺、碰撞、外力等由 Isaac Sim 物理层独立控制；材质只改变画面。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" y="5760720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5797296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目标是让模型学“证据关系”，而不是把某块地毯记成某种异常。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05 · 输入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每次判断只看两样东西：眼前几帧 + 身体一段反应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Frozen O8 benchmark episode; Go2-front RGB and 19-channel packet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12</a:t>
            </a:r>
          </a:p>
        </p:txBody>
      </p:sp>
      <p:pic>
        <p:nvPicPr>
          <p:cNvPr id="7" name="Picture 6" descr="000000.png"/>
          <p:cNvPicPr>
            <a:picLocks noChangeAspect="1"/>
          </p:cNvPicPr>
          <p:nvPr/>
        </p:nvPicPr>
        <p:blipFill>
          <a:blip r:embed="rId2"/>
          <a:srcRect l="25172" r="25172"/>
          <a:stretch>
            <a:fillRect/>
          </a:stretch>
        </p:blipFill>
        <p:spPr>
          <a:xfrm>
            <a:off x="658368" y="1371600"/>
            <a:ext cx="1170432" cy="1325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14984" y="248716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t1</a:t>
            </a:r>
          </a:p>
        </p:txBody>
      </p:sp>
      <p:pic>
        <p:nvPicPr>
          <p:cNvPr id="9" name="Picture 8" descr="000017.png"/>
          <p:cNvPicPr>
            <a:picLocks noChangeAspect="1"/>
          </p:cNvPicPr>
          <p:nvPr/>
        </p:nvPicPr>
        <p:blipFill>
          <a:blip r:embed="rId3"/>
          <a:srcRect l="25172" r="25172"/>
          <a:stretch>
            <a:fillRect/>
          </a:stretch>
        </p:blipFill>
        <p:spPr>
          <a:xfrm>
            <a:off x="1956815" y="1371600"/>
            <a:ext cx="1170432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313432" y="248716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t2</a:t>
            </a:r>
          </a:p>
        </p:txBody>
      </p:sp>
      <p:pic>
        <p:nvPicPr>
          <p:cNvPr id="11" name="Picture 10" descr="000035.png"/>
          <p:cNvPicPr>
            <a:picLocks noChangeAspect="1"/>
          </p:cNvPicPr>
          <p:nvPr/>
        </p:nvPicPr>
        <p:blipFill>
          <a:blip r:embed="rId4"/>
          <a:srcRect l="25172" r="25172"/>
          <a:stretch>
            <a:fillRect/>
          </a:stretch>
        </p:blipFill>
        <p:spPr>
          <a:xfrm>
            <a:off x="3255263" y="1371600"/>
            <a:ext cx="1170432" cy="1325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611880" y="248716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t3</a:t>
            </a:r>
          </a:p>
        </p:txBody>
      </p:sp>
      <p:pic>
        <p:nvPicPr>
          <p:cNvPr id="13" name="Picture 12" descr="000053.png"/>
          <p:cNvPicPr>
            <a:picLocks noChangeAspect="1"/>
          </p:cNvPicPr>
          <p:nvPr/>
        </p:nvPicPr>
        <p:blipFill>
          <a:blip r:embed="rId5"/>
          <a:srcRect l="25172" r="25172"/>
          <a:stretch>
            <a:fillRect/>
          </a:stretch>
        </p:blipFill>
        <p:spPr>
          <a:xfrm>
            <a:off x="4553712" y="1371600"/>
            <a:ext cx="1170432" cy="13258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10328" y="248716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t4</a:t>
            </a:r>
          </a:p>
        </p:txBody>
      </p:sp>
      <p:pic>
        <p:nvPicPr>
          <p:cNvPr id="15" name="Picture 14" descr="000071.png"/>
          <p:cNvPicPr>
            <a:picLocks noChangeAspect="1"/>
          </p:cNvPicPr>
          <p:nvPr/>
        </p:nvPicPr>
        <p:blipFill>
          <a:blip r:embed="rId6"/>
          <a:srcRect l="25172" r="25172"/>
          <a:stretch>
            <a:fillRect/>
          </a:stretch>
        </p:blipFill>
        <p:spPr>
          <a:xfrm>
            <a:off x="5852159" y="1371600"/>
            <a:ext cx="1170432" cy="1325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08776" y="2487168"/>
            <a:ext cx="457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Noto Sans CJK SC"/>
              </a:rPr>
              <a:t>t5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807208"/>
            <a:ext cx="6172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665EA"/>
                </a:solidFill>
                <a:latin typeface="Noto Sans CJK SC"/>
              </a:rPr>
              <a:t>眼睛：5 帧机器人前视画面</a:t>
            </a:r>
          </a:p>
        </p:txBody>
      </p:sp>
      <p:pic>
        <p:nvPicPr>
          <p:cNvPr id="18" name="Picture 17" descr="body_packet_c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94576" y="1906162"/>
            <a:ext cx="4608576" cy="193010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068312" y="4572000"/>
            <a:ext cx="4242816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81223"/>
                </a:solidFill>
                <a:latin typeface="Noto Sans CJK SC"/>
              </a:rPr>
              <a:t>身体：19 路原始信号 → 8 类易解释量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6053328" cy="1645920"/>
          </a:xfrm>
          <a:prstGeom prst="roundRect">
            <a:avLst/>
          </a:prstGeom>
          <a:solidFill>
            <a:srgbClr val="EAF0FE"/>
          </a:solidFill>
          <a:ln w="12700">
            <a:solidFill>
              <a:srgbClr val="EA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005072"/>
            <a:ext cx="544982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665EA"/>
                </a:solidFill>
                <a:latin typeface="Noto Sans CJK SC"/>
              </a:rPr>
              <a:t>画面回答“前方是什么”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4535424"/>
            <a:ext cx="54864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17212B"/>
                </a:solidFill>
                <a:latin typeface="Noto Sans CJK SC"/>
              </a:rPr>
              <a:t>身体回答“接触以后发生了什么”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17212B"/>
                </a:solidFill>
                <a:latin typeface="Noto Sans CJK SC"/>
              </a:rPr>
              <a:t>包括倾斜、滑移、支撑、速度、加速度和用力程度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" y="5733288"/>
            <a:ext cx="10963656" cy="411480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769864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68727D"/>
                </a:solidFill>
                <a:latin typeface="Noto Sans CJK SC"/>
              </a:rPr>
              <a:t>不读取场景编号、算子真值、材质编号或仿真器内部标签。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06 · 实验原则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反事实配对：同一个起点，只改变一个物理原因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Indoor adhesion demo and registered reset-isolated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316736"/>
            <a:ext cx="3758183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view_t04.8s.png"/>
          <p:cNvPicPr>
            <a:picLocks noChangeAspect="1"/>
          </p:cNvPicPr>
          <p:nvPr/>
        </p:nvPicPr>
        <p:blipFill>
          <a:blip r:embed="rId2"/>
          <a:srcRect l="10722" r="10722"/>
          <a:stretch>
            <a:fillRect/>
          </a:stretch>
        </p:blipFill>
        <p:spPr>
          <a:xfrm>
            <a:off x="685800" y="1344168"/>
            <a:ext cx="3703320" cy="26517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1435608"/>
            <a:ext cx="987552" cy="365760"/>
          </a:xfrm>
          <a:prstGeom prst="roundRect">
            <a:avLst/>
          </a:prstGeom>
          <a:solidFill>
            <a:srgbClr val="2C9CA0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1449324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正常侧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0" y="1316736"/>
            <a:ext cx="3758183" cy="2706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view_t04.8s.png"/>
          <p:cNvPicPr>
            <a:picLocks noChangeAspect="1"/>
          </p:cNvPicPr>
          <p:nvPr/>
        </p:nvPicPr>
        <p:blipFill>
          <a:blip r:embed="rId3"/>
          <a:srcRect l="10722" r="10722"/>
          <a:stretch>
            <a:fillRect/>
          </a:stretch>
        </p:blipFill>
        <p:spPr>
          <a:xfrm>
            <a:off x="7799831" y="1344168"/>
            <a:ext cx="3703320" cy="26517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891271" y="1435608"/>
            <a:ext cx="1993392" cy="365760"/>
          </a:xfrm>
          <a:prstGeom prst="roundRect">
            <a:avLst/>
          </a:prstGeom>
          <a:solidFill>
            <a:srgbClr val="C81223"/>
          </a:solidFill>
          <a:ln w="12700">
            <a:solidFill>
              <a:srgbClr val="C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46136" y="1449324"/>
            <a:ext cx="188366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异常侧：脚底粘附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27448" y="1737360"/>
            <a:ext cx="2743200" cy="1920240"/>
          </a:xfrm>
          <a:prstGeom prst="roundRect">
            <a:avLst/>
          </a:prstGeom>
          <a:solidFill>
            <a:srgbClr val="F6F8F9"/>
          </a:solidFill>
          <a:ln w="1524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975104"/>
            <a:ext cx="2139696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12B"/>
                </a:solidFill>
                <a:latin typeface="Noto Sans CJK SC"/>
              </a:rPr>
              <a:t>同一场景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12B"/>
                </a:solidFill>
                <a:latin typeface="Noto Sans CJK SC"/>
              </a:rPr>
              <a:t>同一初始状态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12B"/>
                </a:solidFill>
                <a:latin typeface="Noto Sans CJK SC"/>
              </a:rPr>
              <a:t>同一路线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7212B"/>
                </a:solidFill>
                <a:latin typeface="Noto Sans CJK SC"/>
              </a:rPr>
              <a:t>同一相机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300984"/>
            <a:ext cx="2441448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C81223"/>
                </a:solidFill>
                <a:latin typeface="Noto Sans CJK SC"/>
              </a:rPr>
              <a:t>只切换一个算子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89120" y="2670048"/>
            <a:ext cx="338328" cy="0"/>
          </a:xfrm>
          <a:prstGeom prst="line">
            <a:avLst/>
          </a:prstGeom>
          <a:ln w="38100">
            <a:solidFill>
              <a:srgbClr val="2C9C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470648" y="2670048"/>
            <a:ext cx="329183" cy="0"/>
          </a:xfrm>
          <a:prstGeom prst="line">
            <a:avLst/>
          </a:prstGeom>
          <a:ln w="38100">
            <a:solidFill>
              <a:srgbClr val="C81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96112" y="4370832"/>
            <a:ext cx="3090672" cy="1143000"/>
          </a:xfrm>
          <a:prstGeom prst="roundRect">
            <a:avLst/>
          </a:prstGeom>
          <a:solidFill>
            <a:srgbClr val="E5F4F4"/>
          </a:solidFill>
          <a:ln w="13970">
            <a:solidFill>
              <a:srgbClr val="CA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" y="4370832"/>
            <a:ext cx="73152" cy="1143000"/>
          </a:xfrm>
          <a:prstGeom prst="rect">
            <a:avLst/>
          </a:prstGeom>
          <a:solidFill>
            <a:srgbClr val="2C9CA0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24712" y="4480560"/>
            <a:ext cx="2724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C9CA0"/>
                </a:solidFill>
                <a:latin typeface="Noto Sans CJK SC"/>
              </a:rPr>
              <a:t>每对都重置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" y="4946904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排除前一条轨迹的残留影响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53712" y="4370832"/>
            <a:ext cx="3090672" cy="1143000"/>
          </a:xfrm>
          <a:prstGeom prst="roundRect">
            <a:avLst/>
          </a:prstGeom>
          <a:solidFill>
            <a:srgbClr val="EAF0FE"/>
          </a:solidFill>
          <a:ln w="13970">
            <a:solidFill>
              <a:srgbClr val="C9D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53712" y="4370832"/>
            <a:ext cx="73152" cy="1143000"/>
          </a:xfrm>
          <a:prstGeom prst="rect">
            <a:avLst/>
          </a:prstGeom>
          <a:solidFill>
            <a:srgbClr val="2665EA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4480560"/>
            <a:ext cx="2724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65EA"/>
                </a:solidFill>
                <a:latin typeface="Noto Sans CJK SC"/>
              </a:rPr>
              <a:t>保存哈希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4946904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场景、相机、边界和文件均可核验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11312" y="4370832"/>
            <a:ext cx="3090672" cy="1143000"/>
          </a:xfrm>
          <a:prstGeom prst="roundRect">
            <a:avLst/>
          </a:prstGeom>
          <a:solidFill>
            <a:srgbClr val="FBE9EB"/>
          </a:solidFill>
          <a:ln w="13970">
            <a:solidFill>
              <a:srgbClr val="F1C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11312" y="4370832"/>
            <a:ext cx="73152" cy="1143000"/>
          </a:xfrm>
          <a:prstGeom prst="rect">
            <a:avLst/>
          </a:prstGeom>
          <a:solidFill>
            <a:srgbClr val="C81223"/>
          </a:solidFill>
          <a:ln w="12700">
            <a:solidFill>
              <a:srgbClr val="C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9912" y="4480560"/>
            <a:ext cx="27249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81223"/>
                </a:solidFill>
                <a:latin typeface="Noto Sans CJK SC"/>
              </a:rPr>
              <a:t>配对统计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9912" y="4946904"/>
            <a:ext cx="27249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把“哪种方法更好”落在同一案例上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5733288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769864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我们测的是归因方法本身，而不是某次导航随机跑得更幸运。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07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KiNO 的直觉：三位专家 + 一位会看分歧的裁判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Current paper Fig. 3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14</a:t>
            </a:r>
          </a:p>
        </p:txBody>
      </p:sp>
      <p:pic>
        <p:nvPicPr>
          <p:cNvPr id="7" name="Picture 6" descr="fig3_structured_router_legacy_boxes_ba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05" y="1234440"/>
            <a:ext cx="5705932" cy="446227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013448" y="1389888"/>
            <a:ext cx="1115568" cy="310896"/>
          </a:xfrm>
          <a:prstGeom prst="roundRect">
            <a:avLst/>
          </a:prstGeom>
          <a:solidFill>
            <a:srgbClr val="EAF0FE"/>
          </a:solidFill>
          <a:ln w="12700">
            <a:solidFill>
              <a:srgbClr val="EA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68312" y="1394460"/>
            <a:ext cx="10058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665EA"/>
                </a:solidFill>
                <a:latin typeface="Noto Sans CJK SC"/>
              </a:rPr>
              <a:t>视觉专家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426464"/>
            <a:ext cx="2606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12B"/>
                </a:solidFill>
                <a:latin typeface="Noto Sans CJK SC"/>
              </a:rPr>
              <a:t>只从画面判断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13448" y="2212848"/>
            <a:ext cx="1115568" cy="310896"/>
          </a:xfrm>
          <a:prstGeom prst="roundRect">
            <a:avLst/>
          </a:prstGeom>
          <a:solidFill>
            <a:srgbClr val="FBE9EB"/>
          </a:solidFill>
          <a:ln w="12700">
            <a:solidFill>
              <a:srgbClr val="FB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17420"/>
            <a:ext cx="10058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81223"/>
                </a:solidFill>
                <a:latin typeface="Noto Sans CJK SC"/>
              </a:rPr>
              <a:t>身体专家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249424"/>
            <a:ext cx="260604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12B"/>
                </a:solidFill>
                <a:latin typeface="Noto Sans CJK SC"/>
              </a:rPr>
              <a:t>只从身体反应判断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13448" y="3035808"/>
            <a:ext cx="1115568" cy="310896"/>
          </a:xfrm>
          <a:prstGeom prst="roundRect">
            <a:avLst/>
          </a:prstGeom>
          <a:solidFill>
            <a:srgbClr val="FAEFF0"/>
          </a:solidFill>
          <a:ln w="12700">
            <a:solidFill>
              <a:srgbClr val="FAEF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68312" y="3040379"/>
            <a:ext cx="100584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77A7E"/>
                </a:solidFill>
                <a:latin typeface="Noto Sans CJK SC"/>
              </a:rPr>
              <a:t>联合专家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72384"/>
            <a:ext cx="2852928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12B"/>
                </a:solidFill>
                <a:latin typeface="Noto Sans CJK SC"/>
              </a:rPr>
              <a:t>直接同时使用两路输入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86016" y="3813048"/>
            <a:ext cx="4334256" cy="1307592"/>
          </a:xfrm>
          <a:prstGeom prst="roundRect">
            <a:avLst/>
          </a:prstGeom>
          <a:solidFill>
            <a:srgbClr val="E5F4F4"/>
          </a:solidFill>
          <a:ln w="1524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4059936"/>
            <a:ext cx="376732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C9CA0"/>
                </a:solidFill>
                <a:latin typeface="Noto Sans CJK SC"/>
              </a:rPr>
              <a:t>学习型路由器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4517136"/>
            <a:ext cx="3749039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70" b="0" i="0">
                <a:solidFill>
                  <a:srgbClr val="17212B"/>
                </a:solidFill>
                <a:latin typeface="Noto Sans CJK SC"/>
              </a:rPr>
              <a:t>观察三位专家的把握、分歧和不确定性，再选择这次该信谁。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760720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797296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重点不是把两种输入拼在一起，而是显式学习“这次哪一路证据更有诊断力”。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07 ·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同一套模型，在两种冲突里走不同证据路线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5376672" cy="4443984"/>
          </a:xfrm>
          <a:prstGeom prst="roundRect">
            <a:avLst/>
          </a:prstGeom>
          <a:solidFill>
            <a:srgbClr val="EAF0FE"/>
          </a:solidFill>
          <a:ln w="12700">
            <a:solidFill>
              <a:srgbClr val="EA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536192"/>
            <a:ext cx="1554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2665EA"/>
                </a:solidFill>
                <a:latin typeface="Noto Sans CJK SC"/>
              </a:rPr>
              <a:t>T2 · 接触前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984248"/>
            <a:ext cx="223113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go2_front.png"/>
          <p:cNvPicPr>
            <a:picLocks noChangeAspect="1"/>
          </p:cNvPicPr>
          <p:nvPr/>
        </p:nvPicPr>
        <p:blipFill>
          <a:blip r:embed="rId2"/>
          <a:srcRect l="11083" r="11083"/>
          <a:stretch>
            <a:fillRect/>
          </a:stretch>
        </p:blipFill>
        <p:spPr>
          <a:xfrm>
            <a:off x="896112" y="2011680"/>
            <a:ext cx="2176272" cy="15727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87552" y="2103120"/>
            <a:ext cx="98755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2116836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软地面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2424" y="1984248"/>
            <a:ext cx="223113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_go2_front.png"/>
          <p:cNvPicPr>
            <a:picLocks noChangeAspect="1"/>
          </p:cNvPicPr>
          <p:nvPr/>
        </p:nvPicPr>
        <p:blipFill>
          <a:blip r:embed="rId3"/>
          <a:srcRect l="11083" r="11083"/>
          <a:stretch>
            <a:fillRect/>
          </a:stretch>
        </p:blipFill>
        <p:spPr>
          <a:xfrm>
            <a:off x="3419856" y="2011680"/>
            <a:ext cx="2176272" cy="15727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511296" y="2103120"/>
            <a:ext cx="1152144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116836"/>
            <a:ext cx="1042416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脚底粘附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822191"/>
            <a:ext cx="17556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8727D"/>
                </a:solidFill>
                <a:latin typeface="Noto Sans CJK SC"/>
              </a:rPr>
              <a:t>身体输入相同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3822191"/>
            <a:ext cx="189280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665EA"/>
                </a:solidFill>
                <a:latin typeface="Noto Sans CJK SC"/>
              </a:rPr>
              <a:t>→ 选择视觉证据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97864" y="4443984"/>
            <a:ext cx="4306824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12B"/>
                </a:solidFill>
                <a:latin typeface="Noto Sans CJK SC"/>
              </a:rPr>
              <a:t>画面中的软土/粘附膜语义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12B"/>
                </a:solidFill>
                <a:latin typeface="Noto Sans CJK SC"/>
              </a:rPr>
              <a:t>决定下一步动作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298448"/>
            <a:ext cx="5358384" cy="4443984"/>
          </a:xfrm>
          <a:prstGeom prst="roundRect">
            <a:avLst/>
          </a:prstGeom>
          <a:solidFill>
            <a:srgbClr val="FBE9EB"/>
          </a:solidFill>
          <a:ln w="12700">
            <a:solidFill>
              <a:srgbClr val="FBE9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1536192"/>
            <a:ext cx="15544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C81223"/>
                </a:solidFill>
                <a:latin typeface="Noto Sans CJK SC"/>
              </a:rPr>
              <a:t>T3 · 接触后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82512" y="1984248"/>
            <a:ext cx="223113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01_go2_front.png"/>
          <p:cNvPicPr>
            <a:picLocks noChangeAspect="1"/>
          </p:cNvPicPr>
          <p:nvPr/>
        </p:nvPicPr>
        <p:blipFill>
          <a:blip r:embed="rId4"/>
          <a:srcRect l="11083" r="11083"/>
          <a:stretch>
            <a:fillRect/>
          </a:stretch>
        </p:blipFill>
        <p:spPr>
          <a:xfrm>
            <a:off x="6409944" y="2011680"/>
            <a:ext cx="2176272" cy="1572768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501383" y="2103120"/>
            <a:ext cx="98755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2116836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低摩擦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06256" y="1984248"/>
            <a:ext cx="2231136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01_go2_front.png"/>
          <p:cNvPicPr>
            <a:picLocks noChangeAspect="1"/>
          </p:cNvPicPr>
          <p:nvPr/>
        </p:nvPicPr>
        <p:blipFill>
          <a:blip r:embed="rId5"/>
          <a:srcRect l="11083" r="11083"/>
          <a:stretch>
            <a:fillRect/>
          </a:stretch>
        </p:blipFill>
        <p:spPr>
          <a:xfrm>
            <a:off x="8933688" y="2011680"/>
            <a:ext cx="2176272" cy="1572768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025128" y="2103120"/>
            <a:ext cx="1152144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992" y="2116836"/>
            <a:ext cx="1042416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透明障碍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822191"/>
            <a:ext cx="17556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68727D"/>
                </a:solidFill>
                <a:latin typeface="Noto Sans CJK SC"/>
              </a:rPr>
              <a:t>画面输入相同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0" y="3822191"/>
            <a:ext cx="1892807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81223"/>
                </a:solidFill>
                <a:latin typeface="Noto Sans CJK SC"/>
              </a:rPr>
              <a:t>→ 选择身体证据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4443984"/>
            <a:ext cx="4306824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12B"/>
                </a:solidFill>
                <a:latin typeface="Noto Sans CJK SC"/>
              </a:rPr>
              <a:t>滑移与碰撞产生的身体反应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7212B"/>
                </a:solidFill>
                <a:latin typeface="Noto Sans CJK SC"/>
              </a:rPr>
              <a:t>决定真实物理原因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" y="5870448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5907024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路由结果随事件改变，而不是永远偏向某一种传感器。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08 · 主要结果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一套模型同时面对“全量异常”与“专门冲突”两种测试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Publication audit: five checkpoints, no test refit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16</a:t>
            </a:r>
          </a:p>
        </p:txBody>
      </p:sp>
      <p:pic>
        <p:nvPicPr>
          <p:cNvPr id="7" name="Picture 6" descr="cross_battery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373511"/>
            <a:ext cx="6967728" cy="413840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900416" y="1344168"/>
            <a:ext cx="3502152" cy="1060704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93024" y="1536192"/>
            <a:ext cx="13258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9CA0"/>
                </a:solidFill>
                <a:latin typeface="Noto Sans CJK SC"/>
              </a:rPr>
              <a:t>97.5%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572768"/>
            <a:ext cx="17190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12B"/>
                </a:solidFill>
                <a:latin typeface="Noto Sans CJK SC"/>
              </a:rPr>
              <a:t>两套测试等权平均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2596896"/>
            <a:ext cx="3502152" cy="1060704"/>
          </a:xfrm>
          <a:prstGeom prst="roundRect">
            <a:avLst/>
          </a:prstGeom>
          <a:solidFill>
            <a:srgbClr val="EAF0FE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2788920"/>
            <a:ext cx="132588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65EA"/>
                </a:solidFill>
                <a:latin typeface="Noto Sans CJK SC"/>
              </a:rPr>
              <a:t>96.9%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2825496"/>
            <a:ext cx="17190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7212B"/>
                </a:solidFill>
                <a:latin typeface="Noto Sans CJK SC"/>
              </a:rPr>
              <a:t>较差一套测试的成绩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0416" y="3849624"/>
            <a:ext cx="3502152" cy="1325880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4736" y="4069080"/>
            <a:ext cx="2944368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81223"/>
                </a:solidFill>
                <a:latin typeface="Noto Sans CJK SC"/>
              </a:rPr>
              <a:t>不是每个单项冠军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4489704"/>
            <a:ext cx="2971800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7212B"/>
                </a:solidFill>
                <a:latin typeface="Noto Sans CJK SC"/>
              </a:rPr>
              <a:t>但在两类证据规则反转时，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7212B"/>
                </a:solidFill>
                <a:latin typeface="Noto Sans CJK SC"/>
              </a:rPr>
              <a:t>KiNO 的整体最差表现最高。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5742432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779008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相对后期平均：等权平均 +0.3 个百分点，最差测试 +0.9 个百分点。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08 · 主要结果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方法不仅答对，还能解释“这次为什么信这一路”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Decision-critical route audit; same-coverage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17</a:t>
            </a:r>
          </a:p>
        </p:txBody>
      </p:sp>
      <p:pic>
        <p:nvPicPr>
          <p:cNvPr id="7" name="Picture 6" descr="route_fidelity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79337"/>
            <a:ext cx="6583680" cy="206818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8952" y="3721607"/>
            <a:ext cx="1609344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go2_front.png"/>
          <p:cNvPicPr>
            <a:picLocks noChangeAspect="1"/>
          </p:cNvPicPr>
          <p:nvPr/>
        </p:nvPicPr>
        <p:blipFill>
          <a:blip r:embed="rId3"/>
          <a:srcRect l="13778" r="13778"/>
          <a:stretch>
            <a:fillRect/>
          </a:stretch>
        </p:blipFill>
        <p:spPr>
          <a:xfrm>
            <a:off x="786384" y="3749039"/>
            <a:ext cx="1554480" cy="120700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77824" y="3840479"/>
            <a:ext cx="98755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854196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T2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1176" y="3721607"/>
            <a:ext cx="1609344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_go2_front.png"/>
          <p:cNvPicPr>
            <a:picLocks noChangeAspect="1"/>
          </p:cNvPicPr>
          <p:nvPr/>
        </p:nvPicPr>
        <p:blipFill>
          <a:blip r:embed="rId4"/>
          <a:srcRect l="13778" r="13778"/>
          <a:stretch>
            <a:fillRect/>
          </a:stretch>
        </p:blipFill>
        <p:spPr>
          <a:xfrm>
            <a:off x="2578608" y="3749039"/>
            <a:ext cx="1554480" cy="120700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670048" y="3840479"/>
            <a:ext cx="98755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24912" y="3854196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T3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813048"/>
            <a:ext cx="23591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665EA"/>
                </a:solidFill>
                <a:latin typeface="Noto Sans CJK SC"/>
              </a:rPr>
              <a:t>243 行专家分歧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279392"/>
            <a:ext cx="235915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81223"/>
                </a:solidFill>
                <a:latin typeface="Noto Sans CJK SC"/>
              </a:rPr>
              <a:t>226 行专家分歧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16368" y="1335024"/>
            <a:ext cx="3858768" cy="3931920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1627632"/>
            <a:ext cx="3255264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7212B"/>
                </a:solidFill>
                <a:latin typeface="Noto Sans CJK SC"/>
              </a:rPr>
              <a:t>同等覆盖率下的错误风险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2331720"/>
            <a:ext cx="3127248" cy="1078992"/>
          </a:xfrm>
          <a:prstGeom prst="roundRect">
            <a:avLst/>
          </a:prstGeom>
          <a:solidFill>
            <a:srgbClr val="E5F4F4"/>
          </a:solidFill>
          <a:ln w="13970">
            <a:solidFill>
              <a:srgbClr val="CA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82127" y="2331720"/>
            <a:ext cx="73152" cy="1078992"/>
          </a:xfrm>
          <a:prstGeom prst="rect">
            <a:avLst/>
          </a:prstGeom>
          <a:solidFill>
            <a:srgbClr val="2C9CA0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0727" y="2441448"/>
            <a:ext cx="276148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C9CA0"/>
                </a:solidFill>
                <a:latin typeface="Noto Sans CJK SC"/>
              </a:rPr>
              <a:t>1.2%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907791"/>
            <a:ext cx="276148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只处理最有把握的 75% 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7" y="3685032"/>
            <a:ext cx="3127248" cy="1078992"/>
          </a:xfrm>
          <a:prstGeom prst="roundRect">
            <a:avLst/>
          </a:prstGeom>
          <a:solidFill>
            <a:srgbClr val="EAF0FE"/>
          </a:solidFill>
          <a:ln w="13970">
            <a:solidFill>
              <a:srgbClr val="C9D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82127" y="3685032"/>
            <a:ext cx="73152" cy="1078992"/>
          </a:xfrm>
          <a:prstGeom prst="rect">
            <a:avLst/>
          </a:prstGeom>
          <a:solidFill>
            <a:srgbClr val="2665EA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10727" y="3794760"/>
            <a:ext cx="276148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65EA"/>
                </a:solidFill>
                <a:latin typeface="Noto Sans CJK SC"/>
              </a:rPr>
              <a:t>7.2%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0727" y="4261104"/>
            <a:ext cx="276148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全部处理时的两套测试平均风险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" y="5742432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779008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路由是可审计的中间决定：我们能检查它在冲突时是否信对了证据。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08 · 主要结果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换场景、换材质后，结论仍保持稳定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Nine-scene LOSO; six held-out material families; strict group certificates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18</a:t>
            </a:r>
          </a:p>
        </p:txBody>
      </p:sp>
      <p:pic>
        <p:nvPicPr>
          <p:cNvPr id="7" name="Picture 6" descr="scene_generalization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608414"/>
            <a:ext cx="7059168" cy="317482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00416" y="1307592"/>
            <a:ext cx="16733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6_front_three_quarter.png"/>
          <p:cNvPicPr>
            <a:picLocks noChangeAspect="1"/>
          </p:cNvPicPr>
          <p:nvPr/>
        </p:nvPicPr>
        <p:blipFill>
          <a:blip r:embed="rId3"/>
          <a:srcRect l="12850" r="12850"/>
          <a:stretch>
            <a:fillRect/>
          </a:stretch>
        </p:blipFill>
        <p:spPr>
          <a:xfrm>
            <a:off x="7927848" y="1335024"/>
            <a:ext cx="1618488" cy="12252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19288" y="1426464"/>
            <a:ext cx="98755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74152" y="1440180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室内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20072" y="1307592"/>
            <a:ext cx="167335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4_overview.png"/>
          <p:cNvPicPr>
            <a:picLocks noChangeAspect="1"/>
          </p:cNvPicPr>
          <p:nvPr/>
        </p:nvPicPr>
        <p:blipFill>
          <a:blip r:embed="rId4"/>
          <a:srcRect l="12850" r="12850"/>
          <a:stretch>
            <a:fillRect/>
          </a:stretch>
        </p:blipFill>
        <p:spPr>
          <a:xfrm>
            <a:off x="9747504" y="1335024"/>
            <a:ext cx="1618488" cy="122529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838944" y="1426464"/>
            <a:ext cx="98755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93808" y="1440180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设施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0416" y="2752344"/>
            <a:ext cx="3493008" cy="16550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4_overview.png"/>
          <p:cNvPicPr>
            <a:picLocks noChangeAspect="1"/>
          </p:cNvPicPr>
          <p:nvPr/>
        </p:nvPicPr>
        <p:blipFill>
          <a:blip r:embed="rId5"/>
          <a:srcRect t="8629" b="8629"/>
          <a:stretch>
            <a:fillRect/>
          </a:stretch>
        </p:blipFill>
        <p:spPr>
          <a:xfrm>
            <a:off x="7927848" y="2779776"/>
            <a:ext cx="3438144" cy="16002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19288" y="2871216"/>
            <a:ext cx="98755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74152" y="2884932"/>
            <a:ext cx="87782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野外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212080"/>
            <a:ext cx="2578608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A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9808" y="5212080"/>
            <a:ext cx="73152" cy="768096"/>
          </a:xfrm>
          <a:prstGeom prst="rect">
            <a:avLst/>
          </a:prstGeom>
          <a:solidFill>
            <a:srgbClr val="2C9CA0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7" y="5321808"/>
            <a:ext cx="22128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C9CA0"/>
                </a:solidFill>
                <a:latin typeface="Noto Sans CJK SC"/>
              </a:rPr>
              <a:t>93.8%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7" y="5788152"/>
            <a:ext cx="22128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留一场景平均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11296" y="5212080"/>
            <a:ext cx="2578608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9D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11296" y="5212080"/>
            <a:ext cx="73152" cy="768096"/>
          </a:xfrm>
          <a:prstGeom prst="rect">
            <a:avLst/>
          </a:prstGeom>
          <a:solidFill>
            <a:srgbClr val="2665EA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39896" y="5321808"/>
            <a:ext cx="22128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65EA"/>
                </a:solidFill>
                <a:latin typeface="Noto Sans CJK SC"/>
              </a:rPr>
              <a:t>95.2%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39896" y="5788152"/>
            <a:ext cx="22128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最弱测试材质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2784" y="5212080"/>
            <a:ext cx="2578608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5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2784" y="5212080"/>
            <a:ext cx="73152" cy="768096"/>
          </a:xfrm>
          <a:prstGeom prst="rect">
            <a:avLst/>
          </a:prstGeom>
          <a:solidFill>
            <a:srgbClr val="D77A7E"/>
          </a:solidFill>
          <a:ln w="12700">
            <a:solidFill>
              <a:srgbClr val="D7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01384" y="5321808"/>
            <a:ext cx="22128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D77A7E"/>
                </a:solidFill>
                <a:latin typeface="Noto Sans CJK SC"/>
              </a:rPr>
              <a:t>295 / 329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4" y="5788152"/>
            <a:ext cx="221284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全种子整对全对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34272" y="5212080"/>
            <a:ext cx="2331720" cy="768096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F1C4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34272" y="5212080"/>
            <a:ext cx="73152" cy="768096"/>
          </a:xfrm>
          <a:prstGeom prst="rect">
            <a:avLst/>
          </a:prstGeom>
          <a:solidFill>
            <a:srgbClr val="C81223"/>
          </a:solidFill>
          <a:ln w="12700">
            <a:solidFill>
              <a:srgbClr val="C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62872" y="5321808"/>
            <a:ext cx="196596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81223"/>
                </a:solidFill>
                <a:latin typeface="Noto Sans CJK SC"/>
              </a:rPr>
              <a:t>27 / 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2872" y="5788152"/>
            <a:ext cx="196596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冲突案例全对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09 · 从归因到动作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归因必须改变动作，也必须改变真实物理后果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630 forced-label Isaac Go2 interventions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19</a:t>
            </a:r>
          </a:p>
        </p:txBody>
      </p:sp>
      <p:pic>
        <p:nvPicPr>
          <p:cNvPr id="7" name="Picture 6" descr="fig5_intervention_con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868171"/>
            <a:ext cx="6858000" cy="30485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90688" y="1371600"/>
            <a:ext cx="3502152" cy="1033271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83296" y="1554480"/>
            <a:ext cx="100584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C9CA0"/>
                </a:solidFill>
                <a:latin typeface="Noto Sans CJK SC"/>
              </a:rPr>
              <a:t>630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1591056"/>
            <a:ext cx="1847088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7212B"/>
                </a:solidFill>
                <a:latin typeface="Noto Sans CJK SC"/>
              </a:rPr>
              <a:t>受控物理试验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90688" y="2587752"/>
            <a:ext cx="3502152" cy="1033271"/>
          </a:xfrm>
          <a:prstGeom prst="roundRect">
            <a:avLst/>
          </a:prstGeom>
          <a:solidFill>
            <a:srgbClr val="EAF0FE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6" y="2770632"/>
            <a:ext cx="1005840" cy="40233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2665EA"/>
                </a:solidFill>
                <a:latin typeface="Noto Sans CJK SC"/>
              </a:rPr>
              <a:t>9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34272" y="2807208"/>
            <a:ext cx="199339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60" b="1" i="0">
                <a:solidFill>
                  <a:srgbClr val="17212B"/>
                </a:solidFill>
                <a:latin typeface="Noto Sans CJK SC"/>
              </a:rPr>
              <a:t>场景的代价随动作变化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90688" y="3803904"/>
            <a:ext cx="3502152" cy="1417320"/>
          </a:xfrm>
          <a:prstGeom prst="roundRect">
            <a:avLst/>
          </a:prstGeom>
          <a:solidFill>
            <a:srgbClr val="FBE9EB"/>
          </a:solidFill>
          <a:ln w="12700">
            <a:solidFill>
              <a:srgbClr val="C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83296" y="4014215"/>
            <a:ext cx="12618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C81223"/>
                </a:solidFill>
                <a:latin typeface="Noto Sans CJK SC"/>
              </a:rPr>
              <a:t>4 :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2016" y="4005072"/>
            <a:ext cx="1682496" cy="6675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12B"/>
                </a:solidFill>
                <a:latin typeface="Noto Sans CJK SC"/>
              </a:rPr>
              <a:t>粘附/软地面误判的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7212B"/>
                </a:solidFill>
                <a:latin typeface="Noto Sans CJK SC"/>
              </a:rPr>
              <a:t>代价方向不对称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" y="5769864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这一步把“分类准确率”连接到“机器人最终是否付出更大代价”。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09 · 从归因到动作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直接恢复：只在证据充分时释放“后退脱离”动作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75 exact-prefix paired trials; current paper Fig.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1271016"/>
            <a:ext cx="1773936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eview_t01.0s.png"/>
          <p:cNvPicPr>
            <a:picLocks noChangeAspect="1"/>
          </p:cNvPicPr>
          <p:nvPr/>
        </p:nvPicPr>
        <p:blipFill>
          <a:blip r:embed="rId2"/>
          <a:srcRect l="16535" r="16535"/>
          <a:stretch>
            <a:fillRect/>
          </a:stretch>
        </p:blipFill>
        <p:spPr>
          <a:xfrm>
            <a:off x="658368" y="1298448"/>
            <a:ext cx="1719072" cy="144475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1389888"/>
            <a:ext cx="1362456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03604"/>
            <a:ext cx="125272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接近异常区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68296" y="1810512"/>
            <a:ext cx="2194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C9CA0"/>
                </a:solidFill>
                <a:latin typeface="Noto Sans CJK S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32888" y="1271016"/>
            <a:ext cx="1773936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view_t04.2s.png"/>
          <p:cNvPicPr>
            <a:picLocks noChangeAspect="1"/>
          </p:cNvPicPr>
          <p:nvPr/>
        </p:nvPicPr>
        <p:blipFill>
          <a:blip r:embed="rId3"/>
          <a:srcRect l="16535" r="16535"/>
          <a:stretch>
            <a:fillRect/>
          </a:stretch>
        </p:blipFill>
        <p:spPr>
          <a:xfrm>
            <a:off x="2560320" y="1298448"/>
            <a:ext cx="1719072" cy="144475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651760" y="1389888"/>
            <a:ext cx="1152144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06624" y="1403604"/>
            <a:ext cx="1042416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脚被粘住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70248" y="1810512"/>
            <a:ext cx="219456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2C9CA0"/>
                </a:solidFill>
                <a:latin typeface="Noto Sans CJK S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271016"/>
            <a:ext cx="1773936" cy="14996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review_t04.8s.png"/>
          <p:cNvPicPr>
            <a:picLocks noChangeAspect="1"/>
          </p:cNvPicPr>
          <p:nvPr/>
        </p:nvPicPr>
        <p:blipFill>
          <a:blip r:embed="rId4"/>
          <a:srcRect l="16535" r="16535"/>
          <a:stretch>
            <a:fillRect/>
          </a:stretch>
        </p:blipFill>
        <p:spPr>
          <a:xfrm>
            <a:off x="4462272" y="1298448"/>
            <a:ext cx="1719072" cy="1444752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4553712" y="1389888"/>
            <a:ext cx="1152144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08576" y="1403604"/>
            <a:ext cx="1042416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后退脱离</a:t>
            </a:r>
          </a:p>
        </p:txBody>
      </p:sp>
      <p:pic>
        <p:nvPicPr>
          <p:cNvPr id="21" name="Picture 20" descr="direct_recovery_c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528932"/>
            <a:ext cx="4800600" cy="2355382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786384" y="3246120"/>
            <a:ext cx="1719072" cy="1179576"/>
          </a:xfrm>
          <a:prstGeom prst="roundRect">
            <a:avLst/>
          </a:prstGeom>
          <a:solidFill>
            <a:srgbClr val="E5F4F4"/>
          </a:solidFill>
          <a:ln w="13970">
            <a:solidFill>
              <a:srgbClr val="CAE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6384" y="3246120"/>
            <a:ext cx="73152" cy="1179576"/>
          </a:xfrm>
          <a:prstGeom prst="rect">
            <a:avLst/>
          </a:prstGeom>
          <a:solidFill>
            <a:srgbClr val="2C9CA0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3" y="3355848"/>
            <a:ext cx="13533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C9CA0"/>
                </a:solidFill>
                <a:latin typeface="Noto Sans CJK SC"/>
              </a:rPr>
              <a:t>15 / 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3" y="3822191"/>
            <a:ext cx="13533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释放案例全是粘附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688336" y="3246120"/>
            <a:ext cx="1719072" cy="1179576"/>
          </a:xfrm>
          <a:prstGeom prst="roundRect">
            <a:avLst/>
          </a:prstGeom>
          <a:solidFill>
            <a:srgbClr val="EAF0FE"/>
          </a:solidFill>
          <a:ln w="13970">
            <a:solidFill>
              <a:srgbClr val="C9D8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88336" y="3246120"/>
            <a:ext cx="73152" cy="1179576"/>
          </a:xfrm>
          <a:prstGeom prst="rect">
            <a:avLst/>
          </a:prstGeom>
          <a:solidFill>
            <a:srgbClr val="2665EA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16936" y="3355848"/>
            <a:ext cx="13533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665EA"/>
                </a:solidFill>
                <a:latin typeface="Noto Sans CJK SC"/>
              </a:rPr>
              <a:t>20%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16936" y="3822191"/>
            <a:ext cx="13533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整体动作覆盖率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90288" y="3246120"/>
            <a:ext cx="1719072" cy="1179576"/>
          </a:xfrm>
          <a:prstGeom prst="roundRect">
            <a:avLst/>
          </a:prstGeom>
          <a:solidFill>
            <a:srgbClr val="FAEFF0"/>
          </a:solidFill>
          <a:ln w="13970">
            <a:solidFill>
              <a:srgbClr val="F5D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90288" y="3246120"/>
            <a:ext cx="73152" cy="1179576"/>
          </a:xfrm>
          <a:prstGeom prst="rect">
            <a:avLst/>
          </a:prstGeom>
          <a:solidFill>
            <a:srgbClr val="D77A7E"/>
          </a:solidFill>
          <a:ln w="12700">
            <a:solidFill>
              <a:srgbClr val="D7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18888" y="3355848"/>
            <a:ext cx="1353312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D77A7E"/>
                </a:solidFill>
                <a:latin typeface="Noto Sans CJK SC"/>
              </a:rPr>
              <a:t>+0.20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18888" y="3822191"/>
            <a:ext cx="13533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7212B"/>
                </a:solidFill>
                <a:latin typeface="Noto Sans CJK SC"/>
              </a:rPr>
              <a:t>相对等待的成功率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" y="4773168"/>
            <a:ext cx="10561320" cy="822960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001768"/>
            <a:ext cx="1243584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C9CA0"/>
                </a:solidFill>
                <a:latin typeface="Noto Sans CJK SC"/>
              </a:rPr>
              <a:t>安全门规则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59152" y="4983480"/>
            <a:ext cx="86410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7212B"/>
                </a:solidFill>
                <a:latin typeface="Noto Sans CJK SC"/>
              </a:rPr>
              <a:t>原因是粘附 + 置信度达标 + 5 个模型全部同意 → 后退脱离；否则保持等待。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" y="5806440"/>
            <a:ext cx="10963656" cy="411480"/>
          </a:xfrm>
          <a:prstGeom prst="roundRect">
            <a:avLst/>
          </a:prstGeom>
          <a:solidFill>
            <a:srgbClr val="F0F1F2"/>
          </a:solidFill>
          <a:ln w="12700">
            <a:solidFill>
              <a:srgbClr val="F0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843016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68727D"/>
                </a:solidFill>
                <a:latin typeface="Noto Sans CJK SC"/>
              </a:rPr>
              <a:t>这项直接恢复验证聚焦“粘附→后退脱离”；它不是所有异常动作的全覆盖证明。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10 · 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我们现在能够稳健支持的四个结论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298448"/>
            <a:ext cx="2578608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_overview.png"/>
          <p:cNvPicPr>
            <a:picLocks noChangeAspect="1"/>
          </p:cNvPicPr>
          <p:nvPr/>
        </p:nvPicPr>
        <p:blipFill>
          <a:blip r:embed="rId2"/>
          <a:srcRect l="8287" r="8287"/>
          <a:stretch>
            <a:fillRect/>
          </a:stretch>
        </p:blipFill>
        <p:spPr>
          <a:xfrm>
            <a:off x="740664" y="1380744"/>
            <a:ext cx="2414016" cy="16276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7" y="1481328"/>
            <a:ext cx="402336" cy="310896"/>
          </a:xfrm>
          <a:prstGeom prst="roundRect">
            <a:avLst/>
          </a:prstGeom>
          <a:solidFill>
            <a:srgbClr val="2665EA"/>
          </a:solidFill>
          <a:ln w="12700">
            <a:solidFill>
              <a:srgbClr val="26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485900"/>
            <a:ext cx="29260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3" y="3264408"/>
            <a:ext cx="224028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2665EA"/>
                </a:solidFill>
                <a:latin typeface="Noto Sans CJK SC"/>
              </a:rPr>
              <a:t>异常归因是独立问题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4114800"/>
            <a:ext cx="213969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7212B"/>
                </a:solidFill>
                <a:latin typeface="Noto Sans CJK SC"/>
              </a:rPr>
              <a:t>不仅要知道出事，还要知道物理原因。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8144" y="1298448"/>
            <a:ext cx="2578608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1_bidirectional_conflict.png"/>
          <p:cNvPicPr>
            <a:picLocks noChangeAspect="1"/>
          </p:cNvPicPr>
          <p:nvPr/>
        </p:nvPicPr>
        <p:blipFill>
          <a:blip r:embed="rId3"/>
          <a:srcRect l="24314" r="24314"/>
          <a:stretch>
            <a:fillRect/>
          </a:stretch>
        </p:blipFill>
        <p:spPr>
          <a:xfrm>
            <a:off x="3520439" y="1380744"/>
            <a:ext cx="2414016" cy="162763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621024" y="1481328"/>
            <a:ext cx="402336" cy="310896"/>
          </a:xfrm>
          <a:prstGeom prst="roundRect">
            <a:avLst/>
          </a:prstGeom>
          <a:solidFill>
            <a:srgbClr val="C81223"/>
          </a:solidFill>
          <a:ln w="12700">
            <a:solidFill>
              <a:srgbClr val="C812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7" y="1485900"/>
            <a:ext cx="29260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79" y="3264408"/>
            <a:ext cx="224028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C81223"/>
                </a:solidFill>
                <a:latin typeface="Noto Sans CJK SC"/>
              </a:rPr>
              <a:t>两种感知都不可替代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6744" y="4114800"/>
            <a:ext cx="213969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7212B"/>
                </a:solidFill>
                <a:latin typeface="Noto Sans CJK SC"/>
              </a:rPr>
              <a:t>T2 必须看，T3 必须听身体。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298448"/>
            <a:ext cx="2578608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fig3_structured_router_legacy_boxes_backup.png"/>
          <p:cNvPicPr>
            <a:picLocks noChangeAspect="1"/>
          </p:cNvPicPr>
          <p:nvPr/>
        </p:nvPicPr>
        <p:blipFill>
          <a:blip r:embed="rId4"/>
          <a:srcRect t="6892" b="6892"/>
          <a:stretch>
            <a:fillRect/>
          </a:stretch>
        </p:blipFill>
        <p:spPr>
          <a:xfrm>
            <a:off x="6300216" y="1380744"/>
            <a:ext cx="2414016" cy="1627632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400800" y="1481328"/>
            <a:ext cx="402336" cy="310896"/>
          </a:xfrm>
          <a:prstGeom prst="roundRect">
            <a:avLst/>
          </a:prstGeom>
          <a:solidFill>
            <a:srgbClr val="2C9CA0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1485900"/>
            <a:ext cx="29260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3264408"/>
            <a:ext cx="224028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2C9CA0"/>
                </a:solidFill>
                <a:latin typeface="Noto Sans CJK SC"/>
              </a:rPr>
              <a:t>显式学习冲突更稳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114800"/>
            <a:ext cx="213969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7212B"/>
                </a:solidFill>
                <a:latin typeface="Noto Sans CJK SC"/>
              </a:rPr>
              <a:t>一套 KiNO 模型覆盖两种证据规则。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1298448"/>
            <a:ext cx="2578608" cy="4370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review_t07.5s.png"/>
          <p:cNvPicPr>
            <a:picLocks noChangeAspect="1"/>
          </p:cNvPicPr>
          <p:nvPr/>
        </p:nvPicPr>
        <p:blipFill>
          <a:blip r:embed="rId5"/>
          <a:srcRect l="8287" r="8287"/>
          <a:stretch>
            <a:fillRect/>
          </a:stretch>
        </p:blipFill>
        <p:spPr>
          <a:xfrm>
            <a:off x="9079992" y="1380744"/>
            <a:ext cx="2414016" cy="1627632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9180576" y="1481328"/>
            <a:ext cx="402336" cy="310896"/>
          </a:xfrm>
          <a:prstGeom prst="roundRect">
            <a:avLst/>
          </a:prstGeom>
          <a:solidFill>
            <a:srgbClr val="D77A7E"/>
          </a:solidFill>
          <a:ln w="12700">
            <a:solidFill>
              <a:srgbClr val="D77A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485900"/>
            <a:ext cx="292608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1432" y="3264408"/>
            <a:ext cx="224028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20" b="1" i="0">
                <a:solidFill>
                  <a:srgbClr val="D77A7E"/>
                </a:solidFill>
                <a:latin typeface="Noto Sans CJK SC"/>
              </a:rPr>
              <a:t>正确归因能改善恢复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26296" y="4114800"/>
            <a:ext cx="2139696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7212B"/>
                </a:solidFill>
                <a:latin typeface="Noto Sans CJK SC"/>
              </a:rPr>
              <a:t>动作选择改变代价；粘附恢复已直接验证。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" y="5833872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870448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四个结论分别由信息极限、跨测试结果、路由审计和物理干预支撑。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11 · 边界与下一步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当前证据很完整，但仍有三条明确边界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Paper Discussion and independent reconfirmation checkpoint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22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" y="1271016"/>
            <a:ext cx="279806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_overview.png"/>
          <p:cNvPicPr>
            <a:picLocks noChangeAspect="1"/>
          </p:cNvPicPr>
          <p:nvPr/>
        </p:nvPicPr>
        <p:blipFill>
          <a:blip r:embed="rId2"/>
          <a:srcRect l="10200" r="10200"/>
          <a:stretch>
            <a:fillRect/>
          </a:stretch>
        </p:blipFill>
        <p:spPr>
          <a:xfrm>
            <a:off x="658368" y="1298448"/>
            <a:ext cx="2743200" cy="19385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8" y="1389888"/>
            <a:ext cx="1993392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403604"/>
            <a:ext cx="1883664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难点：驱动力衰减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75304" y="1271016"/>
            <a:ext cx="2798064" cy="1993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_overview.png"/>
          <p:cNvPicPr>
            <a:picLocks noChangeAspect="1"/>
          </p:cNvPicPr>
          <p:nvPr/>
        </p:nvPicPr>
        <p:blipFill>
          <a:blip r:embed="rId3"/>
          <a:srcRect l="10200" r="10200"/>
          <a:stretch>
            <a:fillRect/>
          </a:stretch>
        </p:blipFill>
        <p:spPr>
          <a:xfrm>
            <a:off x="3602736" y="1298448"/>
            <a:ext cx="2743200" cy="19385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694176" y="1389888"/>
            <a:ext cx="1783080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403604"/>
            <a:ext cx="1673352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难点：外力扰动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" y="3483864"/>
            <a:ext cx="5742431" cy="20665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_left_side_low.png"/>
          <p:cNvPicPr>
            <a:picLocks noChangeAspect="1"/>
          </p:cNvPicPr>
          <p:nvPr/>
        </p:nvPicPr>
        <p:blipFill>
          <a:blip r:embed="rId4"/>
          <a:srcRect t="18560" b="18560"/>
          <a:stretch>
            <a:fillRect/>
          </a:stretch>
        </p:blipFill>
        <p:spPr>
          <a:xfrm>
            <a:off x="658368" y="3511296"/>
            <a:ext cx="5687568" cy="201168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749808" y="3602736"/>
            <a:ext cx="2203704" cy="365760"/>
          </a:xfrm>
          <a:prstGeom prst="round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3616452"/>
            <a:ext cx="2093976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Noto Sans CJK SC"/>
              </a:rPr>
              <a:t>实机部署仍在计划内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1298448"/>
            <a:ext cx="4718304" cy="4224528"/>
          </a:xfrm>
          <a:prstGeom prst="roundRect">
            <a:avLst/>
          </a:prstGeom>
          <a:solidFill>
            <a:srgbClr val="F6F8F9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4304" y="1645920"/>
            <a:ext cx="4041648" cy="23500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6000"/>
              </a:lnSpc>
              <a:spcAft>
                <a:spcPts val="1008"/>
              </a:spcAft>
            </a:pPr>
            <a:r>
              <a:rPr sz="1230">
                <a:solidFill>
                  <a:srgbClr val="C81223"/>
                </a:solidFill>
                <a:latin typeface="Noto Sans CJK SC"/>
              </a:rPr>
              <a:t>●  </a:t>
            </a:r>
            <a:r>
              <a:rPr sz="1430" b="1">
                <a:solidFill>
                  <a:srgbClr val="17212B"/>
                </a:solidFill>
                <a:latin typeface="Noto Sans CJK SC"/>
              </a:rPr>
              <a:t>事件边界由基准提供</a:t>
            </a:r>
            <a:r>
              <a:rPr sz="1430">
                <a:solidFill>
                  <a:srgbClr val="17212B"/>
                </a:solidFill>
                <a:latin typeface="Noto Sans CJK SC"/>
              </a:rPr>
              <a:t>：完整系统还要验证何时触发、误报与延迟</a:t>
            </a:r>
          </a:p>
          <a:p>
            <a:pPr>
              <a:lnSpc>
                <a:spcPct val="106000"/>
              </a:lnSpc>
              <a:spcAft>
                <a:spcPts val="1008"/>
              </a:spcAft>
            </a:pPr>
            <a:r>
              <a:rPr sz="1230">
                <a:solidFill>
                  <a:srgbClr val="C81223"/>
                </a:solidFill>
                <a:latin typeface="Noto Sans CJK SC"/>
              </a:rPr>
              <a:t>●  </a:t>
            </a:r>
            <a:r>
              <a:rPr sz="1430" b="1">
                <a:solidFill>
                  <a:srgbClr val="17212B"/>
                </a:solidFill>
                <a:latin typeface="Noto Sans CJK SC"/>
              </a:rPr>
              <a:t>直接恢复只验证了粘附</a:t>
            </a:r>
            <a:r>
              <a:rPr sz="1430">
                <a:solidFill>
                  <a:srgbClr val="17212B"/>
                </a:solidFill>
                <a:latin typeface="Noto Sans CJK SC"/>
              </a:rPr>
              <a:t>：其余原因目前有动作后果矩阵，但缺少逐类闭环 actor</a:t>
            </a:r>
          </a:p>
          <a:p>
            <a:pPr>
              <a:lnSpc>
                <a:spcPct val="106000"/>
              </a:lnSpc>
              <a:spcAft>
                <a:spcPts val="1008"/>
              </a:spcAft>
            </a:pPr>
            <a:r>
              <a:rPr sz="1230">
                <a:solidFill>
                  <a:srgbClr val="C81223"/>
                </a:solidFill>
                <a:latin typeface="Noto Sans CJK SC"/>
              </a:rPr>
              <a:t>●  </a:t>
            </a:r>
            <a:r>
              <a:rPr sz="1430" b="1">
                <a:solidFill>
                  <a:srgbClr val="17212B"/>
                </a:solidFill>
                <a:latin typeface="Noto Sans CJK SC"/>
              </a:rPr>
              <a:t>当前主证据来自仿真</a:t>
            </a:r>
            <a:r>
              <a:rPr sz="1430">
                <a:solidFill>
                  <a:srgbClr val="17212B"/>
                </a:solidFill>
                <a:latin typeface="Noto Sans CJK SC"/>
              </a:rPr>
              <a:t>：真实相机延迟、接触噪声和执行器限制仍需实机验证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04304" y="4215384"/>
            <a:ext cx="4059936" cy="941832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2C9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2904" y="4407408"/>
            <a:ext cx="36118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2C9CA0"/>
                </a:solidFill>
                <a:latin typeface="Noto Sans CJK SC"/>
              </a:rPr>
              <a:t>正在进行：冻结架构后的全新场景确认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42048" y="4754880"/>
            <a:ext cx="360273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68727D"/>
                </a:solidFill>
                <a:latin typeface="Noto Sans CJK SC"/>
              </a:rPr>
              <a:t>新场景、新材质、新种子、新参数区间；完成前不作为最终结论。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815584"/>
            <a:ext cx="10963656" cy="411480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852160"/>
            <a:ext cx="1056132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30" b="1" i="0">
                <a:solidFill>
                  <a:srgbClr val="2C9CA0"/>
                </a:solidFill>
                <a:latin typeface="Noto Sans CJK SC"/>
              </a:rPr>
              <a:t>下一步优先级：完成独立确认 → 扩展原因到动作 actor → Go2 实机部署。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03504"/>
            <a:ext cx="5321808" cy="5468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69264" y="914400"/>
            <a:ext cx="1965960" cy="310896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918971"/>
            <a:ext cx="1856231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TAKE-HOME MESSAGE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9264" y="1463040"/>
            <a:ext cx="455371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212B"/>
                </a:solidFill>
                <a:latin typeface="Nimbus Sans"/>
              </a:rPr>
              <a:t>Feel It. See It.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7212B"/>
                </a:solidFill>
                <a:latin typeface="Nimbus Sans"/>
              </a:rPr>
              <a:t>Recover.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907792"/>
            <a:ext cx="4407408" cy="9326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12B"/>
                </a:solidFill>
                <a:latin typeface="Noto Sans CJK SC"/>
              </a:rPr>
              <a:t>先判断为什么失败，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7212B"/>
                </a:solidFill>
                <a:latin typeface="Noto Sans CJK SC"/>
              </a:rPr>
              <a:t>再选择如何恢复。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24528"/>
            <a:ext cx="4407408" cy="10241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20" b="0" i="0">
                <a:solidFill>
                  <a:srgbClr val="68727D"/>
                </a:solidFill>
                <a:latin typeface="Noto Sans CJK SC"/>
              </a:rPr>
              <a:t>Kino-Fail 提供可控异常；KiNO 学习每次该信画面、身体还是联合证据；物理干预把归因连接到真实恢复代价。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650992"/>
            <a:ext cx="100584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2C9CA0"/>
                </a:solidFill>
                <a:latin typeface="Noto Sans CJK SC"/>
              </a:rPr>
              <a:t>谢谢</a:t>
            </a:r>
          </a:p>
        </p:txBody>
      </p:sp>
      <p:pic>
        <p:nvPicPr>
          <p:cNvPr id="9" name="Picture 8" descr="08_room_wide.png"/>
          <p:cNvPicPr>
            <a:picLocks noChangeAspect="1"/>
          </p:cNvPicPr>
          <p:nvPr/>
        </p:nvPicPr>
        <p:blipFill>
          <a:blip r:embed="rId2"/>
          <a:srcRect l="781" r="781"/>
          <a:stretch>
            <a:fillRect/>
          </a:stretch>
        </p:blipFill>
        <p:spPr>
          <a:xfrm>
            <a:off x="6291072" y="603504"/>
            <a:ext cx="5248656" cy="2999232"/>
          </a:xfrm>
          <a:prstGeom prst="rect">
            <a:avLst/>
          </a:prstGeom>
        </p:spPr>
      </p:pic>
      <p:pic>
        <p:nvPicPr>
          <p:cNvPr id="10" name="Picture 9" descr="03_left_side_low.png"/>
          <p:cNvPicPr>
            <a:picLocks noChangeAspect="1"/>
          </p:cNvPicPr>
          <p:nvPr/>
        </p:nvPicPr>
        <p:blipFill>
          <a:blip r:embed="rId3"/>
          <a:srcRect t="10879" b="10453"/>
          <a:stretch>
            <a:fillRect/>
          </a:stretch>
        </p:blipFill>
        <p:spPr>
          <a:xfrm>
            <a:off x="6291072" y="3749039"/>
            <a:ext cx="5248656" cy="232257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565392" y="5477256"/>
            <a:ext cx="4526280" cy="310896"/>
          </a:xfrm>
          <a:prstGeom prst="roundRect">
            <a:avLst/>
          </a:prstGeom>
          <a:solidFill>
            <a:srgbClr val="E5F4F4"/>
          </a:solidFill>
          <a:ln w="12700">
            <a:solidFill>
              <a:srgbClr val="E5F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0255" y="5481828"/>
            <a:ext cx="4416552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真实感室内仿真 · 同一异常的远景与近景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8727D"/>
                </a:solidFill>
                <a:latin typeface="Noto Sans CJK SC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附录 · 论文原图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跨两套测试的完整方法比较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Current paper Fig.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24</a:t>
            </a:r>
          </a:p>
        </p:txBody>
      </p:sp>
      <p:pic>
        <p:nvPicPr>
          <p:cNvPr id="7" name="Picture 6" descr="fig4_conflic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02656"/>
            <a:ext cx="10881360" cy="332817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附录 · 论文原图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630 次受控动作干预的代价矩阵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Current paper Fig.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25</a:t>
            </a:r>
          </a:p>
        </p:txBody>
      </p:sp>
      <p:pic>
        <p:nvPicPr>
          <p:cNvPr id="7" name="Picture 6" descr="fig5_intervention_con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48263"/>
            <a:ext cx="10881360" cy="483696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25603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C9CA0"/>
                </a:solidFill>
                <a:latin typeface="Noto Sans CJK SC"/>
              </a:rPr>
              <a:t>附录 · 论文原图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548640"/>
            <a:ext cx="1092708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50" b="1" i="0">
                <a:solidFill>
                  <a:srgbClr val="17212B"/>
                </a:solidFill>
                <a:latin typeface="Noto Sans CJK SC"/>
              </a:rPr>
              <a:t>75 组相同前缀的直接恢复比较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12648" y="6455664"/>
            <a:ext cx="10963656" cy="0"/>
          </a:xfrm>
          <a:prstGeom prst="line">
            <a:avLst/>
          </a:prstGeom>
          <a:ln w="8890">
            <a:solidFill>
              <a:srgbClr val="DD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21792" y="6519672"/>
            <a:ext cx="9875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999999"/>
                </a:solidFill>
                <a:latin typeface="Noto Sans CJK SC"/>
              </a:rPr>
              <a:t>Current paper Fig.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1052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99999"/>
                </a:solidFill>
                <a:latin typeface="Noto Sans CJK SC"/>
              </a:rPr>
              <a:t>26</a:t>
            </a:r>
          </a:p>
        </p:txBody>
      </p:sp>
      <p:pic>
        <p:nvPicPr>
          <p:cNvPr id="7" name="Picture 6" descr="fig6_selective_re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18103"/>
            <a:ext cx="10881360" cy="32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KiNO whole-work Chinese presentation</dc:title>
  <dc:subject>Feel It, See It, Recover — Cross-modal failure attribution</dc:subject>
  <dc:creator>KiNO / Kino-Fail</dc:creator>
  <cp:keywords>KiNO, Kino-Fail, quadruped, failure attribution, Chinese presentation</cp:keywords>
  <dc:description>Chinese receiver-oriented research presentation. Raster imagery only: Isaac Sim, benchmark sensor records, data charts, and paper PNG figures.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