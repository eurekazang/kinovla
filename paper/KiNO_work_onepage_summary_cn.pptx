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" y="210312"/>
            <a:ext cx="1783080" cy="310896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"/>
            <a:ext cx="16733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C9CA0"/>
                </a:solidFill>
                <a:latin typeface="Noto Sans CJK SC"/>
              </a:rPr>
              <a:t>KINO · ONE-PAGE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57784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7212B"/>
                </a:solidFill>
                <a:latin typeface="Nimbus Sans"/>
              </a:rPr>
              <a:t>Feel It, See It,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58368"/>
            <a:ext cx="64465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39" b="1" i="0">
                <a:solidFill>
                  <a:srgbClr val="17212B"/>
                </a:solidFill>
                <a:latin typeface="Noto Sans CJK SC"/>
              </a:rPr>
              <a:t>四足机器人跨模态失败归因：</a:t>
            </a:r>
            <a:r>
              <a:rPr sz="1639" b="1" i="0">
                <a:solidFill>
                  <a:srgbClr val="2C9CA0"/>
                </a:solidFill>
                <a:latin typeface="Noto Sans CJK SC"/>
              </a:rPr>
              <a:t>先判断为什么失败</a:t>
            </a:r>
            <a:r>
              <a:rPr sz="1639" b="1" i="0">
                <a:solidFill>
                  <a:srgbClr val="17212B"/>
                </a:solidFill>
                <a:latin typeface="Noto Sans CJK SC"/>
              </a:rPr>
              <a:t>，再选择如何恢复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033271"/>
            <a:ext cx="11201400" cy="0"/>
          </a:xfrm>
          <a:prstGeom prst="line">
            <a:avLst/>
          </a:prstGeom>
          <a:ln w="1143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93776" y="1197864"/>
            <a:ext cx="3840480" cy="288036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841248" cy="310896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57884"/>
            <a:ext cx="7315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665EA"/>
                </a:solidFill>
                <a:latin typeface="Noto Sans CJK SC"/>
              </a:rPr>
              <a:t>01 ·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362456"/>
            <a:ext cx="24871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7212B"/>
                </a:solidFill>
                <a:latin typeface="Noto Sans CJK SC"/>
              </a:rPr>
              <a:t>同样是“走不动”，原因与恢复动作可能完全相反</a:t>
            </a:r>
          </a:p>
        </p:txBody>
      </p:sp>
      <p:pic>
        <p:nvPicPr>
          <p:cNvPr id="11" name="Picture 10" descr="task_t2_scene_pair.png"/>
          <p:cNvPicPr>
            <a:picLocks noChangeAspect="1"/>
          </p:cNvPicPr>
          <p:nvPr/>
        </p:nvPicPr>
        <p:blipFill>
          <a:blip r:embed="rId2"/>
          <a:srcRect t="13638" b="12589"/>
          <a:stretch>
            <a:fillRect/>
          </a:stretch>
        </p:blipFill>
        <p:spPr>
          <a:xfrm>
            <a:off x="694944" y="1810512"/>
            <a:ext cx="3438144" cy="813816"/>
          </a:xfrm>
          <a:prstGeom prst="rect">
            <a:avLst/>
          </a:prstGeom>
          <a:ln w="12700">
            <a:solidFill>
              <a:srgbClr val="2665EA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6384" y="1874519"/>
            <a:ext cx="768096" cy="310896"/>
          </a:xfrm>
          <a:prstGeom prst="round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879091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Noto Sans CJK SC"/>
              </a:rPr>
              <a:t>接触前 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60904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2665EA"/>
                </a:solidFill>
                <a:latin typeface="Noto Sans CJK SC"/>
              </a:rPr>
              <a:t>身体证据相同  →  必须看场景</a:t>
            </a:r>
          </a:p>
        </p:txBody>
      </p:sp>
      <p:pic>
        <p:nvPicPr>
          <p:cNvPr id="15" name="Picture 14" descr="task_t3_scene_pair.png"/>
          <p:cNvPicPr>
            <a:picLocks noChangeAspect="1"/>
          </p:cNvPicPr>
          <p:nvPr/>
        </p:nvPicPr>
        <p:blipFill>
          <a:blip r:embed="rId3"/>
          <a:srcRect t="15809" b="23713"/>
          <a:stretch>
            <a:fillRect/>
          </a:stretch>
        </p:blipFill>
        <p:spPr>
          <a:xfrm>
            <a:off x="694944" y="2980944"/>
            <a:ext cx="3438144" cy="658368"/>
          </a:xfrm>
          <a:prstGeom prst="rect">
            <a:avLst/>
          </a:prstGeom>
          <a:ln w="12700">
            <a:solidFill>
              <a:srgbClr val="C81223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786384" y="3044952"/>
            <a:ext cx="768096" cy="310896"/>
          </a:xfrm>
          <a:prstGeom prst="round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049524"/>
            <a:ext cx="65836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Noto Sans CJK SC"/>
              </a:rPr>
              <a:t>接触后 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694176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C81223"/>
                </a:solidFill>
                <a:latin typeface="Noto Sans CJK SC"/>
              </a:rPr>
              <a:t>画面证据相同  →  必须听身体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1197864"/>
            <a:ext cx="719632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3440" y="1353312"/>
            <a:ext cx="1005840" cy="310896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3" y="1357884"/>
            <a:ext cx="89611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C9CA0"/>
                </a:solidFill>
                <a:latin typeface="Noto Sans CJK SC"/>
              </a:rPr>
              <a:t>02 ·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296" y="1362456"/>
            <a:ext cx="561441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7212B"/>
                </a:solidFill>
                <a:latin typeface="Noto Sans CJK SC"/>
              </a:rPr>
              <a:t>KiNO：不固定偏向某个传感器，而是学习“这一次该信谁”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1810512"/>
            <a:ext cx="1344168" cy="10607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2D4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1_go2_front.png"/>
          <p:cNvPicPr>
            <a:picLocks noChangeAspect="1"/>
          </p:cNvPicPr>
          <p:nvPr/>
        </p:nvPicPr>
        <p:blipFill>
          <a:blip r:embed="rId4"/>
          <a:srcRect l="13802" r="13802"/>
          <a:stretch>
            <a:fillRect/>
          </a:stretch>
        </p:blipFill>
        <p:spPr>
          <a:xfrm>
            <a:off x="4754880" y="1847088"/>
            <a:ext cx="1271016" cy="98755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809744" y="1901952"/>
            <a:ext cx="1161288" cy="265176"/>
          </a:xfrm>
          <a:prstGeom prst="round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906524"/>
            <a:ext cx="108813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5 帧前视 RTX RGB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810512"/>
            <a:ext cx="1344168" cy="10607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dy_packet_cn.png"/>
          <p:cNvPicPr>
            <a:picLocks noChangeAspect="1"/>
          </p:cNvPicPr>
          <p:nvPr/>
        </p:nvPicPr>
        <p:blipFill>
          <a:blip r:embed="rId5"/>
          <a:srcRect l="23049" r="23049"/>
          <a:stretch>
            <a:fillRect/>
          </a:stretch>
        </p:blipFill>
        <p:spPr>
          <a:xfrm>
            <a:off x="6236208" y="1847088"/>
            <a:ext cx="1271016" cy="98755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291072" y="1901952"/>
            <a:ext cx="1161288" cy="265176"/>
          </a:xfrm>
          <a:prstGeom prst="round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906524"/>
            <a:ext cx="108813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19 路身体时间序列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2944368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665EA"/>
                </a:solidFill>
                <a:latin typeface="Noto Sans CJK SC"/>
              </a:rPr>
              <a:t>视觉输入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2944368"/>
            <a:ext cx="1344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C81223"/>
                </a:solidFill>
                <a:latin typeface="Noto Sans CJK SC"/>
              </a:rPr>
              <a:t>本体感受</a:t>
            </a:r>
          </a:p>
        </p:txBody>
      </p:sp>
      <p:sp>
        <p:nvSpPr>
          <p:cNvPr id="33" name="Chevron 32"/>
          <p:cNvSpPr/>
          <p:nvPr/>
        </p:nvSpPr>
        <p:spPr>
          <a:xfrm>
            <a:off x="7626096" y="2194560"/>
            <a:ext cx="274320" cy="384048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09560" y="1746504"/>
            <a:ext cx="1024128" cy="512064"/>
          </a:xfrm>
          <a:prstGeom prst="roundRect">
            <a:avLst/>
          </a:prstGeom>
          <a:solidFill>
            <a:srgbClr val="E9F0FD"/>
          </a:solidFill>
          <a:ln w="12700">
            <a:solidFill>
              <a:srgbClr val="9DB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856" y="1801368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665EA"/>
                </a:solidFill>
                <a:latin typeface="Noto Sans CJK SC"/>
              </a:rPr>
              <a:t>视觉专家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2029967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8727D"/>
                </a:solidFill>
                <a:latin typeface="Noto Sans CJK SC"/>
              </a:rPr>
              <a:t>看环境语义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2286000"/>
            <a:ext cx="1024128" cy="512064"/>
          </a:xfrm>
          <a:prstGeom prst="roundRect">
            <a:avLst/>
          </a:prstGeom>
          <a:solidFill>
            <a:srgbClr val="FAE7E9"/>
          </a:solidFill>
          <a:ln w="12700">
            <a:solidFill>
              <a:srgbClr val="E69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1856" y="2340864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C81223"/>
                </a:solidFill>
                <a:latin typeface="Noto Sans CJK SC"/>
              </a:rPr>
              <a:t>身体专家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2712" y="2569464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8727D"/>
                </a:solidFill>
                <a:latin typeface="Noto Sans CJK SC"/>
              </a:rPr>
              <a:t>听接触反应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2825496"/>
            <a:ext cx="1024128" cy="512064"/>
          </a:xfrm>
          <a:prstGeom prst="roundRect">
            <a:avLst/>
          </a:prstGeom>
          <a:solidFill>
            <a:srgbClr val="EAF5F6"/>
          </a:solidFill>
          <a:ln w="12700">
            <a:solidFill>
              <a:srgbClr val="A0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2880360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C9CA0"/>
                </a:solidFill>
                <a:latin typeface="Noto Sans CJK SC"/>
              </a:rPr>
              <a:t>联合专家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3108960"/>
            <a:ext cx="877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8727D"/>
                </a:solidFill>
                <a:latin typeface="Noto Sans CJK SC"/>
              </a:rPr>
              <a:t>整合两路证据</a:t>
            </a:r>
          </a:p>
        </p:txBody>
      </p:sp>
      <p:sp>
        <p:nvSpPr>
          <p:cNvPr id="43" name="Chevron 42"/>
          <p:cNvSpPr/>
          <p:nvPr/>
        </p:nvSpPr>
        <p:spPr>
          <a:xfrm>
            <a:off x="8997696" y="2194560"/>
            <a:ext cx="210312" cy="384048"/>
          </a:xfrm>
          <a:prstGeom prst="chevron">
            <a:avLst/>
          </a:prstGeom>
          <a:solidFill>
            <a:srgbClr val="2C9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62872" y="1810512"/>
            <a:ext cx="1051560" cy="1060704"/>
          </a:xfrm>
          <a:prstGeom prst="roundRect">
            <a:avLst/>
          </a:prstGeom>
          <a:solidFill>
            <a:srgbClr val="E5F4F4"/>
          </a:solidFill>
          <a:ln w="1778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2" y="199339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C9CA0"/>
                </a:solidFill>
                <a:latin typeface="Noto Sans CJK SC"/>
              </a:rPr>
              <a:t>冲突路由器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2331720"/>
            <a:ext cx="8869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212B"/>
                </a:solidFill>
                <a:latin typeface="Noto Sans CJK SC"/>
              </a:rPr>
              <a:t>比较置信度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212B"/>
                </a:solidFill>
                <a:latin typeface="Noto Sans CJK SC"/>
              </a:rPr>
              <a:t>分歧与不确定性</a:t>
            </a:r>
          </a:p>
        </p:txBody>
      </p:sp>
      <p:sp>
        <p:nvSpPr>
          <p:cNvPr id="47" name="Chevron 46"/>
          <p:cNvSpPr/>
          <p:nvPr/>
        </p:nvSpPr>
        <p:spPr>
          <a:xfrm>
            <a:off x="10378440" y="2194560"/>
            <a:ext cx="210312" cy="384048"/>
          </a:xfrm>
          <a:prstGeom prst="chevron">
            <a:avLst/>
          </a:prstGeom>
          <a:solidFill>
            <a:srgbClr val="2C9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671048" y="1810512"/>
            <a:ext cx="832104" cy="10607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review_t04.8s.png"/>
          <p:cNvPicPr>
            <a:picLocks noChangeAspect="1"/>
          </p:cNvPicPr>
          <p:nvPr/>
        </p:nvPicPr>
        <p:blipFill>
          <a:blip r:embed="rId6"/>
          <a:srcRect l="28385" r="28385"/>
          <a:stretch>
            <a:fillRect/>
          </a:stretch>
        </p:blipFill>
        <p:spPr>
          <a:xfrm>
            <a:off x="10707624" y="1847088"/>
            <a:ext cx="758952" cy="987551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0762488" y="1901952"/>
            <a:ext cx="649224" cy="265176"/>
          </a:xfrm>
          <a:prstGeom prst="round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99064" y="1906524"/>
            <a:ext cx="5760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安全恢复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71048" y="2944368"/>
            <a:ext cx="8321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C9CA0"/>
                </a:solidFill>
                <a:latin typeface="Noto Sans CJK SC"/>
              </a:rPr>
              <a:t>原因 → 动作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09160" y="3438144"/>
            <a:ext cx="6784848" cy="438912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56048" y="3529584"/>
            <a:ext cx="6291072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20" b="0" i="0">
                <a:solidFill>
                  <a:srgbClr val="68727D"/>
                </a:solidFill>
                <a:latin typeface="Noto Sans CJK SC"/>
              </a:rPr>
              <a:t>输出：</a:t>
            </a:r>
            <a:r>
              <a:rPr sz="1220" b="1" i="0">
                <a:solidFill>
                  <a:srgbClr val="2C9CA0"/>
                </a:solidFill>
                <a:latin typeface="Noto Sans CJK SC"/>
              </a:rPr>
              <a:t>异常原因</a:t>
            </a:r>
            <a:r>
              <a:rPr sz="1220" b="1" i="0">
                <a:solidFill>
                  <a:srgbClr val="17212B"/>
                </a:solidFill>
                <a:latin typeface="Noto Sans CJK SC"/>
              </a:rPr>
              <a:t>  →  </a:t>
            </a:r>
            <a:r>
              <a:rPr sz="1220" b="1" i="0">
                <a:solidFill>
                  <a:srgbClr val="17212B"/>
                </a:solidFill>
                <a:latin typeface="Noto Sans CJK SC"/>
              </a:rPr>
              <a:t>与原因匹配的安全恢复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279392"/>
            <a:ext cx="987552" cy="310896"/>
          </a:xfrm>
          <a:prstGeom prst="roundRect">
            <a:avLst/>
          </a:prstGeom>
          <a:solidFill>
            <a:srgbClr val="FAEFF0"/>
          </a:solidFill>
          <a:ln w="12700">
            <a:solidFill>
              <a:srgbClr val="F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283964"/>
            <a:ext cx="87782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77A7E"/>
                </a:solidFill>
                <a:latin typeface="Noto Sans CJK SC"/>
              </a:rPr>
              <a:t>03 · DATASET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9344" y="4279392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12B"/>
                </a:solidFill>
                <a:latin typeface="Noto Sans CJK SC"/>
              </a:rPr>
              <a:t>Kino-Fail：11 个异常算子，覆盖生活 · 生产 · 野外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4315968"/>
            <a:ext cx="4727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68727D"/>
                </a:solidFill>
                <a:latin typeface="Noto Sans CJK SC"/>
              </a:rPr>
              <a:t>反事实配对  ·  RTX RGB  ·  19 路本体感受  ·  物理/外观独立随机化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04_overview.png"/>
          <p:cNvPicPr>
            <a:picLocks noChangeAspect="1"/>
          </p:cNvPicPr>
          <p:nvPr/>
        </p:nvPicPr>
        <p:blipFill>
          <a:blip r:embed="rId7"/>
          <a:srcRect l="19233" r="19233"/>
          <a:stretch>
            <a:fillRect/>
          </a:stretch>
        </p:blipFill>
        <p:spPr>
          <a:xfrm>
            <a:off x="525780" y="4722876"/>
            <a:ext cx="900268" cy="82296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566928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低摩擦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17488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04_overview.png"/>
          <p:cNvPicPr>
            <a:picLocks noChangeAspect="1"/>
          </p:cNvPicPr>
          <p:nvPr/>
        </p:nvPicPr>
        <p:blipFill>
          <a:blip r:embed="rId8"/>
          <a:srcRect l="19233" r="19233"/>
          <a:stretch>
            <a:fillRect/>
          </a:stretch>
        </p:blipFill>
        <p:spPr>
          <a:xfrm>
            <a:off x="1549492" y="4722876"/>
            <a:ext cx="900268" cy="822960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590640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45504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54064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软地面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41200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4_overview.png"/>
          <p:cNvPicPr>
            <a:picLocks noChangeAspect="1"/>
          </p:cNvPicPr>
          <p:nvPr/>
        </p:nvPicPr>
        <p:blipFill>
          <a:blip r:embed="rId9"/>
          <a:srcRect l="19233" r="19233"/>
          <a:stretch>
            <a:fillRect/>
          </a:stretch>
        </p:blipFill>
        <p:spPr>
          <a:xfrm>
            <a:off x="2573204" y="4722876"/>
            <a:ext cx="900268" cy="822960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2614352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69216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77776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地面塌陷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64913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04_overview.png"/>
          <p:cNvPicPr>
            <a:picLocks noChangeAspect="1"/>
          </p:cNvPicPr>
          <p:nvPr/>
        </p:nvPicPr>
        <p:blipFill>
          <a:blip r:embed="rId10"/>
          <a:srcRect l="19233" r="19233"/>
          <a:stretch>
            <a:fillRect/>
          </a:stretch>
        </p:blipFill>
        <p:spPr>
          <a:xfrm>
            <a:off x="3596917" y="4722876"/>
            <a:ext cx="900268" cy="822960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3638065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92929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01489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脚底粘附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88625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04_overview.png"/>
          <p:cNvPicPr>
            <a:picLocks noChangeAspect="1"/>
          </p:cNvPicPr>
          <p:nvPr/>
        </p:nvPicPr>
        <p:blipFill>
          <a:blip r:embed="rId11"/>
          <a:srcRect l="19233" r="19233"/>
          <a:stretch>
            <a:fillRect/>
          </a:stretch>
        </p:blipFill>
        <p:spPr>
          <a:xfrm>
            <a:off x="4620629" y="4722876"/>
            <a:ext cx="900268" cy="822960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4661777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16641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25201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负载变化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12337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04_overview.png"/>
          <p:cNvPicPr>
            <a:picLocks noChangeAspect="1"/>
          </p:cNvPicPr>
          <p:nvPr/>
        </p:nvPicPr>
        <p:blipFill>
          <a:blip r:embed="rId12"/>
          <a:srcRect l="19233" r="19233"/>
          <a:stretch>
            <a:fillRect/>
          </a:stretch>
        </p:blipFill>
        <p:spPr>
          <a:xfrm>
            <a:off x="5644341" y="4722876"/>
            <a:ext cx="900268" cy="82296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5685489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40353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48913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侧向外力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36050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04_overview.png"/>
          <p:cNvPicPr>
            <a:picLocks noChangeAspect="1"/>
          </p:cNvPicPr>
          <p:nvPr/>
        </p:nvPicPr>
        <p:blipFill>
          <a:blip r:embed="rId13"/>
          <a:srcRect l="19233" r="19233"/>
          <a:stretch>
            <a:fillRect/>
          </a:stretch>
        </p:blipFill>
        <p:spPr>
          <a:xfrm>
            <a:off x="6668054" y="4722876"/>
            <a:ext cx="900268" cy="822960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6709202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64066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2626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视物错配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659762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04_overview.png"/>
          <p:cNvPicPr>
            <a:picLocks noChangeAspect="1"/>
          </p:cNvPicPr>
          <p:nvPr/>
        </p:nvPicPr>
        <p:blipFill>
          <a:blip r:embed="rId14"/>
          <a:srcRect l="19233" r="19233"/>
          <a:stretch>
            <a:fillRect/>
          </a:stretch>
        </p:blipFill>
        <p:spPr>
          <a:xfrm>
            <a:off x="7691766" y="4722876"/>
            <a:ext cx="900268" cy="822960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7732914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87778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96338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透明障碍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683474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04_overview.png"/>
          <p:cNvPicPr>
            <a:picLocks noChangeAspect="1"/>
          </p:cNvPicPr>
          <p:nvPr/>
        </p:nvPicPr>
        <p:blipFill>
          <a:blip r:embed="rId15"/>
          <a:srcRect l="19233" r="19233"/>
          <a:stretch>
            <a:fillRect/>
          </a:stretch>
        </p:blipFill>
        <p:spPr>
          <a:xfrm>
            <a:off x="8715478" y="4722876"/>
            <a:ext cx="900268" cy="82296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8756626" y="4782312"/>
            <a:ext cx="32004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11490" y="4786884"/>
            <a:ext cx="21031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20050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底盘托底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707187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4_overview.png"/>
          <p:cNvPicPr>
            <a:picLocks noChangeAspect="1"/>
          </p:cNvPicPr>
          <p:nvPr/>
        </p:nvPicPr>
        <p:blipFill>
          <a:blip r:embed="rId16"/>
          <a:srcRect l="19233" r="19233"/>
          <a:stretch>
            <a:fillRect/>
          </a:stretch>
        </p:blipFill>
        <p:spPr>
          <a:xfrm>
            <a:off x="9739191" y="4722876"/>
            <a:ext cx="900268" cy="822960"/>
          </a:xfrm>
          <a:prstGeom prst="rect">
            <a:avLst/>
          </a:prstGeom>
        </p:spPr>
      </p:pic>
      <p:sp>
        <p:nvSpPr>
          <p:cNvPr id="106" name="Rounded Rectangle 105"/>
          <p:cNvSpPr/>
          <p:nvPr/>
        </p:nvSpPr>
        <p:spPr>
          <a:xfrm>
            <a:off x="9780339" y="4782312"/>
            <a:ext cx="38404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35203" y="4786884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43763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驱力衰减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730899" y="4690872"/>
            <a:ext cx="964276" cy="12252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04_overview.png"/>
          <p:cNvPicPr>
            <a:picLocks noChangeAspect="1"/>
          </p:cNvPicPr>
          <p:nvPr/>
        </p:nvPicPr>
        <p:blipFill>
          <a:blip r:embed="rId17"/>
          <a:srcRect l="19233" r="19233"/>
          <a:stretch>
            <a:fillRect/>
          </a:stretch>
        </p:blipFill>
        <p:spPr>
          <a:xfrm>
            <a:off x="10762903" y="4722876"/>
            <a:ext cx="900268" cy="822960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10804051" y="4782312"/>
            <a:ext cx="38404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858915" y="4786884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Noto Sans CJK SC"/>
              </a:rPr>
              <a:t>O11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67475" y="5605272"/>
            <a:ext cx="8911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7212B"/>
                </a:solidFill>
                <a:latin typeface="Noto Sans CJK SC"/>
              </a:rPr>
              <a:t>本体偏差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93776" y="6108192"/>
            <a:ext cx="11201400" cy="429768"/>
          </a:xfrm>
          <a:prstGeom prst="roundRect">
            <a:avLst/>
          </a:prstGeom>
          <a:solidFill>
            <a:srgbClr val="F6F8F9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3232" y="6208776"/>
            <a:ext cx="1076248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40" b="1" i="0">
                <a:solidFill>
                  <a:srgbClr val="2C9CA0"/>
                </a:solidFill>
                <a:latin typeface="Noto Sans CJK SC"/>
              </a:rPr>
              <a:t>每个案例：</a:t>
            </a:r>
            <a:r>
              <a:rPr sz="1140" b="0" i="0">
                <a:solidFill>
                  <a:srgbClr val="17212B"/>
                </a:solidFill>
                <a:latin typeface="Noto Sans CJK SC"/>
              </a:rPr>
              <a:t>同场景 / 同起点 / 同路线 / 同相机，</a:t>
            </a:r>
            <a:r>
              <a:rPr sz="1140" b="1" i="0">
                <a:solidFill>
                  <a:srgbClr val="C81223"/>
                </a:solidFill>
                <a:latin typeface="Noto Sans CJK SC"/>
              </a:rPr>
              <a:t>只改变一个物理原因</a:t>
            </a:r>
            <a:r>
              <a:rPr sz="1140" b="0" i="0">
                <a:solidFill>
                  <a:srgbClr val="17212B"/>
                </a:solidFill>
                <a:latin typeface="Noto Sans CJK SC"/>
              </a:rPr>
              <a:t>  →  把“失败归因”从观察性标签变成可验证的物理问题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93776" y="6684264"/>
            <a:ext cx="11201400" cy="0"/>
          </a:xfrm>
          <a:prstGeom prst="line">
            <a:avLst/>
          </a:prstGeom>
          <a:ln w="762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12064" y="6711696"/>
            <a:ext cx="2194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99999"/>
                </a:solidFill>
                <a:latin typeface="Nimbus Sans"/>
              </a:rPr>
              <a:t>Feel It. See It. Recover.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75120" y="6711696"/>
            <a:ext cx="50017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99999"/>
                </a:solidFill>
                <a:latin typeface="Nimbus Sans"/>
              </a:rPr>
              <a:t>Cross-Modal Failure Attribution for Safe Quadrupedal Navigation 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KiNO one-page work summary</dc:title>
  <dc:subject>Task, method, and Kino-Fail dataset</dc:subject>
  <dc:creator>KiNO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